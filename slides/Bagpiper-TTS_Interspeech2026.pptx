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media1.wav" ContentType="audio/wav"/>
  <Override PartName="/ppt/media/media2.wav" ContentType="audio/wav"/>
  <Override PartName="/ppt/media/media3.wav" ContentType="audio/wav"/>
  <Override PartName="/ppt/media/media4.wav" ContentType="audio/wav"/>
  <Override PartName="/ppt/media/media5.wav" ContentType="audio/wav"/>
  <Override PartName="/ppt/media/media6.wav" ContentType="audio/wav"/>
  <Override PartName="/ppt/media/media7.wav" ContentType="audio/wav"/>
  <Override PartName="/ppt/media/media8.wav" ContentType="audio/wav"/>
  <Override PartName="/ppt/media/media9.wav" ContentType="audio/wav"/>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6" r:id="rId4"/>
  </p:sldMasterIdLst>
  <p:notesMasterIdLst>
    <p:notesMasterId r:id="rId5"/>
  </p:notesMasterIdLst>
  <p:sldIdLst>
    <p:sldId id="256" r:id="rId13"/>
    <p:sldId id="257" r:id="rId12"/>
    <p:sldId id="258" r:id="rId11"/>
    <p:sldId id="259" r:id="rId10"/>
    <p:sldId id="260" r:id="rId9"/>
    <p:sldId id="261" r:id="rId8"/>
    <p:sldId id="262" r:id="rId7"/>
    <p:sldId id="263" r:id="rId6"/>
    <p:sldId id="264" r:id="rId30"/>
    <p:sldId id="265" r:id="rId31"/>
    <p:sldId id="266" r:id="rId32"/>
    <p:sldId id="267" r:id="rId33"/>
    <p:sldId id="268" r:id="rId34"/>
    <p:sldId id="269" r:id="rId35"/>
    <p:sldId id="270" r:id="rId36"/>
    <p:sldId id="271" r:id="rId37"/>
    <p:sldId id="272" r:id="rId38"/>
  </p:sldIdLst>
  <p:sldSz cy="5143500" cx="9144000"/>
  <p:notesSz cx="6858000" cy="9144000"/>
  <p:embeddedFontLst>
    <p:embeddedFont>
      <p:font typeface="Open Sans SemiBold"/>
      <p:regular r:id="rId14"/>
      <p:bold r:id="rId15"/>
      <p:italic r:id="rId16"/>
      <p:boldItalic r:id="rId17"/>
    </p:embeddedFont>
    <p:embeddedFont>
      <p:font typeface="Open Sans Medium"/>
      <p:regular r:id="rId18"/>
      <p:bold r:id="rId19"/>
      <p:italic r:id="rId20"/>
      <p:boldItalic r:id="rId21"/>
    </p:embeddedFont>
    <p:embeddedFont>
      <p:font typeface="Fira Sans Extra Condensed"/>
      <p:regular r:id="rId22"/>
      <p:bold r:id="rId23"/>
      <p:italic r:id="rId24"/>
      <p:boldItalic r:id="rId25"/>
    </p:embeddedFont>
    <p:embeddedFont>
      <p:font typeface="Open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slide" Target="slides/slide1.xml"/><Relationship Id="rId14" Type="http://schemas.openxmlformats.org/officeDocument/2006/relationships/font" Target="fonts/OpenSansSemiBold-regular.fntdata"/><Relationship Id="rId15" Type="http://schemas.openxmlformats.org/officeDocument/2006/relationships/font" Target="fonts/OpenSansSemiBold-bold.fntdata"/><Relationship Id="rId16" Type="http://schemas.openxmlformats.org/officeDocument/2006/relationships/font" Target="fonts/OpenSansSemiBold-italic.fntdata"/><Relationship Id="rId17" Type="http://schemas.openxmlformats.org/officeDocument/2006/relationships/font" Target="fonts/OpenSansSemiBold-boldItalic.fntdata"/><Relationship Id="rId18" Type="http://schemas.openxmlformats.org/officeDocument/2006/relationships/font" Target="fonts/OpenSansMedium-regular.fntdata"/><Relationship Id="rId19" Type="http://schemas.openxmlformats.org/officeDocument/2006/relationships/font" Target="fonts/OpenSansMedium-bold.fntdata"/><Relationship Id="rId20" Type="http://schemas.openxmlformats.org/officeDocument/2006/relationships/font" Target="fonts/OpenSansMedium-italic.fntdata"/><Relationship Id="rId21" Type="http://schemas.openxmlformats.org/officeDocument/2006/relationships/font" Target="fonts/OpenSansMedium-boldItalic.fntdata"/><Relationship Id="rId22" Type="http://schemas.openxmlformats.org/officeDocument/2006/relationships/font" Target="fonts/FiraSansExtraCondensed-regular.fntdata"/><Relationship Id="rId23" Type="http://schemas.openxmlformats.org/officeDocument/2006/relationships/font" Target="fonts/FiraSansExtraCondensed-bold.fntdata"/><Relationship Id="rId24" Type="http://schemas.openxmlformats.org/officeDocument/2006/relationships/font" Target="fonts/FiraSansExtraCondensed-italic.fntdata"/><Relationship Id="rId25" Type="http://schemas.openxmlformats.org/officeDocument/2006/relationships/font" Target="fonts/FiraSansExtraCondensed-boldItalic.fntdata"/><Relationship Id="rId26" Type="http://schemas.openxmlformats.org/officeDocument/2006/relationships/font" Target="fonts/OpenSans-regular.fntdata"/><Relationship Id="rId27" Type="http://schemas.openxmlformats.org/officeDocument/2006/relationships/font" Target="fonts/OpenSans-bold.fntdata"/><Relationship Id="rId28" Type="http://schemas.openxmlformats.org/officeDocument/2006/relationships/font" Target="fonts/OpenSans-italic.fntdata"/><Relationship Id="rId29" Type="http://schemas.openxmlformats.org/officeDocument/2006/relationships/font" Target="fonts/OpenSans-boldItalic.fntdata"/><Relationship Id="rId30" Type="http://schemas.openxmlformats.org/officeDocument/2006/relationships/slide" Target="slides/slide9.xml"/><Relationship Id="rId31" Type="http://schemas.openxmlformats.org/officeDocument/2006/relationships/slide" Target="slides/slide10.xml"/><Relationship Id="rId32" Type="http://schemas.openxmlformats.org/officeDocument/2006/relationships/slide" Target="slides/slide11.xml"/><Relationship Id="rId33" Type="http://schemas.openxmlformats.org/officeDocument/2006/relationships/slide" Target="slides/slide12.xml"/><Relationship Id="rId34" Type="http://schemas.openxmlformats.org/officeDocument/2006/relationships/slide" Target="slides/slide13.xml"/><Relationship Id="rId35" Type="http://schemas.openxmlformats.org/officeDocument/2006/relationships/slide" Target="slides/slide14.xml"/><Relationship Id="rId36" Type="http://schemas.openxmlformats.org/officeDocument/2006/relationships/slide" Target="slides/slide15.xml"/><Relationship Id="rId37" Type="http://schemas.openxmlformats.org/officeDocument/2006/relationships/slide" Target="slides/slide16.xml"/><Relationship Id="rId38"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Retained examples (k)</c:v>
                </c:pt>
              </c:strCache>
            </c:strRef>
          </c:tx>
          <c:spPr>
            <a:solidFill>
              <a:srgbClr val="AD132A"/>
            </a:solidFill>
            <a:ln>
              <a:noFill/>
            </a:ln>
          </c:spPr>
          <c:cat>
            <c:strRef>
              <c:f>Sheet1!$A$2:$A$7</c:f>
              <c:strCache>
                <c:ptCount val="6"/>
                <c:pt idx="0">
                  <c:v>Classical TTS</c:v>
                </c:pt>
                <c:pt idx="1">
                  <c:v>Intent-to-speech</c:v>
                </c:pt>
                <c:pt idx="2">
                  <c:v>General-purpose</c:v>
                </c:pt>
                <c:pt idx="3">
                  <c:v>Singing</c:v>
                </c:pt>
                <c:pt idx="4">
                  <c:v>Multi-talker</c:v>
                </c:pt>
                <c:pt idx="5">
                  <c:v>Role-play</c:v>
                </c:pt>
              </c:strCache>
            </c:strRef>
          </c:cat>
          <c:val>
            <c:numRef>
              <c:f>Sheet1!$B$2:$B$7</c:f>
              <c:numCache>
                <c:formatCode>General</c:formatCode>
                <c:ptCount val="6"/>
                <c:pt idx="0">
                  <c:v>235.3</c:v>
                </c:pt>
                <c:pt idx="1">
                  <c:v>153.6</c:v>
                </c:pt>
                <c:pt idx="2">
                  <c:v>135.6</c:v>
                </c:pt>
                <c:pt idx="3">
                  <c:v>101.9</c:v>
                </c:pt>
                <c:pt idx="4">
                  <c:v>64.7</c:v>
                </c:pt>
                <c:pt idx="5">
                  <c:v>47.1</c:v>
                </c:pt>
              </c:numCache>
            </c:numRef>
          </c:val>
        </c:ser>
        <c:dLbls>
          <c:numFmt formatCode="0.0" sourceLinked="0"/>
          <c:txPr>
            <a:bodyPr/>
            <a:lstStyle/>
            <a:p>
              <a:pPr>
                <a:defRPr sz="1050" b="1">
                  <a:solidFill>
                    <a:srgbClr val="434343"/>
                  </a:solidFill>
                  <a:latin typeface="Arial"/>
                </a:defRPr>
              </a:pPr>
            </a:p>
          </c:txPr>
          <c:dLblPos val="outEnd"/>
          <c:showLegendKey val="0"/>
          <c:showVal val="1"/>
          <c:showCatName val="0"/>
          <c:showSerName val="0"/>
          <c:showPercent val="0"/>
          <c:showBubbleSize val="0"/>
          <c:showLeaderLines val="1"/>
        </c:dLbls>
        <c:gapWidth val="55"/>
        <c:axId val="1000"/>
        <c:axId val="1001"/>
      </c:barChart>
      <c:catAx>
        <c:axId val="1000"/>
        <c:scaling>
          <c:orientation val="minMax"/>
        </c:scaling>
        <c:delete val="0"/>
        <c:axPos val="l"/>
        <c:majorTickMark val="none"/>
        <c:minorTickMark val="none"/>
        <c:tickLblPos val="nextTo"/>
        <c:spPr>
          <a:ln w="9525">
            <a:solidFill>
              <a:srgbClr val="BFBFBF"/>
            </a:solidFill>
          </a:ln>
        </c:spPr>
        <c:txPr>
          <a:bodyPr/>
          <a:lstStyle/>
          <a:p>
            <a:pPr>
              <a:defRPr sz="1050">
                <a:solidFill>
                  <a:srgbClr val="666666"/>
                </a:solidFill>
                <a:latin typeface="Arial"/>
              </a:defRPr>
            </a:pPr>
          </a:p>
        </c:txPr>
        <c:crossAx val="1001"/>
        <c:crosses val="autoZero"/>
        <c:auto val="1"/>
        <c:lblAlgn val="ctr"/>
        <c:lblOffset val="100"/>
        <c:noMultiLvlLbl val="0"/>
      </c:catAx>
      <c:valAx>
        <c:axId val="1001"/>
        <c:scaling>
          <c:max val="280.0"/>
          <c:min val="0.0"/>
        </c:scaling>
        <c:delete/>
        <c:axPos val="b"/>
        <c:majorTickMark val="out"/>
        <c:minorTickMark val="none"/>
        <c:tickLblPos val="nextTo"/>
        <c:crossAx val="1000"/>
        <c:crosses val="autoZero"/>
      </c:valAx>
      <c:spPr>
        <a:noFill/>
        <a:ln>
          <a:noFill/>
        </a:ln>
      </c:spPr>
    </c:plotArea>
    <c:dispBlanksAs val="gap"/>
  </c:chart>
  <c:spPr>
    <a:noFill/>
    <a:ln>
      <a:noFill/>
    </a:ln>
  </c:spPr>
  <c:txPr>
    <a:bodyPr/>
    <a:lstStyle/>
    <a:p>
      <a:pPr>
        <a:defRPr sz="1050">
          <a:solidFill>
            <a:srgbClr val="66666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WER (%)</c:v>
                </c:pt>
              </c:strCache>
            </c:strRef>
          </c:tx>
          <c:spPr>
            <a:solidFill>
              <a:srgbClr val="C4C4C4"/>
            </a:solidFill>
            <a:ln>
              <a:noFill/>
            </a:ln>
          </c:spPr>
          <c:dPt>
            <c:idx val="0"/>
            <c:spPr>
              <a:solidFill>
                <a:srgbClr val="C4C4C4"/>
              </a:solidFill>
              <a:ln>
                <a:noFill/>
              </a:ln>
            </c:spPr>
          </c:dPt>
          <c:dPt>
            <c:idx val="1"/>
            <c:spPr>
              <a:solidFill>
                <a:srgbClr val="AD132A"/>
              </a:solidFill>
              <a:ln>
                <a:noFill/>
              </a:ln>
            </c:spPr>
          </c:dPt>
          <c:dPt>
            <c:idx val="2"/>
            <c:spPr>
              <a:solidFill>
                <a:srgbClr val="C4C4C4"/>
              </a:solidFill>
              <a:ln>
                <a:noFill/>
              </a:ln>
            </c:spPr>
          </c:dPt>
          <c:dPt>
            <c:idx val="3"/>
            <c:spPr>
              <a:solidFill>
                <a:srgbClr val="C4C4C4"/>
              </a:solidFill>
              <a:ln>
                <a:noFill/>
              </a:ln>
            </c:spPr>
          </c:dPt>
          <c:cat>
            <c:strRef>
              <c:f>Sheet1!$A$2:$A$5</c:f>
              <c:strCache>
                <c:ptCount val="4"/>
                <c:pt idx="0">
                  <c:v>Qwen3-TTS</c:v>
                </c:pt>
                <c:pt idx="1">
                  <c:v>Bagpiper-TTS</c:v>
                </c:pt>
                <c:pt idx="2">
                  <c:v>CosyVoice 2</c:v>
                </c:pt>
                <c:pt idx="3">
                  <c:v>VibeVoice</c:v>
                </c:pt>
              </c:strCache>
            </c:strRef>
          </c:cat>
          <c:val>
            <c:numRef>
              <c:f>Sheet1!$B$2:$B$5</c:f>
              <c:numCache>
                <c:formatCode>General</c:formatCode>
                <c:ptCount val="4"/>
                <c:pt idx="0">
                  <c:v>1.5</c:v>
                </c:pt>
                <c:pt idx="1">
                  <c:v>1.7</c:v>
                </c:pt>
                <c:pt idx="2">
                  <c:v>2.6</c:v>
                </c:pt>
                <c:pt idx="3">
                  <c:v>3.0</c:v>
                </c:pt>
              </c:numCache>
            </c:numRef>
          </c:val>
        </c:ser>
        <c:dLbls>
          <c:numFmt formatCode="0.0" sourceLinked="0"/>
          <c:txPr>
            <a:bodyPr/>
            <a:lstStyle/>
            <a:p>
              <a:pPr>
                <a:defRPr sz="1050" b="1">
                  <a:solidFill>
                    <a:srgbClr val="434343"/>
                  </a:solidFill>
                  <a:latin typeface="Arial"/>
                </a:defRPr>
              </a:pPr>
            </a:p>
          </c:txPr>
          <c:dLblPos val="outEnd"/>
          <c:showLegendKey val="0"/>
          <c:showVal val="1"/>
          <c:showCatName val="0"/>
          <c:showSerName val="0"/>
          <c:showPercent val="0"/>
          <c:showBubbleSize val="0"/>
          <c:showLeaderLines val="1"/>
        </c:dLbls>
        <c:gapWidth val="55"/>
        <c:axId val="1000"/>
        <c:axId val="1001"/>
      </c:barChart>
      <c:catAx>
        <c:axId val="1000"/>
        <c:scaling>
          <c:orientation val="minMax"/>
        </c:scaling>
        <c:delete val="0"/>
        <c:axPos val="l"/>
        <c:majorTickMark val="none"/>
        <c:minorTickMark val="none"/>
        <c:tickLblPos val="nextTo"/>
        <c:spPr>
          <a:ln w="9525">
            <a:solidFill>
              <a:srgbClr val="BFBFBF"/>
            </a:solidFill>
          </a:ln>
        </c:spPr>
        <c:txPr>
          <a:bodyPr/>
          <a:lstStyle/>
          <a:p>
            <a:pPr>
              <a:defRPr sz="1050">
                <a:solidFill>
                  <a:srgbClr val="666666"/>
                </a:solidFill>
                <a:latin typeface="Arial"/>
              </a:defRPr>
            </a:pPr>
          </a:p>
        </c:txPr>
        <c:crossAx val="1001"/>
        <c:crosses val="autoZero"/>
        <c:auto val="1"/>
        <c:lblAlgn val="ctr"/>
        <c:lblOffset val="100"/>
        <c:noMultiLvlLbl val="0"/>
      </c:catAx>
      <c:valAx>
        <c:axId val="1001"/>
        <c:scaling>
          <c:max val="3.6"/>
          <c:min val="0.0"/>
        </c:scaling>
        <c:delete/>
        <c:axPos val="b"/>
        <c:majorTickMark val="out"/>
        <c:minorTickMark val="none"/>
        <c:tickLblPos val="nextTo"/>
        <c:crossAx val="1000"/>
        <c:crosses val="autoZero"/>
      </c:valAx>
      <c:spPr>
        <a:noFill/>
        <a:ln>
          <a:noFill/>
        </a:ln>
      </c:spPr>
    </c:plotArea>
    <c:dispBlanksAs val="gap"/>
  </c:chart>
  <c:spPr>
    <a:noFill/>
    <a:ln>
      <a:noFill/>
    </a:ln>
  </c:spPr>
  <c:txPr>
    <a:bodyPr/>
    <a:lstStyle/>
    <a:p>
      <a:pPr>
        <a:defRPr sz="1050">
          <a:solidFill>
            <a:srgbClr val="666666"/>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Specialist</c:v>
                </c:pt>
              </c:strCache>
            </c:strRef>
          </c:tx>
          <c:spPr>
            <a:solidFill>
              <a:srgbClr val="C4C4C4"/>
            </a:solidFill>
            <a:ln>
              <a:noFill/>
            </a:ln>
          </c:spPr>
          <c:cat>
            <c:strRef>
              <c:f>Sheet1!$A$2:$A$3</c:f>
              <c:strCache>
                <c:ptCount val="2"/>
                <c:pt idx="0">
                  <c:v>Multi-talker</c:v>
                </c:pt>
                <c:pt idx="1">
                  <c:v>Singing</c:v>
                </c:pt>
              </c:strCache>
            </c:strRef>
          </c:cat>
          <c:val>
            <c:numRef>
              <c:f>Sheet1!$B$2:$B$3</c:f>
              <c:numCache>
                <c:formatCode>General</c:formatCode>
                <c:ptCount val="2"/>
                <c:pt idx="0">
                  <c:v>4.6</c:v>
                </c:pt>
                <c:pt idx="1">
                  <c:v>11.0</c:v>
                </c:pt>
              </c:numCache>
            </c:numRef>
          </c:val>
        </c:ser>
        <c:ser>
          <c:idx val="1"/>
          <c:order val="1"/>
          <c:tx>
            <c:strRef>
              <c:f>Sheet1!$C$1</c:f>
              <c:strCache>
                <c:ptCount val="1"/>
                <c:pt idx="0">
                  <c:v>Bagpiper-TTS</c:v>
                </c:pt>
              </c:strCache>
            </c:strRef>
          </c:tx>
          <c:spPr>
            <a:solidFill>
              <a:srgbClr val="AD132A"/>
            </a:solidFill>
            <a:ln>
              <a:noFill/>
            </a:ln>
          </c:spPr>
          <c:cat>
            <c:strRef>
              <c:f>Sheet1!$A$2:$A$3</c:f>
              <c:strCache>
                <c:ptCount val="2"/>
                <c:pt idx="0">
                  <c:v>Multi-talker</c:v>
                </c:pt>
                <c:pt idx="1">
                  <c:v>Singing</c:v>
                </c:pt>
              </c:strCache>
            </c:strRef>
          </c:cat>
          <c:val>
            <c:numRef>
              <c:f>Sheet1!$C$2:$C$3</c:f>
              <c:numCache>
                <c:formatCode>General</c:formatCode>
                <c:ptCount val="2"/>
                <c:pt idx="0">
                  <c:v>4.2</c:v>
                </c:pt>
                <c:pt idx="1">
                  <c:v>7.2</c:v>
                </c:pt>
              </c:numCache>
            </c:numRef>
          </c:val>
        </c:ser>
        <c:dLbls>
          <c:numFmt formatCode="0.0" sourceLinked="0"/>
          <c:txPr>
            <a:bodyPr/>
            <a:lstStyle/>
            <a:p>
              <a:pPr>
                <a:defRPr sz="1050" b="1">
                  <a:solidFill>
                    <a:srgbClr val="434343"/>
                  </a:solidFill>
                  <a:latin typeface="Arial"/>
                </a:defRPr>
              </a:pPr>
            </a:p>
          </c:txPr>
          <c:dLblPos val="outEnd"/>
          <c:showLegendKey val="0"/>
          <c:showVal val="1"/>
          <c:showCatName val="0"/>
          <c:showSerName val="0"/>
          <c:showPercent val="0"/>
          <c:showBubbleSize val="0"/>
          <c:showLeaderLines val="1"/>
        </c:dLbls>
        <c:gapWidth val="70"/>
        <c:overlap val="-8"/>
        <c:axId val="1000"/>
        <c:axId val="1001"/>
      </c:barChart>
      <c:catAx>
        <c:axId val="1000"/>
        <c:scaling>
          <c:orientation val="minMax"/>
        </c:scaling>
        <c:delete val="0"/>
        <c:axPos val="b"/>
        <c:majorTickMark val="none"/>
        <c:minorTickMark val="none"/>
        <c:tickLblPos val="nextTo"/>
        <c:spPr>
          <a:ln w="9525">
            <a:solidFill>
              <a:srgbClr val="BFBFBF"/>
            </a:solidFill>
          </a:ln>
        </c:spPr>
        <c:txPr>
          <a:bodyPr/>
          <a:lstStyle/>
          <a:p>
            <a:pPr>
              <a:defRPr sz="1050">
                <a:solidFill>
                  <a:srgbClr val="666666"/>
                </a:solidFill>
                <a:latin typeface="Arial"/>
              </a:defRPr>
            </a:pPr>
          </a:p>
        </c:txPr>
        <c:crossAx val="1001"/>
        <c:crosses val="autoZero"/>
        <c:auto val="1"/>
        <c:lblAlgn val="ctr"/>
        <c:lblOffset val="100"/>
        <c:noMultiLvlLbl val="0"/>
      </c:catAx>
      <c:valAx>
        <c:axId val="1001"/>
        <c:scaling>
          <c:max val="13.5"/>
          <c:min val="0.0"/>
        </c:scaling>
        <c:delete/>
        <c:axPos val="l"/>
        <c:majorTickMark val="out"/>
        <c:minorTickMark val="none"/>
        <c:tickLblPos val="nextTo"/>
        <c:crossAx val="1000"/>
        <c:crosses val="autoZero"/>
      </c:valAx>
      <c:spPr>
        <a:noFill/>
        <a:ln>
          <a:noFill/>
        </a:ln>
      </c:spPr>
    </c:plotArea>
    <c:dispBlanksAs val="gap"/>
  </c:chart>
  <c:spPr>
    <a:noFill/>
    <a:ln>
      <a:noFill/>
    </a:ln>
  </c:spPr>
  <c:txPr>
    <a:bodyPr/>
    <a:lstStyle/>
    <a:p>
      <a:pPr>
        <a:defRPr sz="1050">
          <a:solidFill>
            <a:srgbClr val="666666"/>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Specialist</c:v>
                </c:pt>
              </c:strCache>
            </c:strRef>
          </c:tx>
          <c:spPr>
            <a:solidFill>
              <a:srgbClr val="C4C4C4"/>
            </a:solidFill>
            <a:ln>
              <a:noFill/>
            </a:ln>
          </c:spPr>
          <c:cat>
            <c:strRef>
              <c:f>Sheet1!$A$2:$A$3</c:f>
              <c:strCache>
                <c:ptCount val="2"/>
                <c:pt idx="0">
                  <c:v>Multi-talker</c:v>
                </c:pt>
                <c:pt idx="1">
                  <c:v>Singing</c:v>
                </c:pt>
              </c:strCache>
            </c:strRef>
          </c:cat>
          <c:val>
            <c:numRef>
              <c:f>Sheet1!$B$2:$B$3</c:f>
              <c:numCache>
                <c:formatCode>General</c:formatCode>
                <c:ptCount val="2"/>
                <c:pt idx="0">
                  <c:v>3.32</c:v>
                </c:pt>
                <c:pt idx="1">
                  <c:v>3.75</c:v>
                </c:pt>
              </c:numCache>
            </c:numRef>
          </c:val>
        </c:ser>
        <c:ser>
          <c:idx val="1"/>
          <c:order val="1"/>
          <c:tx>
            <c:strRef>
              <c:f>Sheet1!$C$1</c:f>
              <c:strCache>
                <c:ptCount val="1"/>
                <c:pt idx="0">
                  <c:v>Bagpiper-TTS</c:v>
                </c:pt>
              </c:strCache>
            </c:strRef>
          </c:tx>
          <c:spPr>
            <a:solidFill>
              <a:srgbClr val="AD132A"/>
            </a:solidFill>
            <a:ln>
              <a:noFill/>
            </a:ln>
          </c:spPr>
          <c:cat>
            <c:strRef>
              <c:f>Sheet1!$A$2:$A$3</c:f>
              <c:strCache>
                <c:ptCount val="2"/>
                <c:pt idx="0">
                  <c:v>Multi-talker</c:v>
                </c:pt>
                <c:pt idx="1">
                  <c:v>Singing</c:v>
                </c:pt>
              </c:strCache>
            </c:strRef>
          </c:cat>
          <c:val>
            <c:numRef>
              <c:f>Sheet1!$C$2:$C$3</c:f>
              <c:numCache>
                <c:formatCode>General</c:formatCode>
                <c:ptCount val="2"/>
                <c:pt idx="0">
                  <c:v>4.23</c:v>
                </c:pt>
                <c:pt idx="1">
                  <c:v>4.6</c:v>
                </c:pt>
              </c:numCache>
            </c:numRef>
          </c:val>
        </c:ser>
        <c:dLbls>
          <c:numFmt formatCode="General" sourceLinked="0"/>
          <c:txPr>
            <a:bodyPr/>
            <a:lstStyle/>
            <a:p>
              <a:pPr>
                <a:defRPr sz="1050" b="1">
                  <a:solidFill>
                    <a:srgbClr val="434343"/>
                  </a:solidFill>
                  <a:latin typeface="Arial"/>
                </a:defRPr>
              </a:pPr>
            </a:p>
          </c:txPr>
          <c:dLblPos val="outEnd"/>
          <c:showLegendKey val="0"/>
          <c:showVal val="1"/>
          <c:showCatName val="0"/>
          <c:showSerName val="0"/>
          <c:showPercent val="0"/>
          <c:showBubbleSize val="0"/>
          <c:showLeaderLines val="1"/>
        </c:dLbls>
        <c:gapWidth val="70"/>
        <c:overlap val="-8"/>
        <c:axId val="1000"/>
        <c:axId val="1001"/>
      </c:barChart>
      <c:catAx>
        <c:axId val="1000"/>
        <c:scaling>
          <c:orientation val="minMax"/>
        </c:scaling>
        <c:delete val="0"/>
        <c:axPos val="b"/>
        <c:majorTickMark val="none"/>
        <c:minorTickMark val="none"/>
        <c:tickLblPos val="nextTo"/>
        <c:spPr>
          <a:ln w="9525">
            <a:solidFill>
              <a:srgbClr val="BFBFBF"/>
            </a:solidFill>
          </a:ln>
        </c:spPr>
        <c:txPr>
          <a:bodyPr/>
          <a:lstStyle/>
          <a:p>
            <a:pPr>
              <a:defRPr sz="1050">
                <a:solidFill>
                  <a:srgbClr val="666666"/>
                </a:solidFill>
                <a:latin typeface="Arial"/>
              </a:defRPr>
            </a:pPr>
          </a:p>
        </c:txPr>
        <c:crossAx val="1001"/>
        <c:crosses val="autoZero"/>
        <c:auto val="1"/>
        <c:lblAlgn val="ctr"/>
        <c:lblOffset val="100"/>
        <c:noMultiLvlLbl val="0"/>
      </c:catAx>
      <c:valAx>
        <c:axId val="1001"/>
        <c:scaling>
          <c:max val="5.5"/>
          <c:min val="0.0"/>
        </c:scaling>
        <c:delete/>
        <c:axPos val="l"/>
        <c:majorTickMark val="out"/>
        <c:minorTickMark val="none"/>
        <c:tickLblPos val="nextTo"/>
        <c:crossAx val="1000"/>
        <c:crosses val="autoZero"/>
      </c:valAx>
      <c:spPr>
        <a:noFill/>
        <a:ln>
          <a:noFill/>
        </a:ln>
      </c:spPr>
    </c:plotArea>
    <c:dispBlanksAs val="gap"/>
  </c:chart>
  <c:spPr>
    <a:noFill/>
    <a:ln>
      <a:noFill/>
    </a:ln>
  </c:spPr>
  <c:txPr>
    <a:bodyPr/>
    <a:lstStyle/>
    <a:p>
      <a:pPr>
        <a:defRPr sz="1050">
          <a:solidFill>
            <a:srgbClr val="666666"/>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Specialist</c:v>
                </c:pt>
              </c:strCache>
            </c:strRef>
          </c:tx>
          <c:spPr>
            <a:solidFill>
              <a:srgbClr val="C4C4C4"/>
            </a:solidFill>
            <a:ln>
              <a:noFill/>
            </a:ln>
          </c:spPr>
          <c:cat>
            <c:strRef>
              <c:f>Sheet1!$A$2:$A$3</c:f>
              <c:strCache>
                <c:ptCount val="2"/>
                <c:pt idx="0">
                  <c:v>Multi-talker</c:v>
                </c:pt>
                <c:pt idx="1">
                  <c:v>Singing</c:v>
                </c:pt>
              </c:strCache>
            </c:strRef>
          </c:cat>
          <c:val>
            <c:numRef>
              <c:f>Sheet1!$B$2:$B$3</c:f>
              <c:numCache>
                <c:formatCode>General</c:formatCode>
                <c:ptCount val="2"/>
                <c:pt idx="0">
                  <c:v>3.77</c:v>
                </c:pt>
                <c:pt idx="1">
                  <c:v>3.73</c:v>
                </c:pt>
              </c:numCache>
            </c:numRef>
          </c:val>
        </c:ser>
        <c:ser>
          <c:idx val="1"/>
          <c:order val="1"/>
          <c:tx>
            <c:strRef>
              <c:f>Sheet1!$C$1</c:f>
              <c:strCache>
                <c:ptCount val="1"/>
                <c:pt idx="0">
                  <c:v>Bagpiper-TTS</c:v>
                </c:pt>
              </c:strCache>
            </c:strRef>
          </c:tx>
          <c:spPr>
            <a:solidFill>
              <a:srgbClr val="AD132A"/>
            </a:solidFill>
            <a:ln>
              <a:noFill/>
            </a:ln>
          </c:spPr>
          <c:cat>
            <c:strRef>
              <c:f>Sheet1!$A$2:$A$3</c:f>
              <c:strCache>
                <c:ptCount val="2"/>
                <c:pt idx="0">
                  <c:v>Multi-talker</c:v>
                </c:pt>
                <c:pt idx="1">
                  <c:v>Singing</c:v>
                </c:pt>
              </c:strCache>
            </c:strRef>
          </c:cat>
          <c:val>
            <c:numRef>
              <c:f>Sheet1!$C$2:$C$3</c:f>
              <c:numCache>
                <c:formatCode>General</c:formatCode>
                <c:ptCount val="2"/>
                <c:pt idx="0">
                  <c:v>3.6</c:v>
                </c:pt>
                <c:pt idx="1">
                  <c:v>3.67</c:v>
                </c:pt>
              </c:numCache>
            </c:numRef>
          </c:val>
        </c:ser>
        <c:dLbls>
          <c:numFmt formatCode="General" sourceLinked="0"/>
          <c:txPr>
            <a:bodyPr/>
            <a:lstStyle/>
            <a:p>
              <a:pPr>
                <a:defRPr sz="1050" b="1">
                  <a:solidFill>
                    <a:srgbClr val="434343"/>
                  </a:solidFill>
                  <a:latin typeface="Arial"/>
                </a:defRPr>
              </a:pPr>
            </a:p>
          </c:txPr>
          <c:dLblPos val="outEnd"/>
          <c:showLegendKey val="0"/>
          <c:showVal val="1"/>
          <c:showCatName val="0"/>
          <c:showSerName val="0"/>
          <c:showPercent val="0"/>
          <c:showBubbleSize val="0"/>
          <c:showLeaderLines val="1"/>
        </c:dLbls>
        <c:gapWidth val="70"/>
        <c:overlap val="-8"/>
        <c:axId val="1000"/>
        <c:axId val="1001"/>
      </c:barChart>
      <c:catAx>
        <c:axId val="1000"/>
        <c:scaling>
          <c:orientation val="minMax"/>
        </c:scaling>
        <c:delete val="0"/>
        <c:axPos val="b"/>
        <c:majorTickMark val="none"/>
        <c:minorTickMark val="none"/>
        <c:tickLblPos val="nextTo"/>
        <c:spPr>
          <a:ln w="9525">
            <a:solidFill>
              <a:srgbClr val="BFBFBF"/>
            </a:solidFill>
          </a:ln>
        </c:spPr>
        <c:txPr>
          <a:bodyPr/>
          <a:lstStyle/>
          <a:p>
            <a:pPr>
              <a:defRPr sz="1050">
                <a:solidFill>
                  <a:srgbClr val="666666"/>
                </a:solidFill>
                <a:latin typeface="Arial"/>
              </a:defRPr>
            </a:pPr>
          </a:p>
        </c:txPr>
        <c:crossAx val="1001"/>
        <c:crosses val="autoZero"/>
        <c:auto val="1"/>
        <c:lblAlgn val="ctr"/>
        <c:lblOffset val="100"/>
        <c:noMultiLvlLbl val="0"/>
      </c:catAx>
      <c:valAx>
        <c:axId val="1001"/>
        <c:scaling>
          <c:max val="5.5"/>
          <c:min val="0.0"/>
        </c:scaling>
        <c:delete/>
        <c:axPos val="l"/>
        <c:majorTickMark val="out"/>
        <c:minorTickMark val="none"/>
        <c:tickLblPos val="nextTo"/>
        <c:crossAx val="1000"/>
        <c:crosses val="autoZero"/>
      </c:valAx>
      <c:spPr>
        <a:noFill/>
        <a:ln>
          <a:noFill/>
        </a:ln>
      </c:spPr>
    </c:plotArea>
    <c:dispBlanksAs val="gap"/>
  </c:chart>
  <c:spPr>
    <a:noFill/>
    <a:ln>
      <a:noFill/>
    </a:ln>
  </c:spPr>
  <c:txPr>
    <a:bodyPr/>
    <a:lstStyle/>
    <a:p>
      <a:pPr>
        <a:defRPr sz="1050">
          <a:solidFill>
            <a:srgbClr val="666666"/>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Hello everyone. I'm Haoran Wang from Carnegie Mellon University. Today I'll present Bagpiper-TTS, our work on natural language guided universal speech synthesis.</a:t>
            </a:r>
          </a:p>
          <a:p>
            <a:pPr marL="0" indent="0">
              <a:buNone/>
            </a:pPr>
            <a:r>
              <a:t/>
            </a:r>
          </a:p>
          <a:p>
            <a:pPr marL="0" indent="0">
              <a:buNone/>
            </a:pPr>
            <a:r>
              <a:t>We study how one model can support different speech generation tasks through a flexible natural-language interface. I'll first explain the generation process, then describe how we build the training data, and finally present the experimental setup and results.</a:t>
            </a:r>
          </a:p>
          <a:p>
            <a:pPr marL="0" indent="0">
              <a:buNone/>
            </a:pPr>
            <a:r>
              <a:t/>
            </a:r>
          </a:p>
          <a:p>
            <a:pPr marL="0" indent="0">
              <a:buNone/>
            </a:pPr>
            <a:r>
              <a:t>--- PRESENTER REFERENCE / DO NOT READ ALOUD ---</a:t>
            </a:r>
          </a:p>
          <a:p>
            <a:pPr marL="0" indent="0">
              <a:buNone/>
            </a:pPr>
            <a:r>
              <a:t>Slide 1: Bagpiper-TTS</a:t>
            </a:r>
          </a:p>
          <a:p>
            <a:pPr marL="0" indent="0">
              <a:buNone/>
            </a:pPr>
            <a:r>
              <a:t>Target: 28 seconds (including audio where present)</a:t>
            </a:r>
          </a:p>
          <a:p>
            <a:pPr marL="0" indent="0">
              <a:buNone/>
            </a:pPr>
            <a:r>
              <a:t/>
            </a:r>
          </a:p>
          <a:p>
            <a:pPr marL="0" indent="0">
              <a:buNone/>
            </a:pPr>
            <a:r>
              <a:t>开场点出 natural language guided，保留已经练习过的报告路线。</a:t>
            </a:r>
          </a:p>
          <a:p>
            <a:pPr marL="0" indent="0">
              <a:buNone/>
            </a:pPr>
            <a:r>
              <a:t/>
            </a:r>
          </a:p>
          <a:p>
            <a:pPr marL="0" indent="0">
              <a:buNone/>
            </a:pPr>
            <a:r>
              <a:t>Sources: Supplied Bagpiper-TTS paper and Overleaf, title and Introduction. Organization logos: supplied deck and replacement LTI logo image.png.</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Let me start with a short explanation generated by Bagpiper-TTS itself. We generated this narration once, without selecting from multiple takes. I'll show the exact prompt on the next slide.</a:t>
            </a:r>
          </a:p>
          <a:p>
            <a:pPr marL="0" indent="0">
              <a:buNone/>
            </a:pPr>
            <a:r>
              <a:t/>
            </a:r>
          </a:p>
          <a:p>
            <a:pPr marL="0" indent="0">
              <a:buNone/>
            </a:pPr>
            <a:r>
              <a:t>[PLAY IDEA NARRATION - about 23 seconds. Wait until it finishes.]</a:t>
            </a:r>
          </a:p>
          <a:p>
            <a:pPr marL="0" indent="0">
              <a:buNone/>
            </a:pPr>
            <a:r>
              <a:t/>
            </a:r>
          </a:p>
          <a:p>
            <a:pPr marL="0" indent="0">
              <a:buNone/>
            </a:pPr>
            <a:r>
              <a:t>--- PRESENTER REFERENCE / DO NOT READ ALOUD ---</a:t>
            </a:r>
          </a:p>
          <a:p>
            <a:pPr marL="0" indent="0">
              <a:buNone/>
            </a:pPr>
            <a:r>
              <a:t>Slide 2: Speech control through natural language</a:t>
            </a:r>
          </a:p>
          <a:p>
            <a:pPr marL="0" indent="0">
              <a:buNone/>
            </a:pPr>
            <a:r>
              <a:t>Target: 38 seconds (including audio where present)</a:t>
            </a:r>
          </a:p>
          <a:p>
            <a:pPr marL="0" indent="0">
              <a:buNone/>
            </a:pPr>
            <a:r>
              <a:t/>
            </a:r>
          </a:p>
          <a:p>
            <a:pPr marL="0" indent="0">
              <a:buNone/>
            </a:pPr>
            <a:r>
              <a:t>点红色播放按钮，完整播完约 23 秒。一次生成、未从多次结果中挑选，仅指本页这段开场 narration。背景音乐是后期单独混入的，不应说成 Bagpiper 生成的配乐。</a:t>
            </a:r>
          </a:p>
          <a:p>
            <a:pPr marL="0" indent="0">
              <a:buNone/>
            </a:pPr>
            <a:r>
              <a:t/>
            </a:r>
          </a:p>
          <a:p>
            <a:pPr marL="0" indent="0">
              <a:buNone/>
            </a:pPr>
            <a:r>
              <a:t>Sources: Supplied WAVLab deck, slide 2 audio and exact generation prompt. The first-generation/no-selection statement comes from the presenter's instruction, scoped to this narration. The supplied notes state that the instrumental bed was mixed separately.</a:t>
            </a:r>
          </a:p>
          <a:p>
            <a:pPr marL="0" indent="0">
              <a:buNone/>
            </a:pPr>
            <a:r>
              <a:t/>
            </a:r>
          </a:p>
          <a:p>
            <a:pPr marL="0" indent="0">
              <a:buNone/>
            </a:pPr>
            <a:r>
              <a:t>FULL PROMPT REFERENCE / DO NOT READ ALOUD</a:t>
            </a:r>
          </a:p>
          <a:p>
            <a:pPr marL="0" indent="0">
              <a:buNone/>
            </a:pPr>
            <a:r>
              <a:t>Exact narration prompt (reference only)</a:t>
            </a:r>
          </a:p>
          <a:p>
            <a:pPr marL="0" indent="0">
              <a:buNone/>
            </a:pPr>
            <a:r>
              <a:t>One conference presenter, one continuous take, same voice throughout, close-miked, no music. Bracketed notes are delivery directions, not spoken. Speak only the quoted script. [Warm, curious, conversational] 'What if we could direct speech in everyday language?' [Clear, engaged, slightly brisk] 'With Bagpiper-TTS, we describe what to say and how it should sound. The model plans the content and delivery, writes a rich caption, then generates the audio.' [Brief pause; warm, confident finish] 'One model, one natural language interface, from expressive speech to dialogue, role-play, and singing.'</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This is the exact prompt used to generate the narration. The blue text is the transcription, and the red text gives delivery instructions. The prompt asks for speech without music. The background music heard in the clip was mixed in afterward.</a:t>
            </a:r>
          </a:p>
          <a:p>
            <a:pPr marL="0" indent="0">
              <a:buNone/>
            </a:pPr>
            <a:r>
              <a:t/>
            </a:r>
          </a:p>
          <a:p>
            <a:pPr marL="0" indent="0">
              <a:buNone/>
            </a:pPr>
            <a:r>
              <a:t>--- PRESENTER REFERENCE / DO NOT READ ALOUD ---</a:t>
            </a:r>
          </a:p>
          <a:p>
            <a:pPr marL="0" indent="0">
              <a:buNone/>
            </a:pPr>
            <a:r>
              <a:t>Slide 3: The prompt behind the explanation</a:t>
            </a:r>
          </a:p>
          <a:p>
            <a:pPr marL="0" indent="0">
              <a:buNone/>
            </a:pPr>
            <a:r>
              <a:t>Target: 24 seconds (including audio where present)</a:t>
            </a:r>
          </a:p>
          <a:p>
            <a:pPr marL="0" indent="0">
              <a:buNone/>
            </a:pPr>
            <a:r>
              <a:t/>
            </a:r>
          </a:p>
          <a:p>
            <a:pPr marL="0" indent="0">
              <a:buNone/>
            </a:pPr>
            <a:r>
              <a:t>不用重念屏幕上的整段 prompt。只说明括号内是表演指令，引号内是实际要念的台词。强调展示的就是上一页 narration 的完整输入。此页不播放。</a:t>
            </a:r>
          </a:p>
          <a:p>
            <a:pPr marL="0" indent="0">
              <a:buNone/>
            </a:pPr>
            <a:r>
              <a:t/>
            </a:r>
          </a:p>
          <a:p>
            <a:pPr marL="0" indent="0">
              <a:buNone/>
            </a:pPr>
            <a:r>
              <a:t>Sources: Supplied WAVLab deck, slides 2–3. Exact narration prompt retained verbatim below. Bracketed delivery directions are not spoken in the audio.</a:t>
            </a:r>
          </a:p>
          <a:p>
            <a:pPr marL="0" indent="0">
              <a:buNone/>
            </a:pPr>
            <a:r>
              <a:t/>
            </a:r>
          </a:p>
          <a:p>
            <a:pPr marL="0" indent="0">
              <a:buNone/>
            </a:pPr>
            <a:r>
              <a:t>FULL PROMPT REFERENCE / DO NOT READ ALOUD</a:t>
            </a:r>
          </a:p>
          <a:p>
            <a:pPr marL="0" indent="0">
              <a:buNone/>
            </a:pPr>
            <a:r>
              <a:t>Exact narration prompt (reference only)</a:t>
            </a:r>
          </a:p>
          <a:p>
            <a:pPr marL="0" indent="0">
              <a:buNone/>
            </a:pPr>
            <a:r>
              <a:t>One conference presenter, one continuous take, same voice throughout, close-miked, no music. Bracketed notes are delivery directions, not spoken. Speak only the quoted script. [Warm, curious, conversational] 'What if we could direct speech in everyday language?' [Clear, engaged, slightly brisk] 'With Bagpiper-TTS, we describe what to say and how it should sound. The model plans the content and delivery, writes a rich caption, then generates the audio.' [Brief pause; warm, confident finish] 'One model, one natural language interface, from expressive speech to dialogue, role-play, and singing.'</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Now consider a request that leaves the exact words open. The user wants to ask for help while sounding nervous, slightly stuttery, and gentle. The model chooses both the sentence and its delivery.</a:t>
            </a:r>
          </a:p>
          <a:p>
            <a:pPr marL="0" indent="0">
              <a:buNone/>
            </a:pPr>
            <a:r>
              <a:t/>
            </a:r>
          </a:p>
          <a:p>
            <a:pPr marL="0" indent="0">
              <a:buNone/>
            </a:pPr>
            <a:r>
              <a:t>[PLAY ORIGINAL EXAMPLE - 3 seconds.]</a:t>
            </a:r>
          </a:p>
          <a:p>
            <a:pPr marL="0" indent="0">
              <a:buNone/>
            </a:pPr>
            <a:r>
              <a:t/>
            </a:r>
          </a:p>
          <a:p>
            <a:pPr marL="0" indent="0">
              <a:buNone/>
            </a:pPr>
            <a:r>
              <a:t>Let's look at how the model produces this response.</a:t>
            </a:r>
          </a:p>
          <a:p>
            <a:pPr marL="0" indent="0">
              <a:buNone/>
            </a:pPr>
            <a:r>
              <a:t/>
            </a:r>
          </a:p>
          <a:p>
            <a:pPr marL="0" indent="0">
              <a:buNone/>
            </a:pPr>
            <a:r>
              <a:t>--- PRESENTER REFERENCE / DO NOT READ ALOUD ---</a:t>
            </a:r>
          </a:p>
          <a:p>
            <a:pPr marL="0" indent="0">
              <a:buNone/>
            </a:pPr>
            <a:r>
              <a:t>Slide 4: From a request to an expressive voice</a:t>
            </a:r>
          </a:p>
          <a:p>
            <a:pPr marL="0" indent="0">
              <a:buNone/>
            </a:pPr>
            <a:r>
              <a:t>Target: 23 seconds (including audio where present)</a:t>
            </a:r>
          </a:p>
          <a:p>
            <a:pPr marL="0" indent="0">
              <a:buNone/>
            </a:pPr>
            <a:r>
              <a:t/>
            </a:r>
          </a:p>
          <a:p>
            <a:pPr marL="0" indent="0">
              <a:buNone/>
            </a:pPr>
            <a:r>
              <a:t>读完两句引入，再点红色按钮播 2.98 秒原始样例。不要叠加讲解或音乐。随后进入方法页。</a:t>
            </a:r>
          </a:p>
          <a:p>
            <a:pPr marL="0" indent="0">
              <a:buNone/>
            </a:pPr>
            <a:r>
              <a:t/>
            </a:r>
          </a:p>
          <a:p>
            <a:pPr marL="0" indent="0">
              <a:buNone/>
            </a:pPr>
            <a:r>
              <a:t>Sources: Public Bagpiper-TTS demo, Intent-to-speech Sample 01. https://bagpipertts.github.io/bagpiper_tts_demo/; original request and 2.98-second WAV from the supplied deck.</a:t>
            </a:r>
          </a:p>
          <a:p>
            <a:pPr marL="0" indent="0">
              <a:buNone/>
            </a:pPr>
            <a:r>
              <a:t/>
            </a:r>
          </a:p>
          <a:p>
            <a:pPr marL="0" indent="0">
              <a:buNone/>
            </a:pPr>
            <a:r>
              <a:t>FULL PROMPT REFERENCE / DO NOT READ ALOUD</a:t>
            </a:r>
          </a:p>
          <a:p>
            <a:pPr marL="0" indent="0">
              <a:buNone/>
            </a:pPr>
            <a:r>
              <a:t>Intent-to-speech Sample 01</a:t>
            </a:r>
          </a:p>
          <a:p>
            <a:pPr marL="0" indent="0">
              <a:buNone/>
            </a:pPr>
            <a:r>
              <a:t>I want to ask for help without sounding desperate, my voice should be nervous and a bit stuttery, as if I'm speaking gently to a child.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The generation process has four parts: user request, planning, rich caption, and audio. The first three are text. The final output is audio.</a:t>
            </a:r>
          </a:p>
          <a:p>
            <a:pPr marL="0" indent="0">
              <a:buNone/>
            </a:pPr>
            <a:r>
              <a:t/>
            </a:r>
          </a:p>
          <a:p>
            <a:pPr marL="0" indent="0">
              <a:buNone/>
            </a:pPr>
            <a:r>
              <a:t>The model first reads the request and plans the content and delivery. It then turns that plan into a rich caption: a detailed description of what the audio should contain and how it should sound. Finally, it generates audio from the caption.</a:t>
            </a:r>
          </a:p>
          <a:p>
            <a:pPr marL="0" indent="0">
              <a:buNone/>
            </a:pPr>
            <a:r>
              <a:t/>
            </a:r>
          </a:p>
          <a:p>
            <a:pPr marL="0" indent="0">
              <a:buNone/>
            </a:pPr>
            <a:r>
              <a:t>The example below follows the request we just heard. Planning selects a polite question and a hesitant delivery. The caption then makes the sentence, voice, and pauses explicit, before the model produces the speech.</a:t>
            </a:r>
          </a:p>
          <a:p>
            <a:pPr marL="0" indent="0">
              <a:buNone/>
            </a:pPr>
            <a:r>
              <a:t/>
            </a:r>
          </a:p>
          <a:p>
            <a:pPr marL="0" indent="0">
              <a:buNone/>
            </a:pPr>
            <a:r>
              <a:t>All three generation steps run within one model. We build on Bagpiper-Base, introduced in our COLM 2026 work. Its caption-to-audio pretraining gives us the starting point for this approach. I'll explain each arrow in the next three slides.</a:t>
            </a:r>
          </a:p>
          <a:p>
            <a:pPr marL="0" indent="0">
              <a:buNone/>
            </a:pPr>
            <a:r>
              <a:t/>
            </a:r>
          </a:p>
          <a:p>
            <a:pPr marL="0" indent="0">
              <a:buNone/>
            </a:pPr>
            <a:r>
              <a:t>--- PRESENTER REFERENCE / DO NOT READ ALOUD ---</a:t>
            </a:r>
          </a:p>
          <a:p>
            <a:pPr marL="0" indent="0">
              <a:buNone/>
            </a:pPr>
            <a:r>
              <a:t>Slide 5: One model, three generation steps</a:t>
            </a:r>
          </a:p>
          <a:p>
            <a:pPr marL="0" indent="0">
              <a:buNone/>
            </a:pPr>
            <a:r>
              <a:t>Target: 62 seconds (including audio where present)</a:t>
            </a:r>
          </a:p>
          <a:p>
            <a:pPr marL="0" indent="0">
              <a:buNone/>
            </a:pPr>
            <a:r>
              <a:t/>
            </a:r>
          </a:p>
          <a:p>
            <a:pPr marL="0" indent="0">
              <a:buNone/>
            </a:pPr>
            <a:r>
              <a:t>依次指向上方三根箭头；强调前三项是文字、最后是音频，以及推理时是同一模型。</a:t>
            </a:r>
          </a:p>
          <a:p>
            <a:pPr marL="0" indent="0">
              <a:buNone/>
            </a:pPr>
            <a:r>
              <a:t/>
            </a:r>
          </a:p>
          <a:p>
            <a:pPr marL="0" indent="0">
              <a:buNone/>
            </a:pPr>
            <a:r>
              <a:t>Sources: Supplied Bagpiper-TTS paper and Overleaf, Sections 2.1 and 2.3; Tian et al., Bagpiper, COLM 2026. https://huggingface.co/espnet/bagpiper</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The first arrow connects the user request to planning. Here, the request includes both a goal and instructions about how the speech should sound.</a:t>
            </a:r>
          </a:p>
          <a:p>
            <a:pPr marL="0" indent="0">
              <a:buNone/>
            </a:pPr>
            <a:r>
              <a:t/>
            </a:r>
          </a:p>
          <a:p>
            <a:pPr marL="0" indent="0">
              <a:buNone/>
            </a:pPr>
            <a:r>
              <a:t>In the first row, the user wants to ask for help without sounding desperate. The plan therefore chooses a polite question: could you make it for me?</a:t>
            </a:r>
          </a:p>
          <a:p>
            <a:pPr marL="0" indent="0">
              <a:buNone/>
            </a:pPr>
            <a:r>
              <a:t/>
            </a:r>
          </a:p>
          <a:p>
            <a:pPr marL="0" indent="0">
              <a:buNone/>
            </a:pPr>
            <a:r>
              <a:t>In the second row, the user asks for nervous, slightly stuttery speech. The plan adds a hesitation, using um. In the third row, it develops the gentle delivery into slow, breathy speech, with the pitch rising at the end.</a:t>
            </a:r>
          </a:p>
          <a:p>
            <a:pPr marL="0" indent="0">
              <a:buNone/>
            </a:pPr>
            <a:r>
              <a:t/>
            </a:r>
          </a:p>
          <a:p>
            <a:pPr marL="0" indent="0">
              <a:buNone/>
            </a:pPr>
            <a:r>
              <a:t>The full sentence is shown below: I have a little order, um, could you make it for me?</a:t>
            </a:r>
          </a:p>
          <a:p>
            <a:pPr marL="0" indent="0">
              <a:buNone/>
            </a:pPr>
            <a:r>
              <a:t/>
            </a:r>
          </a:p>
          <a:p>
            <a:pPr marL="0" indent="0">
              <a:buNone/>
            </a:pPr>
            <a:r>
              <a:t>This example shows how planning connects the request to concrete choices about the words and their delivery. When the user provides exact text, the plan keeps that text and focuses on its performance.</a:t>
            </a:r>
          </a:p>
          <a:p>
            <a:pPr marL="0" indent="0">
              <a:buNone/>
            </a:pPr>
            <a:r>
              <a:t/>
            </a:r>
          </a:p>
          <a:p>
            <a:pPr marL="0" indent="0">
              <a:buNone/>
            </a:pPr>
            <a:r>
              <a:t>--- PRESENTER REFERENCE / DO NOT READ ALOUD ---</a:t>
            </a:r>
          </a:p>
          <a:p>
            <a:pPr marL="0" indent="0">
              <a:buNone/>
            </a:pPr>
            <a:r>
              <a:t>Slide 6: User request  →  Planning</a:t>
            </a:r>
          </a:p>
          <a:p>
            <a:pPr marL="0" indent="0">
              <a:buNone/>
            </a:pPr>
            <a:r>
              <a:t>Target: 63 seconds (including audio where present)</a:t>
            </a:r>
          </a:p>
          <a:p>
            <a:pPr marL="0" indent="0">
              <a:buNone/>
            </a:pPr>
            <a:r>
              <a:t/>
            </a:r>
          </a:p>
          <a:p>
            <a:pPr marL="0" indent="0">
              <a:buNone/>
            </a:pPr>
            <a:r>
              <a:t>只解释第一根箭头。按三行从 request 中的要求讲到 planning 的具体选择，再读完整生成句子。</a:t>
            </a:r>
          </a:p>
          <a:p>
            <a:pPr marL="0" indent="0">
              <a:buNone/>
            </a:pPr>
            <a:r>
              <a:t/>
            </a:r>
          </a:p>
          <a:p>
            <a:pPr marL="0" indent="0">
              <a:buNone/>
            </a:pPr>
            <a:r>
              <a:t>Sources: Supplied Bagpiper-TTS paper and Overleaf, Section 2.3. https://bagpipertts.github.io/bagpiper_tts_demo/; original Request, Thinking, Caption and WAV. Long traces are condensed on slides.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The second arrow turns the plan into a rich caption. The plan records the main choices about the content and delivery. The caption describes the resulting audio in the format used by the audio generator.</a:t>
            </a:r>
          </a:p>
          <a:p>
            <a:pPr marL="0" indent="0">
              <a:buNone/>
            </a:pPr>
            <a:r>
              <a:t/>
            </a:r>
          </a:p>
          <a:p>
            <a:pPr marL="0" indent="0">
              <a:buNone/>
            </a:pPr>
            <a:r>
              <a:t>In this example, it includes the full sentence and describes a high-pitched, breathy voice with a slight shakiness. It specifies slow, hesitant speech, including pauses around um. It also places a rising pitch on the final word, me, and describes a quiet recording environment with little echo.</a:t>
            </a:r>
          </a:p>
          <a:p>
            <a:pPr marL="0" indent="0">
              <a:buNone/>
            </a:pPr>
            <a:r>
              <a:t/>
            </a:r>
          </a:p>
          <a:p>
            <a:pPr marL="0" indent="0">
              <a:buNone/>
            </a:pPr>
            <a:r>
              <a:t>So the caption covers several levels of detail: the words, the overall voice, and changes at specific points in the sentence. This is more detailed than a single emotion or style label.</a:t>
            </a:r>
          </a:p>
          <a:p>
            <a:pPr marL="0" indent="0">
              <a:buNone/>
            </a:pPr>
            <a:r>
              <a:t/>
            </a:r>
          </a:p>
          <a:p>
            <a:pPr marL="0" indent="0">
              <a:buNone/>
            </a:pPr>
            <a:r>
              <a:t>Using this format lets us connect the plan to Bagpiper's pretrained caption-to-audio capability. The same format can describe more complex outputs, including the two-speaker example on the next slide.</a:t>
            </a:r>
          </a:p>
          <a:p>
            <a:pPr marL="0" indent="0">
              <a:buNone/>
            </a:pPr>
            <a:r>
              <a:t/>
            </a:r>
          </a:p>
          <a:p>
            <a:pPr marL="0" indent="0">
              <a:buNone/>
            </a:pPr>
            <a:r>
              <a:t>--- PRESENTER REFERENCE / DO NOT READ ALOUD ---</a:t>
            </a:r>
          </a:p>
          <a:p>
            <a:pPr marL="0" indent="0">
              <a:buNone/>
            </a:pPr>
            <a:r>
              <a:t>Slide 7: Planning  →  Rich caption</a:t>
            </a:r>
          </a:p>
          <a:p>
            <a:pPr marL="0" indent="0">
              <a:buNone/>
            </a:pPr>
            <a:r>
              <a:t>Target: 64 seconds (including audio where present)</a:t>
            </a:r>
          </a:p>
          <a:p>
            <a:pPr marL="0" indent="0">
              <a:buNone/>
            </a:pPr>
            <a:r>
              <a:t/>
            </a:r>
          </a:p>
          <a:p>
            <a:pPr marL="0" indent="0">
              <a:buNone/>
            </a:pPr>
            <a:r>
              <a:t>只解释中间箭头。按文字、声音、局部变化、环境说明 rich caption，再过渡到下一页双人示例。</a:t>
            </a:r>
          </a:p>
          <a:p>
            <a:pPr marL="0" indent="0">
              <a:buNone/>
            </a:pPr>
            <a:r>
              <a:t/>
            </a:r>
          </a:p>
          <a:p>
            <a:pPr marL="0" indent="0">
              <a:buNone/>
            </a:pPr>
            <a:r>
              <a:t>Sources: Supplied Bagpiper-TTS paper and Overleaf, Sections 2.1 and 2.3. https://bagpipertts.github.io/bagpiper_tts_demo/; original Request, Thinking, Caption and WAV. Long traces are condensed on slides.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The final arrow maps the rich caption to audio. This example describes a complete exchange between two speakers.</a:t>
            </a:r>
          </a:p>
          <a:p>
            <a:pPr marL="0" indent="0">
              <a:buNone/>
            </a:pPr>
            <a:r>
              <a:t/>
            </a:r>
          </a:p>
          <a:p>
            <a:pPr marL="0" indent="0">
              <a:buNone/>
            </a:pPr>
            <a:r>
              <a:t>The female voice has a calm, analytical delivery. Her line is: I think we should add a soaring chorus after the bridge to lift the energy. The male voice is lower and slightly rougher. He replies: Maybe a gritty guitar riff before the verse will give it that edgy feel we need.</a:t>
            </a:r>
          </a:p>
          <a:p>
            <a:pPr marL="0" indent="0">
              <a:buNone/>
            </a:pPr>
            <a:r>
              <a:t/>
            </a:r>
          </a:p>
          <a:p>
            <a:pPr marL="0" indent="0">
              <a:buNone/>
            </a:pPr>
            <a:r>
              <a:t>The caption specifies both lines, their order, and the difference between the voices. Listen for that change between the two turns.</a:t>
            </a:r>
          </a:p>
          <a:p>
            <a:pPr marL="0" indent="0">
              <a:buNone/>
            </a:pPr>
            <a:r>
              <a:t/>
            </a:r>
          </a:p>
          <a:p>
            <a:pPr marL="0" indent="0">
              <a:buNone/>
            </a:pPr>
            <a:r>
              <a:t>[PLAY DIALOGUE - 10.3 seconds. Wait for both turns to finish.]</a:t>
            </a:r>
          </a:p>
          <a:p>
            <a:pPr marL="0" indent="0">
              <a:buNone/>
            </a:pPr>
            <a:r>
              <a:t/>
            </a:r>
          </a:p>
          <a:p>
            <a:pPr marL="0" indent="0">
              <a:buNone/>
            </a:pPr>
            <a:r>
              <a:t>Bagpiper-Base learns caption-to-audio generation during pretraining across speech, music, and environmental sounds. Bagpiper-TTS builds on this ability by learning to produce plans and captions from user requests. This clip comes from the fine-tuned model, and the paragraph is a shortened version of its paired caption.</a:t>
            </a:r>
          </a:p>
          <a:p>
            <a:pPr marL="0" indent="0">
              <a:buNone/>
            </a:pPr>
            <a:r>
              <a:t/>
            </a:r>
          </a:p>
          <a:p>
            <a:pPr marL="0" indent="0">
              <a:buNone/>
            </a:pPr>
            <a:r>
              <a:t>--- PRESENTER REFERENCE / DO NOT READ ALOUD ---</a:t>
            </a:r>
          </a:p>
          <a:p>
            <a:pPr marL="0" indent="0">
              <a:buNone/>
            </a:pPr>
            <a:r>
              <a:t>Slide 8: Rich caption  →  Audio</a:t>
            </a:r>
          </a:p>
          <a:p>
            <a:pPr marL="0" indent="0">
              <a:buNone/>
            </a:pPr>
            <a:r>
              <a:t>Target: 72 seconds (including audio where present)</a:t>
            </a:r>
          </a:p>
          <a:p>
            <a:pPr marL="0" indent="0">
              <a:buNone/>
            </a:pPr>
            <a:r>
              <a:t/>
            </a:r>
          </a:p>
          <a:p>
            <a:pPr marL="0" indent="0">
              <a:buNone/>
            </a:pPr>
            <a:r>
              <a:t>说明两句台词、说话顺序和声音区别，再播放 10.3 秒。等两个轮次都结束后，再解释 Base 预训练。片段来自 fine-tuned Bagpiper-TTS，不能称为 Base-only 输出。</a:t>
            </a:r>
          </a:p>
          <a:p>
            <a:pPr marL="0" indent="0">
              <a:buNone/>
            </a:pPr>
            <a:r>
              <a:t/>
            </a:r>
          </a:p>
          <a:p>
            <a:pPr marL="0" indent="0">
              <a:buNone/>
            </a:pPr>
            <a:r>
              <a:t>If audio fails: The caption contains a female speaker suggesting a soaring chorus and a male speaker replying with a guitar-riff suggestion.</a:t>
            </a:r>
          </a:p>
          <a:p>
            <a:pPr marL="0" indent="0">
              <a:buNone/>
            </a:pPr>
            <a:r>
              <a:t/>
            </a:r>
          </a:p>
          <a:p>
            <a:pPr marL="0" indent="0">
              <a:buNone/>
            </a:pPr>
            <a:r>
              <a:t>Sources: Supplied Bagpiper-TTS paper and Overleaf, Section 2.1. https://bagpipertts.github.io/bagpiper_tts_demo/; original Request, Thinking, Caption and WAV. Long traces are condensed on slides. Multi-talker Sample 01. Paired caption and original WAV; spoken text cross-checked with a local ASR pass.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To train the full process, we need examples containing a request, planning, a caption, and audio. We start with the audio and caption on the right.</a:t>
            </a:r>
          </a:p>
          <a:p>
            <a:pPr marL="0" indent="0">
              <a:buNone/>
            </a:pPr>
            <a:r>
              <a:t/>
            </a:r>
          </a:p>
          <a:p>
            <a:pPr marL="0" indent="0">
              <a:buNone/>
            </a:pPr>
            <a:r>
              <a:t>First, a text language model uses the caption to generate a possible user request. We vary the request's length, wording, and order of information. For example, it may describe the voice before giving the text, or present the same requirements in a different order.</a:t>
            </a:r>
          </a:p>
          <a:p>
            <a:pPr marL="0" indent="0">
              <a:buNone/>
            </a:pPr>
            <a:r>
              <a:t/>
            </a:r>
          </a:p>
          <a:p>
            <a:pPr marL="0" indent="0">
              <a:buNone/>
            </a:pPr>
            <a:r>
              <a:t>Second, the language model receives both the new request and the original caption. It writes planning that connects them, covering the words, speaker attributes, pacing, and recording conditions where needed.</a:t>
            </a:r>
          </a:p>
          <a:p>
            <a:pPr marL="0" indent="0">
              <a:buNone/>
            </a:pPr>
            <a:r>
              <a:t/>
            </a:r>
          </a:p>
          <a:p>
            <a:pPr marL="0" indent="0">
              <a:buNone/>
            </a:pPr>
            <a:r>
              <a:t>We now have the complete training example. During fine-tuning, Bagpiper-TTS learns the forward sequence: request, planning, caption, and audio. We synthesize the request first, then the planning, using the existing audio and caption as the reference.</a:t>
            </a:r>
          </a:p>
          <a:p>
            <a:pPr marL="0" indent="0">
              <a:buNone/>
            </a:pPr>
            <a:r>
              <a:t/>
            </a:r>
          </a:p>
          <a:p>
            <a:pPr marL="0" indent="0">
              <a:buNone/>
            </a:pPr>
            <a:r>
              <a:t>--- PRESENTER REFERENCE / DO NOT READ ALOUD ---</a:t>
            </a:r>
          </a:p>
          <a:p>
            <a:pPr marL="0" indent="0">
              <a:buNone/>
            </a:pPr>
            <a:r>
              <a:t>Slide 9: Synthesizing requests and planning</a:t>
            </a:r>
          </a:p>
          <a:p>
            <a:pPr marL="0" indent="0">
              <a:buNone/>
            </a:pPr>
            <a:r>
              <a:t>Target: 63 seconds (including audio where present)</a:t>
            </a:r>
          </a:p>
          <a:p>
            <a:pPr marL="0" indent="0">
              <a:buNone/>
            </a:pPr>
            <a:r>
              <a:t/>
            </a:r>
          </a:p>
          <a:p>
            <a:pPr marL="0" indent="0">
              <a:buNone/>
            </a:pPr>
            <a:r>
              <a:t>四框位置保持不变。先从已有 caption 合成 request，再把 request 和 caption 一起输入以合成 planning；最后说明 fine-tuning 学习的是正向序列。</a:t>
            </a:r>
          </a:p>
          <a:p>
            <a:pPr marL="0" indent="0">
              <a:buNone/>
            </a:pPr>
            <a:r>
              <a:t/>
            </a:r>
          </a:p>
          <a:p>
            <a:pPr marL="0" indent="0">
              <a:buNone/>
            </a:pPr>
            <a:r>
              <a:t>Sources: Supplied Bagpiper-TTS paper and Overleaf, Section 2.3.1, Steps D and E; Figure 2. Request wording, length, and metadata order are varied. Text LLM: Qwen3-235B-A22B-Instruct-FP8.</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We build training data for six application types. These public demos illustrate the requests used in each category.</a:t>
            </a:r>
          </a:p>
          <a:p>
            <a:pPr marL="0" indent="0">
              <a:buNone/>
            </a:pPr>
            <a:r>
              <a:t/>
            </a:r>
          </a:p>
          <a:p>
            <a:pPr marL="0" indent="0">
              <a:buNone/>
            </a:pPr>
            <a:r>
              <a:t>Classical TTS provides the exact sentence and any voice requirements. Here, the request is simply to read, A rich farm is rare in this sandy waste, in a plain voice.</a:t>
            </a:r>
          </a:p>
          <a:p>
            <a:pPr marL="0" indent="0">
              <a:buNone/>
            </a:pPr>
            <a:r>
              <a:t/>
            </a:r>
          </a:p>
          <a:p>
            <a:pPr marL="0" indent="0">
              <a:buNone/>
            </a:pPr>
            <a:r>
              <a:t>[PLAY 1: CLASSICAL TTS - 2.2 seconds.]</a:t>
            </a:r>
          </a:p>
          <a:p>
            <a:pPr marL="0" indent="0">
              <a:buNone/>
            </a:pPr>
            <a:r>
              <a:t/>
            </a:r>
          </a:p>
          <a:p>
            <a:pPr marL="0" indent="0">
              <a:buNone/>
            </a:pPr>
            <a:r>
              <a:t>Multi-talker synthesis gives each speaker a line and a description. Here, the adult woman's voice should be warm and soothing, but bored. The teenage girl's reply should sound sharp and clipped, while expressing gratitude.</a:t>
            </a:r>
          </a:p>
          <a:p>
            <a:pPr marL="0" indent="0">
              <a:buNone/>
            </a:pPr>
            <a:r>
              <a:t/>
            </a:r>
          </a:p>
          <a:p>
            <a:pPr marL="0" indent="0">
              <a:buNone/>
            </a:pPr>
            <a:r>
              <a:t>[PLAY 2: MULTI-TALKER - 7.4 seconds.]</a:t>
            </a:r>
          </a:p>
          <a:p>
            <a:pPr marL="0" indent="0">
              <a:buNone/>
            </a:pPr>
            <a:r>
              <a:t/>
            </a:r>
          </a:p>
          <a:p>
            <a:pPr marL="0" indent="0">
              <a:buNone/>
            </a:pPr>
            <a:r>
              <a:t>Intent-to-speech gives a goal while leaving the words to the model. Here, the user wants to convey bad news gently to a large audience, in a calm and composed tone.</a:t>
            </a:r>
          </a:p>
          <a:p>
            <a:pPr marL="0" indent="0">
              <a:buNone/>
            </a:pPr>
            <a:r>
              <a:t/>
            </a:r>
          </a:p>
          <a:p>
            <a:pPr marL="0" indent="0">
              <a:buNone/>
            </a:pPr>
            <a:r>
              <a:t>[PLAY 3: INTENT-TO-SPEECH - 3.3 seconds.]</a:t>
            </a:r>
          </a:p>
          <a:p>
            <a:pPr marL="0" indent="0">
              <a:buNone/>
            </a:pPr>
            <a:r>
              <a:t/>
            </a:r>
          </a:p>
          <a:p>
            <a:pPr marL="0" indent="0">
              <a:buNone/>
            </a:pPr>
            <a:r>
              <a:t>Role-play adds a character and a situation. The prompt describes Davor, a Balkan beekeeper in the eighteen-sixties, and asks him to whisper the warning shown here.</a:t>
            </a:r>
          </a:p>
          <a:p>
            <a:pPr marL="0" indent="0">
              <a:buNone/>
            </a:pPr>
            <a:r>
              <a:t/>
            </a:r>
          </a:p>
          <a:p>
            <a:pPr marL="0" indent="0">
              <a:buNone/>
            </a:pPr>
            <a:r>
              <a:t>[PLAY 4: ROLE-PLAY - 4 seconds.]</a:t>
            </a:r>
          </a:p>
          <a:p>
            <a:pPr marL="0" indent="0">
              <a:buNone/>
            </a:pPr>
            <a:r>
              <a:t/>
            </a:r>
          </a:p>
          <a:p>
            <a:pPr marL="0" indent="0">
              <a:buNone/>
            </a:pPr>
            <a:r>
              <a:t>Singing provides lyrics and musical instructions. Here, the user asks for a tender punk torch song, with staccato phrasing, meaning short, separated notes.</a:t>
            </a:r>
          </a:p>
          <a:p>
            <a:pPr marL="0" indent="0">
              <a:buNone/>
            </a:pPr>
            <a:r>
              <a:t/>
            </a:r>
          </a:p>
          <a:p>
            <a:pPr marL="0" indent="0">
              <a:buNone/>
            </a:pPr>
            <a:r>
              <a:t>[PLAY 5: SINGING - 8.5 seconds.]</a:t>
            </a:r>
          </a:p>
          <a:p>
            <a:pPr marL="0" indent="0">
              <a:buNone/>
            </a:pPr>
            <a:r>
              <a:t/>
            </a:r>
          </a:p>
          <a:p>
            <a:pPr marL="0" indent="0">
              <a:buNone/>
            </a:pPr>
            <a:r>
              <a:t>Finally, the general-purpose request asks for one, two, three in reverse order. The model needs to understand the instruction and change the content before generating speech. The requested output is therefore three, two, one.</a:t>
            </a:r>
          </a:p>
          <a:p>
            <a:pPr marL="0" indent="0">
              <a:buNone/>
            </a:pPr>
            <a:r>
              <a:t/>
            </a:r>
          </a:p>
          <a:p>
            <a:pPr marL="0" indent="0">
              <a:buNone/>
            </a:pPr>
            <a:r>
              <a:t>[PLAY 6: GENERAL-PURPOSE - 3.1 seconds.]</a:t>
            </a:r>
          </a:p>
          <a:p>
            <a:pPr marL="0" indent="0">
              <a:buNone/>
            </a:pPr>
            <a:r>
              <a:t/>
            </a:r>
          </a:p>
          <a:p>
            <a:pPr marL="0" indent="0">
              <a:buNone/>
            </a:pPr>
            <a:r>
              <a:t>This simple example combines a text operation with audio generation in the same model. Across all six categories, we use the same request, planning, caption, and audio format.</a:t>
            </a:r>
          </a:p>
          <a:p>
            <a:pPr marL="0" indent="0">
              <a:buNone/>
            </a:pPr>
            <a:r>
              <a:t/>
            </a:r>
          </a:p>
          <a:p>
            <a:pPr marL="0" indent="0">
              <a:buNone/>
            </a:pPr>
            <a:r>
              <a:t>--- PRESENTER REFERENCE / DO NOT READ ALOUD ---</a:t>
            </a:r>
          </a:p>
          <a:p>
            <a:pPr marL="0" indent="0">
              <a:buNone/>
            </a:pPr>
            <a:r>
              <a:t>Slide 10: Six types of training samples</a:t>
            </a:r>
          </a:p>
          <a:p>
            <a:pPr marL="0" indent="0">
              <a:buNone/>
            </a:pPr>
            <a:r>
              <a:t>Target: 134 seconds (including audio where present)</a:t>
            </a:r>
          </a:p>
          <a:p>
            <a:pPr marL="0" indent="0">
              <a:buNone/>
            </a:pPr>
            <a:r>
              <a:t/>
            </a:r>
          </a:p>
          <a:p>
            <a:pPr marL="0" indent="0">
              <a:buNone/>
            </a:pPr>
            <a:r>
              <a:t>按从左到右、从上到下依次播放 6 段，先读每段前的 2–3 句，再停下来播放。六段音频合计 28.5 秒。最后的 reverse 多留一点停顿：输入顺序 one, two, three；要求变换；目标输出 three, two, one。不要把定性例子说成通用推理能力的全面验证。屏幕上的 requests 有压缩；下方保留完整原始 prompts 供核对，不要全部念出。</a:t>
            </a:r>
          </a:p>
          <a:p>
            <a:pPr marL="0" indent="0">
              <a:buNone/>
            </a:pPr>
            <a:r>
              <a:t/>
            </a:r>
          </a:p>
          <a:p>
            <a:pPr marL="0" indent="0">
              <a:buNone/>
            </a:pPr>
            <a:r>
              <a:t>If audio fails: Briefly read each displayed request. Explain the requested transformation from one, two, three to three, two, one without claiming a live playback.</a:t>
            </a:r>
          </a:p>
          <a:p>
            <a:pPr marL="0" indent="0">
              <a:buNone/>
            </a:pPr>
            <a:r>
              <a:t/>
            </a:r>
          </a:p>
          <a:p>
            <a:pPr marL="0" indent="0">
              <a:buNone/>
            </a:pPr>
            <a:r>
              <a:t>Sources: Paper Figure 3 defines the six categories. Illustrations use public demo pairs: Plain TTS Sample 04, Multi-talker Sample 04, Intent-to-speech Sample 02, Role-play Sample 01, Singing Sample 01, General Applications Sample 01. Requests condensed with exact quoted words preserved. These are public outputs, not identified training-set members. https://bagpipertts.github.io/bagpiper_tts_demo/</a:t>
            </a:r>
          </a:p>
          <a:p>
            <a:pPr marL="0" indent="0">
              <a:buNone/>
            </a:pPr>
            <a:r>
              <a:t/>
            </a:r>
          </a:p>
          <a:p>
            <a:pPr marL="0" indent="0">
              <a:buNone/>
            </a:pPr>
            <a:r>
              <a:t>FULL PROMPT REFERENCE / DO NOT READ ALOUD</a:t>
            </a:r>
          </a:p>
          <a:p>
            <a:pPr marL="0" indent="0">
              <a:buNone/>
            </a:pPr>
            <a:r>
              <a:t>Classical TTS</a:t>
            </a:r>
          </a:p>
          <a:p>
            <a:pPr marL="0" indent="0">
              <a:buNone/>
            </a:pPr>
            <a:r>
              <a:t>In a plain voice: "A rich farm is rare in this sandy waste."</a:t>
            </a:r>
          </a:p>
          <a:p>
            <a:pPr marL="0" indent="0">
              <a:buNone/>
            </a:pPr>
            <a:r>
              <a:t/>
            </a:r>
          </a:p>
          <a:p>
            <a:pPr marL="0" indent="0">
              <a:buNone/>
            </a:pPr>
            <a:r>
              <a:t>Multi-talker</a:t>
            </a:r>
          </a:p>
          <a:p>
            <a:pPr marL="0" indent="0">
              <a:buNone/>
            </a:pPr>
            <a:r>
              <a:t>Adult woman (warm, soothing, bored): "Oh, really? You think that's funny, huh?" Teen girl (sharp, clipped, grateful): "Thanks for the joke, sis, it actually made me smile."</a:t>
            </a:r>
          </a:p>
          <a:p>
            <a:pPr marL="0" indent="0">
              <a:buNone/>
            </a:pPr>
            <a:r>
              <a:t/>
            </a:r>
          </a:p>
          <a:p>
            <a:pPr marL="0" indent="0">
              <a:buNone/>
            </a:pPr>
            <a:r>
              <a:t>Intent-to-speech</a:t>
            </a:r>
          </a:p>
          <a:p>
            <a:pPr marL="0" indent="0">
              <a:buNone/>
            </a:pPr>
            <a:r>
              <a:t>I'm trying to convey some bad news gently to a large audience, using a calm and composed tone.</a:t>
            </a:r>
          </a:p>
          <a:p>
            <a:pPr marL="0" indent="0">
              <a:buNone/>
            </a:pPr>
            <a:r>
              <a:t/>
            </a:r>
          </a:p>
          <a:p>
            <a:pPr marL="0" indent="0">
              <a:buNone/>
            </a:pPr>
            <a:r>
              <a:t>Role-play</a:t>
            </a:r>
          </a:p>
          <a:p>
            <a:pPr marL="0" indent="0">
              <a:buNone/>
            </a:pPr>
            <a:r>
              <a:t>Davor, a Balkan beekeeper of 1860s, whispers: "Stay away from the hives tonight, the smoke betrays a hidden danger."</a:t>
            </a:r>
          </a:p>
          <a:p>
            <a:pPr marL="0" indent="0">
              <a:buNone/>
            </a:pPr>
            <a:r>
              <a:t/>
            </a:r>
          </a:p>
          <a:p>
            <a:pPr marL="0" indent="0">
              <a:buNone/>
            </a:pPr>
            <a:r>
              <a:t>Singing</a:t>
            </a:r>
          </a:p>
          <a:p>
            <a:pPr marL="0" indent="0">
              <a:buNone/>
            </a:pPr>
            <a:r>
              <a:t>Perform these lyrics as a tender punk torch song with staccato phrasing. "Your reckless heart beats like a broken drum, but I still love the bruised rhythm of your midnight sighs."</a:t>
            </a:r>
          </a:p>
          <a:p>
            <a:pPr marL="0" indent="0">
              <a:buNone/>
            </a:pPr>
            <a:r>
              <a:t/>
            </a:r>
          </a:p>
          <a:p>
            <a:pPr marL="0" indent="0">
              <a:buNone/>
            </a:pPr>
            <a:r>
              <a:t>General-purpose</a:t>
            </a:r>
          </a:p>
          <a:p>
            <a:pPr marL="0" indent="0">
              <a:buNone/>
            </a:pPr>
            <a:r>
              <a:t>Can you read one two three in the reverse order? Make a short speech clip.</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This chart shows the complete mixture across the six application types. We retain approximately seven hundred and thirty-eight thousand training examples in total. The numbers beside the bars are in thousands.</a:t>
            </a:r>
          </a:p>
          <a:p>
            <a:pPr marL="0" indent="0">
              <a:buNone/>
            </a:pPr>
            <a:r>
              <a:t/>
            </a:r>
          </a:p>
          <a:p>
            <a:pPr marL="0" indent="0">
              <a:buNone/>
            </a:pPr>
            <a:r>
              <a:t>Classical TTS contributes the largest share. All six categories are used to fine-tune the same model.</a:t>
            </a:r>
          </a:p>
          <a:p>
            <a:pPr marL="0" indent="0">
              <a:buNone/>
            </a:pPr>
            <a:r>
              <a:t/>
            </a:r>
          </a:p>
          <a:p>
            <a:pPr marL="0" indent="0">
              <a:buNone/>
            </a:pPr>
            <a:r>
              <a:t>We do not use a separate system prompt to tell the model which application to perform. It must work this out from the request itself. Across the mixture, it learns when to preserve the supplied text, when to choose the words, and when to generate a dialogue or a song.</a:t>
            </a:r>
          </a:p>
          <a:p>
            <a:pPr marL="0" indent="0">
              <a:buNone/>
            </a:pPr>
            <a:r>
              <a:t/>
            </a:r>
          </a:p>
          <a:p>
            <a:pPr marL="0" indent="0">
              <a:buNone/>
            </a:pPr>
            <a:r>
              <a:t>--- PRESENTER REFERENCE / DO NOT READ ALOUD ---</a:t>
            </a:r>
          </a:p>
          <a:p>
            <a:pPr marL="0" indent="0">
              <a:buNone/>
            </a:pPr>
            <a:r>
              <a:t>Slide 11: Training mixture across applications</a:t>
            </a:r>
          </a:p>
          <a:p>
            <a:pPr marL="0" indent="0">
              <a:buNone/>
            </a:pPr>
            <a:r>
              <a:t>Target: 45 seconds (including audio where present)</a:t>
            </a:r>
          </a:p>
          <a:p>
            <a:pPr marL="0" indent="0">
              <a:buNone/>
            </a:pPr>
            <a:r>
              <a:t/>
            </a:r>
          </a:p>
          <a:p>
            <a:pPr marL="0" indent="0">
              <a:buNone/>
            </a:pPr>
            <a:r>
              <a:t>把六类当作一个完整训练混合讲解，所有类别都训练同一个模型。强调模型从 request 自己判断任务，没有单独的任务 system prompt。</a:t>
            </a:r>
          </a:p>
          <a:p>
            <a:pPr marL="0" indent="0">
              <a:buNone/>
            </a:pPr>
            <a:r>
              <a:t/>
            </a:r>
          </a:p>
          <a:p>
            <a:pPr marL="0" indent="0">
              <a:buNone/>
            </a:pPr>
            <a:r>
              <a:t>Sources: Supplied Bagpiper-TTS paper and Overleaf, Section 2.3.2 and Figure 4. The application is not specified by a separate system prompt.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We fine-tune Bagpiper-Base, which uses Qwen3-8B-Base as its language backbone and X-Codec to represent audio. The starting model has been pretrained on six hundred billion tokens across audio-caption and text modeling tasks.</a:t>
            </a:r>
          </a:p>
          <a:p>
            <a:pPr marL="0" indent="0">
              <a:buNone/>
            </a:pPr>
            <a:r>
              <a:t/>
            </a:r>
          </a:p>
          <a:p>
            <a:pPr marL="0" indent="0">
              <a:buNone/>
            </a:pPr>
            <a:r>
              <a:t>The first three rows describe fine-tuning. We train for two epochs with a learning rate of ten to the minus five and a global batch size of one hundred and sixty thousand tokens. The run takes sixteen hours on eight H100 GPUs. This figure covers fine-tuning only; it excludes pretraining and data simulation.</a:t>
            </a:r>
          </a:p>
          <a:p>
            <a:pPr marL="0" indent="0">
              <a:buNone/>
            </a:pPr>
            <a:r>
              <a:t/>
            </a:r>
          </a:p>
          <a:p>
            <a:pPr marL="0" indent="0">
              <a:buNone/>
            </a:pPr>
            <a:r>
              <a:t>The final row describes inference. During speech generation, we use classifier-free guidance with a scale of three. This is a generation setting. With the model and training setup established, I'll now describe the evaluation.</a:t>
            </a:r>
          </a:p>
          <a:p>
            <a:pPr marL="0" indent="0">
              <a:buNone/>
            </a:pPr>
            <a:r>
              <a:t/>
            </a:r>
          </a:p>
          <a:p>
            <a:pPr marL="0" indent="0">
              <a:buNone/>
            </a:pPr>
            <a:r>
              <a:t>--- PRESENTER REFERENCE / DO NOT READ ALOUD ---</a:t>
            </a:r>
          </a:p>
          <a:p>
            <a:pPr marL="0" indent="0">
              <a:buNone/>
            </a:pPr>
            <a:r>
              <a:t>Slide 12: Training and inference setup</a:t>
            </a:r>
          </a:p>
          <a:p>
            <a:pPr marL="0" indent="0">
              <a:buNone/>
            </a:pPr>
            <a:r>
              <a:t>Target: 55 seconds (including audio where present)</a:t>
            </a:r>
          </a:p>
          <a:p>
            <a:pPr marL="0" indent="0">
              <a:buNone/>
            </a:pPr>
            <a:r>
              <a:t/>
            </a:r>
          </a:p>
          <a:p>
            <a:pPr marL="0" indent="0">
              <a:buNone/>
            </a:pPr>
            <a:r>
              <a:t>Fine-tuning、Global batch、Compute 都属于训练；最后的 Generation guidance 是推理设置。16 小时只指 fine-tuning，不包括预训练与数据合成。</a:t>
            </a:r>
          </a:p>
          <a:p>
            <a:pPr marL="0" indent="0">
              <a:buNone/>
            </a:pPr>
            <a:r>
              <a:t/>
            </a:r>
          </a:p>
          <a:p>
            <a:pPr marL="0" indent="0">
              <a:buNone/>
            </a:pPr>
            <a:r>
              <a:t>Sources: Supplied Bagpiper-TTS paper and Overleaf, Sections 2.1 and 3.1.</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For classical TTS, we use the English Seed-TTS-Eval benchmark and report word error rate.</a:t>
            </a:r>
          </a:p>
          <a:p>
            <a:pPr marL="0" indent="0">
              <a:buNone/>
            </a:pPr>
            <a:r>
              <a:t/>
            </a:r>
          </a:p>
          <a:p>
            <a:pPr marL="0" indent="0">
              <a:buNone/>
            </a:pPr>
            <a:r>
              <a:t>For the four advanced tasks, we generate three hundred test requests per task using GPT-OSS-120B. This process is separate from training-data simulation. We measure word error rate when a reference sentence is available, and use Gemini-3-Flash to score task fulfillment from one to five. Task fulfillment measures how well the output follows the request.</a:t>
            </a:r>
          </a:p>
          <a:p>
            <a:pPr marL="0" indent="0">
              <a:buNone/>
            </a:pPr>
            <a:r>
              <a:t/>
            </a:r>
          </a:p>
          <a:p>
            <a:pPr marL="0" indent="0">
              <a:buNone/>
            </a:pPr>
            <a:r>
              <a:t>Intent-to-speech has no single reference sentence, so we do not report word error rate for that task.</a:t>
            </a:r>
          </a:p>
          <a:p>
            <a:pPr marL="0" indent="0">
              <a:buNone/>
            </a:pPr>
            <a:r>
              <a:t/>
            </a:r>
          </a:p>
          <a:p>
            <a:pPr marL="0" indent="0">
              <a:buNone/>
            </a:pPr>
            <a:r>
              <a:t>The human study uses ten examples per task, with at least three raters per example. Samples are randomly selected from a pool that includes Gemini-based filtering. This is therefore a small listening study on filtered data. General-purpose generation is evaluated through qualitative examples. These are the settings for the results that follow.</a:t>
            </a:r>
          </a:p>
          <a:p>
            <a:pPr marL="0" indent="0">
              <a:buNone/>
            </a:pPr>
            <a:r>
              <a:t/>
            </a:r>
          </a:p>
          <a:p>
            <a:pPr marL="0" indent="0">
              <a:buNone/>
            </a:pPr>
            <a:r>
              <a:t>--- PRESENTER REFERENCE / DO NOT READ ALOUD ---</a:t>
            </a:r>
          </a:p>
          <a:p>
            <a:pPr marL="0" indent="0">
              <a:buNone/>
            </a:pPr>
            <a:r>
              <a:t>Slide 13: Experimental design</a:t>
            </a:r>
          </a:p>
          <a:p>
            <a:pPr marL="0" indent="0">
              <a:buNone/>
            </a:pPr>
            <a:r>
              <a:t>Target: 63 seconds (including audio where present)</a:t>
            </a:r>
          </a:p>
          <a:p>
            <a:pPr marL="0" indent="0">
              <a:buNone/>
            </a:pPr>
            <a:r>
              <a:t/>
            </a:r>
          </a:p>
          <a:p>
            <a:pPr marL="0" indent="0">
              <a:buNone/>
            </a:pPr>
            <a:r>
              <a:t>结果前一次性交代 benchmark、每任务样本数、自动评分和 human study 范围。保留 small filtered listening study 的限制。</a:t>
            </a:r>
          </a:p>
          <a:p>
            <a:pPr marL="0" indent="0">
              <a:buNone/>
            </a:pPr>
            <a:r>
              <a:t/>
            </a:r>
          </a:p>
          <a:p>
            <a:pPr marL="0" indent="0">
              <a:buNone/>
            </a:pPr>
            <a:r>
              <a:t>Sources: Supplied Bagpiper-TTS paper and Overleaf, Section 2.4. Human samples randomly selected from the pipeline including Gemini-based filtering.</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On English Seed-TTS-Eval, Bagpiper-TTS achieves a word error rate of one point seven percent. Qwen3-TTS achieves one point five, CosyVoice 2 achieves two point six, and VibeVoice achieves three point zero percent.</a:t>
            </a:r>
          </a:p>
          <a:p>
            <a:pPr marL="0" indent="0">
              <a:buNone/>
            </a:pPr>
            <a:r>
              <a:t/>
            </a:r>
          </a:p>
          <a:p>
            <a:pPr marL="0" indent="0">
              <a:buNone/>
            </a:pPr>
            <a:r>
              <a:t>This shows that Bagpiper-TTS remains competitive on classical TTS while supporting a wider range of natural-language requests. Qwen3-TTS has the lowest word error rate in this comparison.</a:t>
            </a:r>
          </a:p>
          <a:p>
            <a:pPr marL="0" indent="0">
              <a:buNone/>
            </a:pPr>
            <a:r>
              <a:t/>
            </a:r>
          </a:p>
          <a:p>
            <a:pPr marL="0" indent="0">
              <a:buNone/>
            </a:pPr>
            <a:r>
              <a:t>Word error rate measures transcription accuracy. It does not tell us whether a requested voice, speaking style, or interaction has been produced successfully. We therefore also need task-fulfillment scores and human ratings to assess the more complex applications.</a:t>
            </a:r>
          </a:p>
          <a:p>
            <a:pPr marL="0" indent="0">
              <a:buNone/>
            </a:pPr>
            <a:r>
              <a:t/>
            </a:r>
          </a:p>
          <a:p>
            <a:pPr marL="0" indent="0">
              <a:buNone/>
            </a:pPr>
            <a:r>
              <a:t>--- PRESENTER REFERENCE / DO NOT READ ALOUD ---</a:t>
            </a:r>
          </a:p>
          <a:p>
            <a:pPr marL="0" indent="0">
              <a:buNone/>
            </a:pPr>
            <a:r>
              <a:t>Slide 14: Classical TTS: competitive intelligibility</a:t>
            </a:r>
          </a:p>
          <a:p>
            <a:pPr marL="0" indent="0">
              <a:buNone/>
            </a:pPr>
            <a:r>
              <a:t>Target: 45 seconds (including audio where present)</a:t>
            </a:r>
          </a:p>
          <a:p>
            <a:pPr marL="0" indent="0">
              <a:buNone/>
            </a:pPr>
            <a:r>
              <a:t/>
            </a:r>
          </a:p>
          <a:p>
            <a:pPr marL="0" indent="0">
              <a:buNone/>
            </a:pPr>
            <a:r>
              <a:t>先说 1.7%，再明确 Qwen3-TTS 的 1.5% 最低。WER 只衡量转写准确率，不能据此宣布整体音质最优。</a:t>
            </a:r>
          </a:p>
          <a:p>
            <a:pPr marL="0" indent="0">
              <a:buNone/>
            </a:pPr>
            <a:r>
              <a:t/>
            </a:r>
          </a:p>
          <a:p>
            <a:pPr marL="0" indent="0">
              <a:buNone/>
            </a:pPr>
            <a:r>
              <a:t>Sources: Supplied Bagpiper-TTS paper and Overleaf, Table 1.</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Here we compare Bagpiper-TTS with two task-specific baselines: VibeVoice for multi-talker synthesis and YuE for singing. Gray shows the baseline, and red shows Bagpiper-TTS.</a:t>
            </a:r>
          </a:p>
          <a:p>
            <a:pPr marL="0" indent="0">
              <a:buNone/>
            </a:pPr>
            <a:r>
              <a:t/>
            </a:r>
          </a:p>
          <a:p>
            <a:pPr marL="0" indent="0">
              <a:buNone/>
            </a:pPr>
            <a:r>
              <a:t>In the left panel, multi-talker word error rate decreases from four point six to four point two percent. For singing, it decreases from eleven to seven point two percent.</a:t>
            </a:r>
          </a:p>
          <a:p>
            <a:pPr marL="0" indent="0">
              <a:buNone/>
            </a:pPr>
            <a:r>
              <a:t/>
            </a:r>
          </a:p>
          <a:p>
            <a:pPr marL="0" indent="0">
              <a:buNone/>
            </a:pPr>
            <a:r>
              <a:t>The middle panel measures task fulfillment. Bagpiper-TTS receives higher scores on both tasks, suggesting that it follows these requests more closely according to the automated judge.</a:t>
            </a:r>
          </a:p>
          <a:p>
            <a:pPr marL="0" indent="0">
              <a:buNone/>
            </a:pPr>
            <a:r>
              <a:t/>
            </a:r>
          </a:p>
          <a:p>
            <a:pPr marL="0" indent="0">
              <a:buNone/>
            </a:pPr>
            <a:r>
              <a:t>The right panel shows the human ratings. These are slightly below the task-specific models: three point six versus three point seven seven for multi-talker synthesis, and three point six seven versus three point seven three for singing. So the automatic results are encouraging, while human-rated quality still needs improvement.</a:t>
            </a:r>
          </a:p>
          <a:p>
            <a:pPr marL="0" indent="0">
              <a:buNone/>
            </a:pPr>
            <a:r>
              <a:t/>
            </a:r>
          </a:p>
          <a:p>
            <a:pPr marL="0" indent="0">
              <a:buNone/>
            </a:pPr>
            <a:r>
              <a:t>We also report intent-to-speech and role-play at the bottom, without matched baselines. Taken together, these results show the range of tasks supported by one model. The small human study also points to a clear direction for further work.</a:t>
            </a:r>
          </a:p>
          <a:p>
            <a:pPr marL="0" indent="0">
              <a:buNone/>
            </a:pPr>
            <a:r>
              <a:t/>
            </a:r>
          </a:p>
          <a:p>
            <a:pPr marL="0" indent="0">
              <a:buNone/>
            </a:pPr>
            <a:r>
              <a:t>--- PRESENTER REFERENCE / DO NOT READ ALOUD ---</a:t>
            </a:r>
          </a:p>
          <a:p>
            <a:pPr marL="0" indent="0">
              <a:buNone/>
            </a:pPr>
            <a:r>
              <a:t>Slide 15: Advanced tasks: automated and human scores</a:t>
            </a:r>
          </a:p>
          <a:p>
            <a:pPr marL="0" indent="0">
              <a:buNone/>
            </a:pPr>
            <a:r>
              <a:t>Target: 76 seconds (including audio where present)</a:t>
            </a:r>
          </a:p>
          <a:p>
            <a:pPr marL="0" indent="0">
              <a:buNone/>
            </a:pPr>
            <a:r>
              <a:t/>
            </a:r>
          </a:p>
          <a:p>
            <a:pPr marL="0" indent="0">
              <a:buNone/>
            </a:pPr>
            <a:r>
              <a:t>按左、中、右读三组柱状图。明确自动分数更好而 human ratings 略低。Intent/role 没有对应基线，不讲成相对胜出。</a:t>
            </a:r>
          </a:p>
          <a:p>
            <a:pPr marL="0" indent="0">
              <a:buNone/>
            </a:pPr>
            <a:r>
              <a:t/>
            </a:r>
          </a:p>
          <a:p>
            <a:pPr marL="0" indent="0">
              <a:buNone/>
            </a:pPr>
            <a:r>
              <a:t>Sources: Supplied Bagpiper-TTS paper and Overleaf, Table 2. Human study: 10 examples per task, at least 3 raters; filtered sample pool.</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buNone/>
            </a:pPr>
            <a:r>
              <a:t>To conclude, Bagpiper-TTS provides a natural-language interface for speech synthesis across six application types.</a:t>
            </a:r>
          </a:p>
          <a:p>
            <a:pPr marL="0" indent="0">
              <a:buNone/>
            </a:pPr>
            <a:r>
              <a:t/>
            </a:r>
          </a:p>
          <a:p>
            <a:pPr marL="0" indent="0">
              <a:buNone/>
            </a:pPr>
            <a:r>
              <a:t>The model uses planning to decide the content and delivery, then writes a rich caption to guide audio generation. We build the training data by synthesizing requests and planning around audio-caption pairs, and fine-tune a single model on the combined data.</a:t>
            </a:r>
          </a:p>
          <a:p>
            <a:pPr marL="0" indent="0">
              <a:buNone/>
            </a:pPr>
            <a:r>
              <a:t/>
            </a:r>
          </a:p>
          <a:p>
            <a:pPr marL="0" indent="0">
              <a:buNone/>
            </a:pPr>
            <a:r>
              <a:t>The results show competitive classical TTS and promising performance on advanced tasks. Improving human-rated quality remains an important next step.</a:t>
            </a:r>
          </a:p>
          <a:p>
            <a:pPr marL="0" indent="0">
              <a:buNone/>
            </a:pPr>
            <a:r>
              <a:t/>
            </a:r>
          </a:p>
          <a:p>
            <a:pPr marL="0" indent="0">
              <a:buNone/>
            </a:pPr>
            <a:r>
              <a:t>The project page includes the examples you heard today and additional demos.</a:t>
            </a:r>
          </a:p>
          <a:p>
            <a:pPr marL="0" indent="0">
              <a:buNone/>
            </a:pPr>
            <a:r>
              <a:t/>
            </a:r>
          </a:p>
          <a:p>
            <a:pPr marL="0" indent="0">
              <a:buNone/>
            </a:pPr>
            <a:r>
              <a:t>--- PRESENTER REFERENCE / DO NOT READ ALOUD ---</a:t>
            </a:r>
          </a:p>
          <a:p>
            <a:pPr marL="0" indent="0">
              <a:buNone/>
            </a:pPr>
            <a:r>
              <a:t>Slide 16: Natural language as the speech interface</a:t>
            </a:r>
          </a:p>
          <a:p>
            <a:pPr marL="0" indent="0">
              <a:buNone/>
            </a:pPr>
            <a:r>
              <a:t>Target: 40 seconds (including audio where present)</a:t>
            </a:r>
          </a:p>
          <a:p>
            <a:pPr marL="0" indent="0">
              <a:buNone/>
            </a:pPr>
            <a:r>
              <a:t/>
            </a:r>
          </a:p>
          <a:p>
            <a:pPr marL="0" indent="0">
              <a:buNone/>
            </a:pPr>
            <a:r>
              <a:t>按原来的总结收束贡献、训练方法和结果。此页不重复说 Thank you，翻到下一页再结束。</a:t>
            </a:r>
          </a:p>
          <a:p>
            <a:pPr marL="0" indent="0">
              <a:buNone/>
            </a:pPr>
            <a:r>
              <a:t/>
            </a:r>
          </a:p>
          <a:p>
            <a:pPr marL="0" indent="0">
              <a:buNone/>
            </a:pPr>
            <a:r>
              <a:t>Sources: Supplied Bagpiper-TTS paper and Overleaf, Conclusion; https://bagpipertts.github.io/bagpiper_tts_demo/; original Request, Thinking, Caption and WAV. Long traces are condensed on slides.</a:t>
            </a:r>
          </a:p>
        </p:txBody>
      </p:sp>
    </p:spTree>
  </p:cSld>
  <p:clrMapOvr>
    <a:masterClrMapping/>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buNone/>
            </a:pPr>
            <a:r>
              <a:t>Thank you for listening. The slides, audio demos, and model checkpoint are linked here. I am happy to take questions.</a:t>
            </a:r>
          </a:p>
          <a:p xmlns:a="http://schemas.openxmlformats.org/drawingml/2006/main">
            <a:pPr marL="0" indent="0">
              <a:buNone/>
            </a:pPr>
            <a:r>
              <a:t/>
            </a:r>
          </a:p>
          <a:p xmlns:a="http://schemas.openxmlformats.org/drawingml/2006/main">
            <a:pPr marL="0" indent="0">
              <a:buNone/>
            </a:pPr>
            <a:r>
              <a:t>--- PRESENTER REFERENCE / DO NOT READ ALOUD ---</a:t>
            </a:r>
          </a:p>
          <a:p xmlns:a="http://schemas.openxmlformats.org/drawingml/2006/main">
            <a:pPr marL="0" indent="0">
              <a:buNone/>
            </a:pPr>
            <a:r>
              <a:t>Slide 17: Thank you for listening!</a:t>
            </a:r>
          </a:p>
          <a:p xmlns:a="http://schemas.openxmlformats.org/drawingml/2006/main">
            <a:pPr marL="0" indent="0">
              <a:buNone/>
            </a:pPr>
            <a:r>
              <a:t>Target: 5 seconds (including audio where present)</a:t>
            </a:r>
          </a:p>
          <a:p xmlns:a="http://schemas.openxmlformats.org/drawingml/2006/main">
            <a:pPr marL="0" indent="0">
              <a:buNone/>
            </a:pPr>
            <a:r>
              <a:t/>
            </a:r>
          </a:p>
          <a:p xmlns:a="http://schemas.openxmlformats.org/drawingml/2006/main">
            <a:pPr marL="0" indent="0">
              <a:buNone/>
            </a:pPr>
            <a:r>
              <a:t>说完后停留本页进入问答。</a:t>
            </a:r>
          </a:p>
          <a:p xmlns:a="http://schemas.openxmlformats.org/drawingml/2006/main">
            <a:pPr marL="0" indent="0">
              <a:buNone/>
            </a:pPr>
            <a:r>
              <a:t/>
            </a:r>
          </a:p>
          <a:p xmlns:a="http://schemas.openxmlformats.org/drawingml/2006/main">
            <a:pPr marL="0" indent="0">
              <a:buNone/>
            </a:pPr>
            <a:r>
              <a:t>Sources: Project demo page: https://bagpipertts.github.io/bagpiper_tts_demo/</a:t>
            </a:r>
          </a:p>
          <a:p xmlns:a="http://schemas.openxmlformats.org/drawingml/2006/main">
            <a:pPr marL="0" indent="0">
              <a:buNone/>
            </a:pPr>
            <a:r>
              <a:t/>
            </a:r>
          </a:p>
          <a:p xmlns:a="http://schemas.openxmlformats.org/drawingml/2006/main">
            <a:pPr marL="0" indent="0">
              <a:buNone/>
            </a:pPr>
            <a:r>
              <a:t>Resources:</a:t>
            </a:r>
          </a:p>
          <a:p xmlns:a="http://schemas.openxmlformats.org/drawingml/2006/main">
            <a:pPr marL="0" indent="0">
              <a:buNone/>
            </a:pPr>
            <a:r>
              <a:t>Slides: https://github.com/whr-a/bagpiper_tts_demo/raw/refs/heads/slides-interspeech2026/slides/Bagpiper-TTS_Interspeech2026.pptx</a:t>
            </a:r>
          </a:p>
          <a:p xmlns:a="http://schemas.openxmlformats.org/drawingml/2006/main">
            <a:pPr marL="0" indent="0">
              <a:buNone/>
            </a:pPr>
            <a:r>
              <a:t>Demos: https://bagpipertts.github.io/bagpiper_tts_demo/</a:t>
            </a:r>
          </a:p>
          <a:p xmlns:a="http://schemas.openxmlformats.org/drawingml/2006/main">
            <a:pPr marL="0" indent="0">
              <a:buNone/>
            </a:pPr>
            <a:r>
              <a:t>Model: https://huggingface.co/espnet/bagpiper-tts-sft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lti-current.png"/><Relationship Id="rId5"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lti-current.png"/><Relationship Id="rId5"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74150" y="645925"/>
            <a:ext cx="5798400" cy="1946700"/>
          </a:xfrm>
          <a:prstGeom prst="rect">
            <a:avLst/>
          </a:prstGeom>
        </p:spPr>
        <p:txBody>
          <a:bodyPr anchorCtr="0" anchor="b" bIns="91425" lIns="91425" spcFirstLastPara="1" rIns="91425" wrap="square" tIns="91425">
            <a:normAutofit/>
          </a:bodyPr>
          <a:lstStyle>
            <a:lvl1pPr lvl="0">
              <a:spcBef>
                <a:spcPts val="0"/>
              </a:spcBef>
              <a:spcAft>
                <a:spcPts val="0"/>
              </a:spcAft>
              <a:buClr>
                <a:srgbClr val="585959"/>
              </a:buClr>
              <a:buSzPts val="3400"/>
              <a:buNone/>
              <a:defRPr b="1" sz="3400">
                <a:solidFill>
                  <a:srgbClr val="585959"/>
                </a:solidFill>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1" name="Google Shape;11;p2"/>
          <p:cNvSpPr txBox="1"/>
          <p:nvPr>
            <p:ph idx="1" type="subTitle"/>
          </p:nvPr>
        </p:nvSpPr>
        <p:spPr>
          <a:xfrm>
            <a:off x="2674150" y="2555425"/>
            <a:ext cx="3741600" cy="969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585959"/>
              </a:buClr>
              <a:buSzPts val="1700"/>
              <a:buNone/>
              <a:defRPr sz="1700">
                <a:solidFill>
                  <a:srgbClr val="585959"/>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 name="Google Shape;13;p2"/>
          <p:cNvPicPr preferRelativeResize="0"/>
          <p:nvPr/>
        </p:nvPicPr>
        <p:blipFill rotWithShape="1">
          <a:blip r:embed="rId2">
            <a:alphaModFix/>
          </a:blip>
          <a:srcRect b="0" l="0" r="57636" t="0"/>
          <a:stretch/>
        </p:blipFill>
        <p:spPr>
          <a:xfrm>
            <a:off x="0" y="0"/>
            <a:ext cx="2179000" cy="5143500"/>
          </a:xfrm>
          <a:prstGeom prst="rect">
            <a:avLst/>
          </a:prstGeom>
          <a:noFill/>
          <a:ln>
            <a:noFill/>
          </a:ln>
        </p:spPr>
      </p:pic>
      <p:pic>
        <p:nvPicPr>
          <p:cNvPr id="14" name="Google Shape;14;p2"/>
          <p:cNvPicPr preferRelativeResize="0"/>
          <p:nvPr/>
        </p:nvPicPr>
        <p:blipFill>
          <a:blip r:embed="rId3">
            <a:alphaModFix/>
          </a:blip>
          <a:stretch>
            <a:fillRect/>
          </a:stretch>
        </p:blipFill>
        <p:spPr>
          <a:xfrm>
            <a:off x="302375" y="3613150"/>
            <a:ext cx="1574262" cy="999925"/>
          </a:xfrm>
          <a:prstGeom prst="rect">
            <a:avLst/>
          </a:prstGeom>
          <a:noFill/>
          <a:ln>
            <a:noFill/>
          </a:ln>
        </p:spPr>
      </p:pic>
      <p:pic>
        <p:nvPicPr>
          <p:cNvPr id="15" name="Google Shape;15;p2"/>
          <p:cNvPicPr preferRelativeResize="0"/>
          <p:nvPr/>
        </p:nvPicPr>
        <p:blipFill>
          <a:blip r:embed="rId4">
            <a:alphaModFix/>
          </a:blip>
          <a:srcRect l="435" t="12727" r="435" b="12727"/>
          <a:stretch>
            <a:fillRect/>
          </a:stretch>
        </p:blipFill>
        <p:spPr>
          <a:xfrm>
            <a:off x="2762250" y="3838575"/>
            <a:ext cx="1143000" cy="822158"/>
          </a:xfrm>
          <a:prstGeom prst="rect">
            <a:avLst/>
          </a:prstGeom>
          <a:noFill/>
          <a:ln>
            <a:noFill/>
          </a:ln>
        </p:spPr>
      </p:pic>
      <p:pic>
        <p:nvPicPr>
          <p:cNvPr id="16" name="Google Shape;16;p2"/>
          <p:cNvPicPr preferRelativeResize="0"/>
          <p:nvPr/>
        </p:nvPicPr>
        <p:blipFill rotWithShape="1">
          <a:blip r:embed="rId5">
            <a:alphaModFix/>
          </a:blip>
          <a:srcRect b="45383" l="18895" r="20565" t="9904"/>
          <a:stretch/>
        </p:blipFill>
        <p:spPr>
          <a:xfrm>
            <a:off x="7924800" y="238125"/>
            <a:ext cx="762000" cy="39338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3"/>
          <p:cNvSpPr txBox="1"/>
          <p:nvPr>
            <p:ph type="title"/>
          </p:nvPr>
        </p:nvSpPr>
        <p:spPr>
          <a:xfrm>
            <a:off x="1479450" y="1996800"/>
            <a:ext cx="7352700" cy="708000"/>
          </a:xfrm>
          <a:prstGeom prst="rect">
            <a:avLst/>
          </a:prstGeom>
        </p:spPr>
        <p:txBody>
          <a:bodyPr anchorCtr="0" anchor="ctr" bIns="91425" lIns="91425" spcFirstLastPara="1" rIns="91425" wrap="square" tIns="91425">
            <a:normAutofit/>
          </a:bodyPr>
          <a:lstStyle>
            <a:lvl1pPr lvl="0" b="1">
              <a:spcBef>
                <a:spcPts val="0"/>
              </a:spcBef>
              <a:spcAft>
                <a:spcPts val="0"/>
              </a:spcAft>
              <a:buClr>
                <a:srgbClr val="434343"/>
              </a:buClr>
              <a:buSzPts val="3600"/>
              <a:buFont typeface="Arial"/>
              <a:buNone/>
              <a:defRPr sz="3600" b="1">
                <a:solidFill>
                  <a:srgbClr val="434343"/>
                </a:solidFill>
                <a:latin typeface="Arial"/>
                <a:ea typeface="Arial"/>
                <a:cs typeface="Arial"/>
                <a:sym typeface="Aria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3"/>
          <p:cNvPicPr preferRelativeResize="0"/>
          <p:nvPr/>
        </p:nvPicPr>
        <p:blipFill rotWithShape="1">
          <a:blip r:embed="rId2">
            <a:alphaModFix/>
          </a:blip>
          <a:srcRect b="0" l="0" r="81735" t="0"/>
          <a:stretch/>
        </p:blipFill>
        <p:spPr>
          <a:xfrm>
            <a:off x="0" y="0"/>
            <a:ext cx="939450" cy="5143500"/>
          </a:xfrm>
          <a:prstGeom prst="rect">
            <a:avLst/>
          </a:prstGeom>
          <a:noFill/>
          <a:ln>
            <a:noFill/>
          </a:ln>
        </p:spPr>
      </p:pic>
      <p:pic>
        <p:nvPicPr>
          <p:cNvPr id="22" name="Google Shape;22;p3"/>
          <p:cNvPicPr preferRelativeResize="0"/>
          <p:nvPr/>
        </p:nvPicPr>
        <p:blipFill rotWithShape="1">
          <a:blip r:embed="rId3">
            <a:alphaModFix/>
          </a:blip>
          <a:srcRect b="45383" l="18895" r="20565" t="9904"/>
          <a:stretch/>
        </p:blipFill>
        <p:spPr>
          <a:xfrm>
            <a:off x="7972425" y="4667250"/>
            <a:ext cx="685800" cy="3543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1356975" y="488893"/>
            <a:ext cx="7475400" cy="572700"/>
          </a:xfrm>
          <a:prstGeom prst="rect">
            <a:avLst/>
          </a:prstGeom>
        </p:spPr>
        <p:txBody>
          <a:bodyPr anchorCtr="0" anchor="t" bIns="91425" lIns="91425" spcFirstLastPara="1" rIns="91425" wrap="square" tIns="91425">
            <a:normAutofit/>
          </a:bodyPr>
          <a:lstStyle>
            <a:lvl1pPr lv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1pPr>
            <a:lvl2pPr lvl="1"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2pPr>
            <a:lvl3pPr lvl="2"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3pPr>
            <a:lvl4pPr lvl="3"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4pPr>
            <a:lvl5pPr lvl="4"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5pPr>
            <a:lvl6pPr lvl="5"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6pPr>
            <a:lvl7pPr lvl="6"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7pPr>
            <a:lvl8pPr lvl="7"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8pPr>
            <a:lvl9pPr lvl="8"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9pPr>
          </a:lstStyle>
          <a:p/>
        </p:txBody>
      </p:sp>
      <p:sp>
        <p:nvSpPr>
          <p:cNvPr id="25" name="Google Shape;25;p4"/>
          <p:cNvSpPr txBox="1"/>
          <p:nvPr>
            <p:ph idx="1" type="body"/>
          </p:nvPr>
        </p:nvSpPr>
        <p:spPr>
          <a:xfrm>
            <a:off x="1356900" y="1152475"/>
            <a:ext cx="7384500" cy="3416400"/>
          </a:xfrm>
          <a:prstGeom prst="rect">
            <a:avLst/>
          </a:prstGeom>
        </p:spPr>
        <p:txBody>
          <a:bodyPr anchorCtr="0" anchor="t" bIns="91425" lIns="91425" spcFirstLastPara="1" rIns="91425" wrap="square" tIns="91425">
            <a:normAutofit/>
          </a:bodyPr>
          <a:lstStyle>
            <a:lvl1pPr indent="-342900" lvl="0" marL="457200" b="1">
              <a:lnSpc>
                <a:spcPct val="120000"/>
              </a:lnSpc>
              <a:spcBef>
                <a:spcPts val="0"/>
              </a:spcBef>
              <a:spcAft>
                <a:spcPts val="0"/>
              </a:spcAft>
              <a:buClr>
                <a:srgbClr val="666666"/>
              </a:buClr>
              <a:buSzPts val="1800"/>
              <a:buFont typeface="Arial"/>
              <a:buChar char="●"/>
              <a:defRPr b="1">
                <a:solidFill>
                  <a:srgbClr val="666666"/>
                </a:solidFill>
                <a:latin typeface="Arial"/>
                <a:ea typeface="Arial"/>
                <a:cs typeface="Arial"/>
                <a:sym typeface="Arial"/>
              </a:defRPr>
            </a:lvl1pPr>
            <a:lvl2pPr indent="-317500" lvl="1" marL="914400">
              <a:lnSpc>
                <a:spcPct val="120000"/>
              </a:lnSpc>
              <a:spcBef>
                <a:spcPts val="700"/>
              </a:spcBef>
              <a:spcAft>
                <a:spcPts val="0"/>
              </a:spcAft>
              <a:buClr>
                <a:srgbClr val="666666"/>
              </a:buClr>
              <a:buSzPts val="1400"/>
              <a:buChar char="○"/>
              <a:defRPr>
                <a:solidFill>
                  <a:srgbClr val="666666"/>
                </a:solidFill>
              </a:defRPr>
            </a:lvl2pPr>
            <a:lvl3pPr indent="-317500" lvl="2" marL="1371600">
              <a:lnSpc>
                <a:spcPct val="120000"/>
              </a:lnSpc>
              <a:spcBef>
                <a:spcPts val="700"/>
              </a:spcBef>
              <a:spcAft>
                <a:spcPts val="0"/>
              </a:spcAft>
              <a:buClr>
                <a:srgbClr val="666666"/>
              </a:buClr>
              <a:buSzPts val="1400"/>
              <a:buChar char="■"/>
              <a:defRPr>
                <a:solidFill>
                  <a:srgbClr val="666666"/>
                </a:solidFill>
              </a:defRPr>
            </a:lvl3pPr>
            <a:lvl4pPr indent="-317500" lvl="3" marL="1828800">
              <a:lnSpc>
                <a:spcPct val="120000"/>
              </a:lnSpc>
              <a:spcBef>
                <a:spcPts val="700"/>
              </a:spcBef>
              <a:spcAft>
                <a:spcPts val="0"/>
              </a:spcAft>
              <a:buClr>
                <a:srgbClr val="666666"/>
              </a:buClr>
              <a:buSzPts val="1400"/>
              <a:buChar char="●"/>
              <a:defRPr>
                <a:solidFill>
                  <a:srgbClr val="666666"/>
                </a:solidFill>
              </a:defRPr>
            </a:lvl4pPr>
            <a:lvl5pPr indent="-317500" lvl="4" marL="2286000">
              <a:lnSpc>
                <a:spcPct val="120000"/>
              </a:lnSpc>
              <a:spcBef>
                <a:spcPts val="700"/>
              </a:spcBef>
              <a:spcAft>
                <a:spcPts val="0"/>
              </a:spcAft>
              <a:buClr>
                <a:srgbClr val="666666"/>
              </a:buClr>
              <a:buSzPts val="1400"/>
              <a:buChar char="○"/>
              <a:defRPr>
                <a:solidFill>
                  <a:srgbClr val="666666"/>
                </a:solidFill>
              </a:defRPr>
            </a:lvl5pPr>
            <a:lvl6pPr indent="-317500" lvl="5" marL="2743200">
              <a:lnSpc>
                <a:spcPct val="120000"/>
              </a:lnSpc>
              <a:spcBef>
                <a:spcPts val="700"/>
              </a:spcBef>
              <a:spcAft>
                <a:spcPts val="0"/>
              </a:spcAft>
              <a:buClr>
                <a:srgbClr val="666666"/>
              </a:buClr>
              <a:buSzPts val="1400"/>
              <a:buChar char="■"/>
              <a:defRPr>
                <a:solidFill>
                  <a:srgbClr val="666666"/>
                </a:solidFill>
              </a:defRPr>
            </a:lvl6pPr>
            <a:lvl7pPr indent="-317500" lvl="6" marL="3200400">
              <a:lnSpc>
                <a:spcPct val="120000"/>
              </a:lnSpc>
              <a:spcBef>
                <a:spcPts val="700"/>
              </a:spcBef>
              <a:spcAft>
                <a:spcPts val="0"/>
              </a:spcAft>
              <a:buClr>
                <a:srgbClr val="666666"/>
              </a:buClr>
              <a:buSzPts val="1400"/>
              <a:buChar char="●"/>
              <a:defRPr>
                <a:solidFill>
                  <a:srgbClr val="666666"/>
                </a:solidFill>
              </a:defRPr>
            </a:lvl7pPr>
            <a:lvl8pPr indent="-317500" lvl="7" marL="3657600">
              <a:lnSpc>
                <a:spcPct val="120000"/>
              </a:lnSpc>
              <a:spcBef>
                <a:spcPts val="700"/>
              </a:spcBef>
              <a:spcAft>
                <a:spcPts val="0"/>
              </a:spcAft>
              <a:buClr>
                <a:srgbClr val="666666"/>
              </a:buClr>
              <a:buSzPts val="1400"/>
              <a:buChar char="○"/>
              <a:defRPr>
                <a:solidFill>
                  <a:srgbClr val="666666"/>
                </a:solidFill>
              </a:defRPr>
            </a:lvl8pPr>
            <a:lvl9pPr indent="-317500" lvl="8" marL="4114800">
              <a:lnSpc>
                <a:spcPct val="120000"/>
              </a:lnSpc>
              <a:spcBef>
                <a:spcPts val="700"/>
              </a:spcBef>
              <a:spcAft>
                <a:spcPts val="700"/>
              </a:spcAft>
              <a:buClr>
                <a:srgbClr val="666666"/>
              </a:buClr>
              <a:buSzPts val="1400"/>
              <a:buChar char="■"/>
              <a:defRPr>
                <a:solidFill>
                  <a:srgbClr val="666666"/>
                </a:solidFill>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7" name="Google Shape;27;p4"/>
          <p:cNvPicPr preferRelativeResize="0"/>
          <p:nvPr/>
        </p:nvPicPr>
        <p:blipFill rotWithShape="1">
          <a:blip r:embed="rId2">
            <a:alphaModFix/>
          </a:blip>
          <a:srcRect b="0" l="0" r="81735" t="0"/>
          <a:stretch/>
        </p:blipFill>
        <p:spPr>
          <a:xfrm>
            <a:off x="0" y="0"/>
            <a:ext cx="939450" cy="5143500"/>
          </a:xfrm>
          <a:prstGeom prst="rect">
            <a:avLst/>
          </a:prstGeom>
          <a:noFill/>
          <a:ln>
            <a:noFill/>
          </a:ln>
        </p:spPr>
      </p:pic>
      <p:pic>
        <p:nvPicPr>
          <p:cNvPr id="28" name="Google Shape;28;p4"/>
          <p:cNvPicPr preferRelativeResize="0"/>
          <p:nvPr/>
        </p:nvPicPr>
        <p:blipFill rotWithShape="1">
          <a:blip r:embed="rId3">
            <a:alphaModFix/>
          </a:blip>
          <a:srcRect b="45383" l="18895" r="20565" t="9904"/>
          <a:stretch/>
        </p:blipFill>
        <p:spPr>
          <a:xfrm>
            <a:off x="7972425" y="4667250"/>
            <a:ext cx="685800" cy="354330"/>
          </a:xfrm>
          <a:prstGeom prst="rect">
            <a:avLst/>
          </a:prstGeom>
          <a:noFill/>
          <a:ln>
            <a:noFill/>
          </a:ln>
        </p:spPr>
      </p:pic>
      <p:sp>
        <p:nvSpPr>
          <p:cNvPr id="29" name="Google Shape;29;p4"/>
          <p:cNvSpPr txBox="1"/>
          <p:nvPr>
            <p:ph idx="2" type="subTitle"/>
          </p:nvPr>
        </p:nvSpPr>
        <p:spPr>
          <a:xfrm>
            <a:off x="5279550" y="130400"/>
            <a:ext cx="3741600" cy="4311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rgbClr val="999999"/>
              </a:buClr>
              <a:buSzPts val="1600"/>
              <a:buNone/>
              <a:defRPr sz="1600">
                <a:solidFill>
                  <a:srgbClr val="999999"/>
                </a:solidFill>
              </a:defRPr>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AND_BODY_3">
    <p:spTree>
      <p:nvGrpSpPr>
        <p:cNvPr id="30" name="Shape 30"/>
        <p:cNvGrpSpPr/>
        <p:nvPr/>
      </p:nvGrpSpPr>
      <p:grpSpPr>
        <a:xfrm>
          <a:off x="0" y="0"/>
          <a:ext cx="0" cy="0"/>
          <a:chOff x="0" y="0"/>
          <a:chExt cx="0" cy="0"/>
        </a:xfrm>
      </p:grpSpPr>
      <p:sp>
        <p:nvSpPr>
          <p:cNvPr id="31" name="Google Shape;31;p5"/>
          <p:cNvSpPr txBox="1"/>
          <p:nvPr>
            <p:ph type="title"/>
          </p:nvPr>
        </p:nvSpPr>
        <p:spPr>
          <a:xfrm>
            <a:off x="1258272" y="837561"/>
            <a:ext cx="7475400" cy="572700"/>
          </a:xfrm>
          <a:prstGeom prst="rect">
            <a:avLst/>
          </a:prstGeom>
        </p:spPr>
        <p:txBody>
          <a:bodyPr anchorCtr="0" anchor="t" bIns="91425" lIns="91425" spcFirstLastPara="1" rIns="91425" wrap="square" tIns="91425">
            <a:normAutofit/>
          </a:bodyPr>
          <a:lstStyle>
            <a:lvl1pPr lvl="0"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1pPr>
            <a:lvl2pPr lvl="1"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2pPr>
            <a:lvl3pPr lvl="2"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3pPr>
            <a:lvl4pPr lvl="3"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4pPr>
            <a:lvl5pPr lvl="4"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5pPr>
            <a:lvl6pPr lvl="5"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6pPr>
            <a:lvl7pPr lvl="6"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7pPr>
            <a:lvl8pPr lvl="7"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8pPr>
            <a:lvl9pPr lvl="8"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9pPr>
          </a:lstStyle>
          <a:p/>
        </p:txBody>
      </p:sp>
      <p:sp>
        <p:nvSpPr>
          <p:cNvPr id="32" name="Google Shape;32;p5"/>
          <p:cNvSpPr txBox="1"/>
          <p:nvPr>
            <p:ph idx="1" type="body"/>
          </p:nvPr>
        </p:nvSpPr>
        <p:spPr>
          <a:xfrm>
            <a:off x="1569900" y="1557775"/>
            <a:ext cx="7171500" cy="3011100"/>
          </a:xfrm>
          <a:prstGeom prst="rect">
            <a:avLst/>
          </a:prstGeom>
        </p:spPr>
        <p:txBody>
          <a:bodyPr anchorCtr="0" anchor="t" bIns="91425" lIns="91425" spcFirstLastPara="1" rIns="91425" wrap="square" tIns="91425">
            <a:normAutofit/>
          </a:bodyPr>
          <a:lstStyle>
            <a:lvl1pPr indent="-349250" lvl="0" marL="457200" rtl="0" b="1">
              <a:lnSpc>
                <a:spcPct val="150000"/>
              </a:lnSpc>
              <a:spcBef>
                <a:spcPts val="0"/>
              </a:spcBef>
              <a:spcAft>
                <a:spcPts val="0"/>
              </a:spcAft>
              <a:buClr>
                <a:srgbClr val="666666"/>
              </a:buClr>
              <a:buSzPts val="1900"/>
              <a:buFont typeface="Arial"/>
              <a:buChar char="●"/>
              <a:defRPr sz="1900" b="1">
                <a:solidFill>
                  <a:srgbClr val="666666"/>
                </a:solidFill>
                <a:latin typeface="Arial"/>
                <a:ea typeface="Arial"/>
                <a:cs typeface="Arial"/>
                <a:sym typeface="Arial"/>
              </a:defRPr>
            </a:lvl1pPr>
            <a:lvl2pPr indent="-323850" lvl="1" marL="914400" rtl="0" b="1">
              <a:lnSpc>
                <a:spcPct val="150000"/>
              </a:lnSpc>
              <a:spcBef>
                <a:spcPts val="0"/>
              </a:spcBef>
              <a:spcAft>
                <a:spcPts val="0"/>
              </a:spcAft>
              <a:buClr>
                <a:srgbClr val="666666"/>
              </a:buClr>
              <a:buSzPts val="1500"/>
              <a:buFont typeface="Arial"/>
              <a:buChar char="○"/>
              <a:defRPr sz="1500" b="1">
                <a:solidFill>
                  <a:srgbClr val="666666"/>
                </a:solidFill>
                <a:latin typeface="Arial"/>
                <a:ea typeface="Arial"/>
                <a:cs typeface="Arial"/>
                <a:sym typeface="Arial"/>
              </a:defRPr>
            </a:lvl2pPr>
            <a:lvl3pPr indent="-323850" lvl="2" marL="1371600" rtl="0" b="1">
              <a:lnSpc>
                <a:spcPct val="150000"/>
              </a:lnSpc>
              <a:spcBef>
                <a:spcPts val="0"/>
              </a:spcBef>
              <a:spcAft>
                <a:spcPts val="0"/>
              </a:spcAft>
              <a:buClr>
                <a:srgbClr val="666666"/>
              </a:buClr>
              <a:buSzPts val="1500"/>
              <a:buFont typeface="Arial"/>
              <a:buChar char="■"/>
              <a:defRPr sz="1500" b="1">
                <a:solidFill>
                  <a:srgbClr val="666666"/>
                </a:solidFill>
                <a:latin typeface="Arial"/>
                <a:ea typeface="Arial"/>
                <a:cs typeface="Arial"/>
                <a:sym typeface="Arial"/>
              </a:defRPr>
            </a:lvl3pPr>
            <a:lvl4pPr indent="-323850" lvl="3" marL="1828800" rtl="0" b="1">
              <a:lnSpc>
                <a:spcPct val="150000"/>
              </a:lnSpc>
              <a:spcBef>
                <a:spcPts val="0"/>
              </a:spcBef>
              <a:spcAft>
                <a:spcPts val="0"/>
              </a:spcAft>
              <a:buClr>
                <a:srgbClr val="666666"/>
              </a:buClr>
              <a:buSzPts val="1500"/>
              <a:buFont typeface="Arial"/>
              <a:buChar char="●"/>
              <a:defRPr sz="1500" b="1">
                <a:solidFill>
                  <a:srgbClr val="666666"/>
                </a:solidFill>
                <a:latin typeface="Arial"/>
                <a:ea typeface="Arial"/>
                <a:cs typeface="Arial"/>
                <a:sym typeface="Arial"/>
              </a:defRPr>
            </a:lvl4pPr>
            <a:lvl5pPr indent="-323850" lvl="4" marL="2286000" rtl="0" b="1">
              <a:lnSpc>
                <a:spcPct val="150000"/>
              </a:lnSpc>
              <a:spcBef>
                <a:spcPts val="0"/>
              </a:spcBef>
              <a:spcAft>
                <a:spcPts val="0"/>
              </a:spcAft>
              <a:buClr>
                <a:srgbClr val="666666"/>
              </a:buClr>
              <a:buSzPts val="1500"/>
              <a:buFont typeface="Arial"/>
              <a:buChar char="○"/>
              <a:defRPr sz="1500" b="1">
                <a:solidFill>
                  <a:srgbClr val="666666"/>
                </a:solidFill>
                <a:latin typeface="Arial"/>
                <a:ea typeface="Arial"/>
                <a:cs typeface="Arial"/>
                <a:sym typeface="Arial"/>
              </a:defRPr>
            </a:lvl5pPr>
            <a:lvl6pPr indent="-323850" lvl="5" marL="2743200" rtl="0" b="1">
              <a:lnSpc>
                <a:spcPct val="150000"/>
              </a:lnSpc>
              <a:spcBef>
                <a:spcPts val="0"/>
              </a:spcBef>
              <a:spcAft>
                <a:spcPts val="0"/>
              </a:spcAft>
              <a:buClr>
                <a:srgbClr val="666666"/>
              </a:buClr>
              <a:buSzPts val="1500"/>
              <a:buFont typeface="Arial"/>
              <a:buChar char="■"/>
              <a:defRPr sz="1500" b="1">
                <a:solidFill>
                  <a:srgbClr val="666666"/>
                </a:solidFill>
                <a:latin typeface="Arial"/>
                <a:ea typeface="Arial"/>
                <a:cs typeface="Arial"/>
                <a:sym typeface="Arial"/>
              </a:defRPr>
            </a:lvl6pPr>
            <a:lvl7pPr indent="-323850" lvl="6" marL="3200400" rtl="0" b="1">
              <a:lnSpc>
                <a:spcPct val="150000"/>
              </a:lnSpc>
              <a:spcBef>
                <a:spcPts val="0"/>
              </a:spcBef>
              <a:spcAft>
                <a:spcPts val="0"/>
              </a:spcAft>
              <a:buClr>
                <a:srgbClr val="666666"/>
              </a:buClr>
              <a:buSzPts val="1500"/>
              <a:buFont typeface="Arial"/>
              <a:buChar char="●"/>
              <a:defRPr sz="1500" b="1">
                <a:solidFill>
                  <a:srgbClr val="666666"/>
                </a:solidFill>
                <a:latin typeface="Arial"/>
                <a:ea typeface="Arial"/>
                <a:cs typeface="Arial"/>
                <a:sym typeface="Arial"/>
              </a:defRPr>
            </a:lvl7pPr>
            <a:lvl8pPr indent="-323850" lvl="7" marL="3657600" rtl="0" b="1">
              <a:lnSpc>
                <a:spcPct val="150000"/>
              </a:lnSpc>
              <a:spcBef>
                <a:spcPts val="0"/>
              </a:spcBef>
              <a:spcAft>
                <a:spcPts val="0"/>
              </a:spcAft>
              <a:buClr>
                <a:srgbClr val="666666"/>
              </a:buClr>
              <a:buSzPts val="1500"/>
              <a:buFont typeface="Arial"/>
              <a:buChar char="○"/>
              <a:defRPr sz="1500" b="1">
                <a:solidFill>
                  <a:srgbClr val="666666"/>
                </a:solidFill>
                <a:latin typeface="Arial"/>
                <a:ea typeface="Arial"/>
                <a:cs typeface="Arial"/>
                <a:sym typeface="Arial"/>
              </a:defRPr>
            </a:lvl8pPr>
            <a:lvl9pPr indent="-323850" lvl="8" marL="4114800" rtl="0" b="1">
              <a:lnSpc>
                <a:spcPct val="150000"/>
              </a:lnSpc>
              <a:spcBef>
                <a:spcPts val="0"/>
              </a:spcBef>
              <a:spcAft>
                <a:spcPts val="0"/>
              </a:spcAft>
              <a:buClr>
                <a:srgbClr val="666666"/>
              </a:buClr>
              <a:buSzPts val="1500"/>
              <a:buFont typeface="Arial"/>
              <a:buChar char="■"/>
              <a:defRPr sz="1500" b="1">
                <a:solidFill>
                  <a:srgbClr val="666666"/>
                </a:solidFill>
                <a:latin typeface="Arial"/>
                <a:ea typeface="Arial"/>
                <a:cs typeface="Arial"/>
                <a:sym typeface="Arial"/>
              </a:defRPr>
            </a:lvl9pPr>
          </a:lstStyle>
          <a:p/>
        </p:txBody>
      </p:sp>
      <p:sp>
        <p:nvSpPr>
          <p:cNvPr id="33" name="Google Shape;3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4" name="Google Shape;34;p5"/>
          <p:cNvPicPr preferRelativeResize="0"/>
          <p:nvPr/>
        </p:nvPicPr>
        <p:blipFill rotWithShape="1">
          <a:blip r:embed="rId2">
            <a:alphaModFix/>
          </a:blip>
          <a:srcRect b="0" l="0" r="81735" t="0"/>
          <a:stretch/>
        </p:blipFill>
        <p:spPr>
          <a:xfrm>
            <a:off x="0" y="0"/>
            <a:ext cx="939450" cy="5143500"/>
          </a:xfrm>
          <a:prstGeom prst="rect">
            <a:avLst/>
          </a:prstGeom>
          <a:noFill/>
          <a:ln>
            <a:noFill/>
          </a:ln>
        </p:spPr>
      </p:pic>
      <p:pic>
        <p:nvPicPr>
          <p:cNvPr id="35" name="Google Shape;35;p5"/>
          <p:cNvPicPr preferRelativeResize="0"/>
          <p:nvPr/>
        </p:nvPicPr>
        <p:blipFill rotWithShape="1">
          <a:blip r:embed="rId3">
            <a:alphaModFix/>
          </a:blip>
          <a:srcRect b="45383" l="18895" r="20565" t="9904"/>
          <a:stretch/>
        </p:blipFill>
        <p:spPr>
          <a:xfrm>
            <a:off x="7972425" y="4667250"/>
            <a:ext cx="685800" cy="35433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by-side">
  <p:cSld name="TITLE_AND_BODY_2">
    <p:spTree>
      <p:nvGrpSpPr>
        <p:cNvPr id="36" name="Shape 36"/>
        <p:cNvGrpSpPr/>
        <p:nvPr/>
      </p:nvGrpSpPr>
      <p:grpSpPr>
        <a:xfrm>
          <a:off x="0" y="0"/>
          <a:ext cx="0" cy="0"/>
          <a:chOff x="0" y="0"/>
          <a:chExt cx="0" cy="0"/>
        </a:xfrm>
      </p:grpSpPr>
      <p:sp>
        <p:nvSpPr>
          <p:cNvPr id="37" name="Google Shape;37;p6"/>
          <p:cNvSpPr txBox="1"/>
          <p:nvPr>
            <p:ph type="title"/>
          </p:nvPr>
        </p:nvSpPr>
        <p:spPr>
          <a:xfrm>
            <a:off x="1356975" y="488893"/>
            <a:ext cx="7475400" cy="572700"/>
          </a:xfrm>
          <a:prstGeom prst="rect">
            <a:avLst/>
          </a:prstGeom>
        </p:spPr>
        <p:txBody>
          <a:bodyPr anchorCtr="0" anchor="t" bIns="91425" lIns="91425" spcFirstLastPara="1" rIns="91425" wrap="square" tIns="91425">
            <a:normAutofit/>
          </a:bodyPr>
          <a:lstStyle>
            <a:lvl1pPr lvl="0"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1pPr>
            <a:lvl2pPr lvl="1"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2pPr>
            <a:lvl3pPr lvl="2"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3pPr>
            <a:lvl4pPr lvl="3"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4pPr>
            <a:lvl5pPr lvl="4"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5pPr>
            <a:lvl6pPr lvl="5"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6pPr>
            <a:lvl7pPr lvl="6"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7pPr>
            <a:lvl8pPr lvl="7"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8pPr>
            <a:lvl9pPr lvl="8" rtl="0" b="1">
              <a:spcBef>
                <a:spcPts val="0"/>
              </a:spcBef>
              <a:spcAft>
                <a:spcPts val="0"/>
              </a:spcAft>
              <a:buClr>
                <a:srgbClr val="434343"/>
              </a:buClr>
              <a:buSzPts val="2800"/>
              <a:buFont typeface="Arial"/>
              <a:buNone/>
              <a:defRPr b="1">
                <a:solidFill>
                  <a:srgbClr val="434343"/>
                </a:solidFill>
                <a:latin typeface="Arial"/>
                <a:ea typeface="Arial"/>
                <a:cs typeface="Arial"/>
                <a:sym typeface="Arial"/>
              </a:defRPr>
            </a:lvl9pPr>
          </a:lstStyle>
          <a:p/>
        </p:txBody>
      </p:sp>
      <p:sp>
        <p:nvSpPr>
          <p:cNvPr id="38" name="Google Shape;38;p6"/>
          <p:cNvSpPr txBox="1"/>
          <p:nvPr>
            <p:ph idx="1" type="body"/>
          </p:nvPr>
        </p:nvSpPr>
        <p:spPr>
          <a:xfrm>
            <a:off x="1356900" y="1152475"/>
            <a:ext cx="3513900" cy="3416400"/>
          </a:xfrm>
          <a:prstGeom prst="rect">
            <a:avLst/>
          </a:prstGeom>
        </p:spPr>
        <p:txBody>
          <a:bodyPr anchorCtr="0" anchor="t" bIns="91425" lIns="91425" spcFirstLastPara="1" rIns="91425" wrap="square" tIns="91425">
            <a:normAutofit/>
          </a:bodyPr>
          <a:lstStyle>
            <a:lvl1pPr indent="-342900" lvl="0" marL="457200" rtl="0" b="1">
              <a:lnSpc>
                <a:spcPct val="120000"/>
              </a:lnSpc>
              <a:spcBef>
                <a:spcPts val="0"/>
              </a:spcBef>
              <a:spcAft>
                <a:spcPts val="0"/>
              </a:spcAft>
              <a:buClr>
                <a:srgbClr val="666666"/>
              </a:buClr>
              <a:buSzPts val="1800"/>
              <a:buFont typeface="Arial"/>
              <a:buChar char="●"/>
              <a:defRPr b="1">
                <a:solidFill>
                  <a:srgbClr val="666666"/>
                </a:solidFill>
                <a:latin typeface="Arial"/>
                <a:ea typeface="Arial"/>
                <a:cs typeface="Arial"/>
                <a:sym typeface="Arial"/>
              </a:defRPr>
            </a:lvl1pPr>
            <a:lvl2pPr indent="-317500" lvl="1" marL="914400" rtl="0">
              <a:lnSpc>
                <a:spcPct val="120000"/>
              </a:lnSpc>
              <a:spcBef>
                <a:spcPts val="700"/>
              </a:spcBef>
              <a:spcAft>
                <a:spcPts val="0"/>
              </a:spcAft>
              <a:buClr>
                <a:srgbClr val="666666"/>
              </a:buClr>
              <a:buSzPts val="1400"/>
              <a:buChar char="○"/>
              <a:defRPr>
                <a:solidFill>
                  <a:srgbClr val="666666"/>
                </a:solidFill>
              </a:defRPr>
            </a:lvl2pPr>
            <a:lvl3pPr indent="-317500" lvl="2" marL="1371600" rtl="0">
              <a:lnSpc>
                <a:spcPct val="120000"/>
              </a:lnSpc>
              <a:spcBef>
                <a:spcPts val="700"/>
              </a:spcBef>
              <a:spcAft>
                <a:spcPts val="0"/>
              </a:spcAft>
              <a:buClr>
                <a:srgbClr val="666666"/>
              </a:buClr>
              <a:buSzPts val="1400"/>
              <a:buChar char="■"/>
              <a:defRPr>
                <a:solidFill>
                  <a:srgbClr val="666666"/>
                </a:solidFill>
              </a:defRPr>
            </a:lvl3pPr>
            <a:lvl4pPr indent="-317500" lvl="3" marL="1828800" rtl="0">
              <a:lnSpc>
                <a:spcPct val="120000"/>
              </a:lnSpc>
              <a:spcBef>
                <a:spcPts val="700"/>
              </a:spcBef>
              <a:spcAft>
                <a:spcPts val="0"/>
              </a:spcAft>
              <a:buClr>
                <a:srgbClr val="666666"/>
              </a:buClr>
              <a:buSzPts val="1400"/>
              <a:buChar char="●"/>
              <a:defRPr>
                <a:solidFill>
                  <a:srgbClr val="666666"/>
                </a:solidFill>
              </a:defRPr>
            </a:lvl4pPr>
            <a:lvl5pPr indent="-317500" lvl="4" marL="2286000" rtl="0">
              <a:lnSpc>
                <a:spcPct val="120000"/>
              </a:lnSpc>
              <a:spcBef>
                <a:spcPts val="700"/>
              </a:spcBef>
              <a:spcAft>
                <a:spcPts val="0"/>
              </a:spcAft>
              <a:buClr>
                <a:srgbClr val="666666"/>
              </a:buClr>
              <a:buSzPts val="1400"/>
              <a:buChar char="○"/>
              <a:defRPr>
                <a:solidFill>
                  <a:srgbClr val="666666"/>
                </a:solidFill>
              </a:defRPr>
            </a:lvl5pPr>
            <a:lvl6pPr indent="-317500" lvl="5" marL="2743200" rtl="0">
              <a:lnSpc>
                <a:spcPct val="120000"/>
              </a:lnSpc>
              <a:spcBef>
                <a:spcPts val="700"/>
              </a:spcBef>
              <a:spcAft>
                <a:spcPts val="0"/>
              </a:spcAft>
              <a:buClr>
                <a:srgbClr val="666666"/>
              </a:buClr>
              <a:buSzPts val="1400"/>
              <a:buChar char="■"/>
              <a:defRPr>
                <a:solidFill>
                  <a:srgbClr val="666666"/>
                </a:solidFill>
              </a:defRPr>
            </a:lvl6pPr>
            <a:lvl7pPr indent="-317500" lvl="6" marL="3200400" rtl="0">
              <a:lnSpc>
                <a:spcPct val="120000"/>
              </a:lnSpc>
              <a:spcBef>
                <a:spcPts val="700"/>
              </a:spcBef>
              <a:spcAft>
                <a:spcPts val="0"/>
              </a:spcAft>
              <a:buClr>
                <a:srgbClr val="666666"/>
              </a:buClr>
              <a:buSzPts val="1400"/>
              <a:buChar char="●"/>
              <a:defRPr>
                <a:solidFill>
                  <a:srgbClr val="666666"/>
                </a:solidFill>
              </a:defRPr>
            </a:lvl7pPr>
            <a:lvl8pPr indent="-317500" lvl="7" marL="3657600" rtl="0">
              <a:lnSpc>
                <a:spcPct val="120000"/>
              </a:lnSpc>
              <a:spcBef>
                <a:spcPts val="700"/>
              </a:spcBef>
              <a:spcAft>
                <a:spcPts val="0"/>
              </a:spcAft>
              <a:buClr>
                <a:srgbClr val="666666"/>
              </a:buClr>
              <a:buSzPts val="1400"/>
              <a:buChar char="○"/>
              <a:defRPr>
                <a:solidFill>
                  <a:srgbClr val="666666"/>
                </a:solidFill>
              </a:defRPr>
            </a:lvl8pPr>
            <a:lvl9pPr indent="-317500" lvl="8" marL="4114800" rtl="0">
              <a:lnSpc>
                <a:spcPct val="120000"/>
              </a:lnSpc>
              <a:spcBef>
                <a:spcPts val="700"/>
              </a:spcBef>
              <a:spcAft>
                <a:spcPts val="700"/>
              </a:spcAft>
              <a:buClr>
                <a:srgbClr val="666666"/>
              </a:buClr>
              <a:buSzPts val="1400"/>
              <a:buChar char="■"/>
              <a:defRPr>
                <a:solidFill>
                  <a:srgbClr val="666666"/>
                </a:solidFill>
              </a:defRPr>
            </a:lvl9pPr>
          </a:lstStyle>
          <a:p/>
        </p:txBody>
      </p:sp>
      <p:sp>
        <p:nvSpPr>
          <p:cNvPr id="39" name="Google Shape;3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40" name="Google Shape;40;p6"/>
          <p:cNvPicPr preferRelativeResize="0"/>
          <p:nvPr/>
        </p:nvPicPr>
        <p:blipFill rotWithShape="1">
          <a:blip r:embed="rId2">
            <a:alphaModFix/>
          </a:blip>
          <a:srcRect b="0" l="0" r="81735" t="0"/>
          <a:stretch/>
        </p:blipFill>
        <p:spPr>
          <a:xfrm>
            <a:off x="0" y="0"/>
            <a:ext cx="939450" cy="5143500"/>
          </a:xfrm>
          <a:prstGeom prst="rect">
            <a:avLst/>
          </a:prstGeom>
          <a:noFill/>
          <a:ln>
            <a:noFill/>
          </a:ln>
        </p:spPr>
      </p:pic>
      <p:pic>
        <p:nvPicPr>
          <p:cNvPr id="41" name="Google Shape;41;p6"/>
          <p:cNvPicPr preferRelativeResize="0"/>
          <p:nvPr/>
        </p:nvPicPr>
        <p:blipFill rotWithShape="1">
          <a:blip r:embed="rId3">
            <a:alphaModFix/>
          </a:blip>
          <a:srcRect b="45383" l="18895" r="20565" t="9904"/>
          <a:stretch/>
        </p:blipFill>
        <p:spPr>
          <a:xfrm>
            <a:off x="7972425" y="4667250"/>
            <a:ext cx="685800" cy="354330"/>
          </a:xfrm>
          <a:prstGeom prst="rect">
            <a:avLst/>
          </a:prstGeom>
          <a:noFill/>
          <a:ln>
            <a:noFill/>
          </a:ln>
        </p:spPr>
      </p:pic>
      <p:sp>
        <p:nvSpPr>
          <p:cNvPr id="42" name="Google Shape;42;p6"/>
          <p:cNvSpPr txBox="1"/>
          <p:nvPr>
            <p:ph idx="2" type="subTitle"/>
          </p:nvPr>
        </p:nvSpPr>
        <p:spPr>
          <a:xfrm>
            <a:off x="5279550" y="130400"/>
            <a:ext cx="3741600" cy="4311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rgbClr val="999999"/>
              </a:buClr>
              <a:buSzPts val="1600"/>
              <a:buNone/>
              <a:defRPr sz="1600">
                <a:solidFill>
                  <a:srgbClr val="999999"/>
                </a:solidFill>
              </a:defRPr>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
        <p:nvSpPr>
          <p:cNvPr id="43" name="Google Shape;43;p6"/>
          <p:cNvSpPr txBox="1"/>
          <p:nvPr>
            <p:ph idx="3" type="body"/>
          </p:nvPr>
        </p:nvSpPr>
        <p:spPr>
          <a:xfrm>
            <a:off x="4958550" y="1152475"/>
            <a:ext cx="3513900" cy="3416400"/>
          </a:xfrm>
          <a:prstGeom prst="rect">
            <a:avLst/>
          </a:prstGeom>
        </p:spPr>
        <p:txBody>
          <a:bodyPr anchorCtr="0" anchor="t" bIns="91425" lIns="91425" spcFirstLastPara="1" rIns="91425" wrap="square" tIns="91425">
            <a:normAutofit/>
          </a:bodyPr>
          <a:lstStyle>
            <a:lvl1pPr indent="-342900" lvl="0" marL="457200" rtl="0" b="1">
              <a:lnSpc>
                <a:spcPct val="120000"/>
              </a:lnSpc>
              <a:spcBef>
                <a:spcPts val="0"/>
              </a:spcBef>
              <a:spcAft>
                <a:spcPts val="0"/>
              </a:spcAft>
              <a:buClr>
                <a:srgbClr val="666666"/>
              </a:buClr>
              <a:buSzPts val="1800"/>
              <a:buFont typeface="Arial"/>
              <a:buChar char="●"/>
              <a:defRPr b="1">
                <a:solidFill>
                  <a:srgbClr val="666666"/>
                </a:solidFill>
                <a:latin typeface="Arial"/>
                <a:ea typeface="Arial"/>
                <a:cs typeface="Arial"/>
                <a:sym typeface="Arial"/>
              </a:defRPr>
            </a:lvl1pPr>
            <a:lvl2pPr indent="-317500" lvl="1" marL="914400" rtl="0">
              <a:lnSpc>
                <a:spcPct val="120000"/>
              </a:lnSpc>
              <a:spcBef>
                <a:spcPts val="700"/>
              </a:spcBef>
              <a:spcAft>
                <a:spcPts val="0"/>
              </a:spcAft>
              <a:buClr>
                <a:srgbClr val="666666"/>
              </a:buClr>
              <a:buSzPts val="1400"/>
              <a:buChar char="○"/>
              <a:defRPr>
                <a:solidFill>
                  <a:srgbClr val="666666"/>
                </a:solidFill>
              </a:defRPr>
            </a:lvl2pPr>
            <a:lvl3pPr indent="-317500" lvl="2" marL="1371600" rtl="0">
              <a:lnSpc>
                <a:spcPct val="120000"/>
              </a:lnSpc>
              <a:spcBef>
                <a:spcPts val="700"/>
              </a:spcBef>
              <a:spcAft>
                <a:spcPts val="0"/>
              </a:spcAft>
              <a:buClr>
                <a:srgbClr val="666666"/>
              </a:buClr>
              <a:buSzPts val="1400"/>
              <a:buChar char="■"/>
              <a:defRPr>
                <a:solidFill>
                  <a:srgbClr val="666666"/>
                </a:solidFill>
              </a:defRPr>
            </a:lvl3pPr>
            <a:lvl4pPr indent="-317500" lvl="3" marL="1828800" rtl="0">
              <a:lnSpc>
                <a:spcPct val="120000"/>
              </a:lnSpc>
              <a:spcBef>
                <a:spcPts val="700"/>
              </a:spcBef>
              <a:spcAft>
                <a:spcPts val="0"/>
              </a:spcAft>
              <a:buClr>
                <a:srgbClr val="666666"/>
              </a:buClr>
              <a:buSzPts val="1400"/>
              <a:buChar char="●"/>
              <a:defRPr>
                <a:solidFill>
                  <a:srgbClr val="666666"/>
                </a:solidFill>
              </a:defRPr>
            </a:lvl4pPr>
            <a:lvl5pPr indent="-317500" lvl="4" marL="2286000" rtl="0">
              <a:lnSpc>
                <a:spcPct val="120000"/>
              </a:lnSpc>
              <a:spcBef>
                <a:spcPts val="700"/>
              </a:spcBef>
              <a:spcAft>
                <a:spcPts val="0"/>
              </a:spcAft>
              <a:buClr>
                <a:srgbClr val="666666"/>
              </a:buClr>
              <a:buSzPts val="1400"/>
              <a:buChar char="○"/>
              <a:defRPr>
                <a:solidFill>
                  <a:srgbClr val="666666"/>
                </a:solidFill>
              </a:defRPr>
            </a:lvl5pPr>
            <a:lvl6pPr indent="-317500" lvl="5" marL="2743200" rtl="0">
              <a:lnSpc>
                <a:spcPct val="120000"/>
              </a:lnSpc>
              <a:spcBef>
                <a:spcPts val="700"/>
              </a:spcBef>
              <a:spcAft>
                <a:spcPts val="0"/>
              </a:spcAft>
              <a:buClr>
                <a:srgbClr val="666666"/>
              </a:buClr>
              <a:buSzPts val="1400"/>
              <a:buChar char="■"/>
              <a:defRPr>
                <a:solidFill>
                  <a:srgbClr val="666666"/>
                </a:solidFill>
              </a:defRPr>
            </a:lvl6pPr>
            <a:lvl7pPr indent="-317500" lvl="6" marL="3200400" rtl="0">
              <a:lnSpc>
                <a:spcPct val="120000"/>
              </a:lnSpc>
              <a:spcBef>
                <a:spcPts val="700"/>
              </a:spcBef>
              <a:spcAft>
                <a:spcPts val="0"/>
              </a:spcAft>
              <a:buClr>
                <a:srgbClr val="666666"/>
              </a:buClr>
              <a:buSzPts val="1400"/>
              <a:buChar char="●"/>
              <a:defRPr>
                <a:solidFill>
                  <a:srgbClr val="666666"/>
                </a:solidFill>
              </a:defRPr>
            </a:lvl7pPr>
            <a:lvl8pPr indent="-317500" lvl="7" marL="3657600" rtl="0">
              <a:lnSpc>
                <a:spcPct val="120000"/>
              </a:lnSpc>
              <a:spcBef>
                <a:spcPts val="700"/>
              </a:spcBef>
              <a:spcAft>
                <a:spcPts val="0"/>
              </a:spcAft>
              <a:buClr>
                <a:srgbClr val="666666"/>
              </a:buClr>
              <a:buSzPts val="1400"/>
              <a:buChar char="○"/>
              <a:defRPr>
                <a:solidFill>
                  <a:srgbClr val="666666"/>
                </a:solidFill>
              </a:defRPr>
            </a:lvl8pPr>
            <a:lvl9pPr indent="-317500" lvl="8" marL="4114800" rtl="0">
              <a:lnSpc>
                <a:spcPct val="120000"/>
              </a:lnSpc>
              <a:spcBef>
                <a:spcPts val="700"/>
              </a:spcBef>
              <a:spcAft>
                <a:spcPts val="700"/>
              </a:spcAft>
              <a:buClr>
                <a:srgbClr val="666666"/>
              </a:buClr>
              <a:buSzPts val="1400"/>
              <a:buChar char="■"/>
              <a:defRPr>
                <a:solidFill>
                  <a:srgbClr val="666666"/>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bigger">
  <p:cSld name="TITLE_AND_BODY_1">
    <p:spTree>
      <p:nvGrpSpPr>
        <p:cNvPr id="44" name="Shape 44"/>
        <p:cNvGrpSpPr/>
        <p:nvPr/>
      </p:nvGrpSpPr>
      <p:grpSpPr>
        <a:xfrm>
          <a:off x="0" y="0"/>
          <a:ext cx="0" cy="0"/>
          <a:chOff x="0" y="0"/>
          <a:chExt cx="0" cy="0"/>
        </a:xfrm>
      </p:grpSpPr>
      <p:sp>
        <p:nvSpPr>
          <p:cNvPr id="45" name="Google Shape;45;p7"/>
          <p:cNvSpPr txBox="1"/>
          <p:nvPr>
            <p:ph type="title"/>
          </p:nvPr>
        </p:nvSpPr>
        <p:spPr>
          <a:xfrm>
            <a:off x="782877" y="451659"/>
            <a:ext cx="7475400" cy="572700"/>
          </a:xfrm>
          <a:prstGeom prst="rect">
            <a:avLst/>
          </a:prstGeom>
        </p:spPr>
        <p:txBody>
          <a:bodyPr anchorCtr="0" anchor="t" bIns="91425" lIns="91425" spcFirstLastPara="1" rIns="91425" wrap="square" tIns="91425">
            <a:normAutofit/>
          </a:bodyPr>
          <a:lstStyle>
            <a:lvl1pPr lvl="0" rtl="0" b="1">
              <a:spcBef>
                <a:spcPts val="0"/>
              </a:spcBef>
              <a:spcAft>
                <a:spcPts val="0"/>
              </a:spcAft>
              <a:buClr>
                <a:srgbClr val="434343"/>
              </a:buClr>
              <a:buSzPts val="2600"/>
              <a:buFont typeface="Arial"/>
              <a:buNone/>
              <a:defRPr sz="2600" b="1">
                <a:solidFill>
                  <a:srgbClr val="434343"/>
                </a:solidFill>
                <a:latin typeface="Arial"/>
                <a:ea typeface="Arial"/>
                <a:cs typeface="Arial"/>
                <a:sym typeface="Arial"/>
              </a:defRPr>
            </a:lvl1pPr>
            <a:lvl2pPr lvl="1" rtl="0" b="1">
              <a:spcBef>
                <a:spcPts val="0"/>
              </a:spcBef>
              <a:spcAft>
                <a:spcPts val="0"/>
              </a:spcAft>
              <a:buClr>
                <a:srgbClr val="434343"/>
              </a:buClr>
              <a:buSzPts val="2600"/>
              <a:buFont typeface="Arial"/>
              <a:buNone/>
              <a:defRPr sz="2600" b="1">
                <a:solidFill>
                  <a:srgbClr val="434343"/>
                </a:solidFill>
                <a:latin typeface="Arial"/>
                <a:ea typeface="Arial"/>
                <a:cs typeface="Arial"/>
                <a:sym typeface="Arial"/>
              </a:defRPr>
            </a:lvl2pPr>
            <a:lvl3pPr lvl="2" rtl="0" b="1">
              <a:spcBef>
                <a:spcPts val="0"/>
              </a:spcBef>
              <a:spcAft>
                <a:spcPts val="0"/>
              </a:spcAft>
              <a:buClr>
                <a:srgbClr val="434343"/>
              </a:buClr>
              <a:buSzPts val="2600"/>
              <a:buFont typeface="Arial"/>
              <a:buNone/>
              <a:defRPr sz="2600" b="1">
                <a:solidFill>
                  <a:srgbClr val="434343"/>
                </a:solidFill>
                <a:latin typeface="Arial"/>
                <a:ea typeface="Arial"/>
                <a:cs typeface="Arial"/>
                <a:sym typeface="Arial"/>
              </a:defRPr>
            </a:lvl3pPr>
            <a:lvl4pPr lvl="3" rtl="0" b="1">
              <a:spcBef>
                <a:spcPts val="0"/>
              </a:spcBef>
              <a:spcAft>
                <a:spcPts val="0"/>
              </a:spcAft>
              <a:buClr>
                <a:srgbClr val="434343"/>
              </a:buClr>
              <a:buSzPts val="2600"/>
              <a:buFont typeface="Arial"/>
              <a:buNone/>
              <a:defRPr sz="2600" b="1">
                <a:solidFill>
                  <a:srgbClr val="434343"/>
                </a:solidFill>
                <a:latin typeface="Arial"/>
                <a:ea typeface="Arial"/>
                <a:cs typeface="Arial"/>
                <a:sym typeface="Arial"/>
              </a:defRPr>
            </a:lvl4pPr>
            <a:lvl5pPr lvl="4" rtl="0" b="1">
              <a:spcBef>
                <a:spcPts val="0"/>
              </a:spcBef>
              <a:spcAft>
                <a:spcPts val="0"/>
              </a:spcAft>
              <a:buClr>
                <a:srgbClr val="434343"/>
              </a:buClr>
              <a:buSzPts val="2600"/>
              <a:buFont typeface="Arial"/>
              <a:buNone/>
              <a:defRPr sz="2600" b="1">
                <a:solidFill>
                  <a:srgbClr val="434343"/>
                </a:solidFill>
                <a:latin typeface="Arial"/>
                <a:ea typeface="Arial"/>
                <a:cs typeface="Arial"/>
                <a:sym typeface="Arial"/>
              </a:defRPr>
            </a:lvl5pPr>
            <a:lvl6pPr lvl="5" rtl="0" b="1">
              <a:spcBef>
                <a:spcPts val="0"/>
              </a:spcBef>
              <a:spcAft>
                <a:spcPts val="0"/>
              </a:spcAft>
              <a:buClr>
                <a:srgbClr val="434343"/>
              </a:buClr>
              <a:buSzPts val="2600"/>
              <a:buFont typeface="Arial"/>
              <a:buNone/>
              <a:defRPr sz="2600" b="1">
                <a:solidFill>
                  <a:srgbClr val="434343"/>
                </a:solidFill>
                <a:latin typeface="Arial"/>
                <a:ea typeface="Arial"/>
                <a:cs typeface="Arial"/>
                <a:sym typeface="Arial"/>
              </a:defRPr>
            </a:lvl6pPr>
            <a:lvl7pPr lvl="6" rtl="0" b="1">
              <a:spcBef>
                <a:spcPts val="0"/>
              </a:spcBef>
              <a:spcAft>
                <a:spcPts val="0"/>
              </a:spcAft>
              <a:buClr>
                <a:srgbClr val="434343"/>
              </a:buClr>
              <a:buSzPts val="2600"/>
              <a:buFont typeface="Arial"/>
              <a:buNone/>
              <a:defRPr sz="2600" b="1">
                <a:solidFill>
                  <a:srgbClr val="434343"/>
                </a:solidFill>
                <a:latin typeface="Arial"/>
                <a:ea typeface="Arial"/>
                <a:cs typeface="Arial"/>
                <a:sym typeface="Arial"/>
              </a:defRPr>
            </a:lvl7pPr>
            <a:lvl8pPr lvl="7" rtl="0" b="1">
              <a:spcBef>
                <a:spcPts val="0"/>
              </a:spcBef>
              <a:spcAft>
                <a:spcPts val="0"/>
              </a:spcAft>
              <a:buClr>
                <a:srgbClr val="434343"/>
              </a:buClr>
              <a:buSzPts val="2600"/>
              <a:buFont typeface="Arial"/>
              <a:buNone/>
              <a:defRPr sz="2600" b="1">
                <a:solidFill>
                  <a:srgbClr val="434343"/>
                </a:solidFill>
                <a:latin typeface="Arial"/>
                <a:ea typeface="Arial"/>
                <a:cs typeface="Arial"/>
                <a:sym typeface="Arial"/>
              </a:defRPr>
            </a:lvl8pPr>
            <a:lvl9pPr lvl="8" rtl="0" b="1">
              <a:spcBef>
                <a:spcPts val="0"/>
              </a:spcBef>
              <a:spcAft>
                <a:spcPts val="0"/>
              </a:spcAft>
              <a:buClr>
                <a:srgbClr val="434343"/>
              </a:buClr>
              <a:buSzPts val="2600"/>
              <a:buFont typeface="Arial"/>
              <a:buNone/>
              <a:defRPr sz="2600" b="1">
                <a:solidFill>
                  <a:srgbClr val="434343"/>
                </a:solidFill>
                <a:latin typeface="Arial"/>
                <a:ea typeface="Arial"/>
                <a:cs typeface="Arial"/>
                <a:sym typeface="Arial"/>
              </a:defRPr>
            </a:lvl9pPr>
          </a:lstStyle>
          <a:p/>
        </p:txBody>
      </p:sp>
      <p:sp>
        <p:nvSpPr>
          <p:cNvPr id="46" name="Google Shape;46;p7"/>
          <p:cNvSpPr txBox="1"/>
          <p:nvPr>
            <p:ph idx="1" type="body"/>
          </p:nvPr>
        </p:nvSpPr>
        <p:spPr>
          <a:xfrm>
            <a:off x="782875" y="1061600"/>
            <a:ext cx="7958700" cy="3601500"/>
          </a:xfrm>
          <a:prstGeom prst="rect">
            <a:avLst/>
          </a:prstGeom>
        </p:spPr>
        <p:txBody>
          <a:bodyPr anchorCtr="0" anchor="t" bIns="91425" lIns="91425" spcFirstLastPara="1" rIns="91425" wrap="square" tIns="91425">
            <a:normAutofit/>
          </a:bodyPr>
          <a:lstStyle>
            <a:lvl1pPr indent="-342900" lvl="0" marL="457200" rtl="0" b="1">
              <a:lnSpc>
                <a:spcPct val="120000"/>
              </a:lnSpc>
              <a:spcBef>
                <a:spcPts val="0"/>
              </a:spcBef>
              <a:spcAft>
                <a:spcPts val="0"/>
              </a:spcAft>
              <a:buClr>
                <a:srgbClr val="666666"/>
              </a:buClr>
              <a:buSzPts val="1800"/>
              <a:buFont typeface="Arial"/>
              <a:buChar char="●"/>
              <a:defRPr b="1">
                <a:solidFill>
                  <a:srgbClr val="666666"/>
                </a:solidFill>
                <a:latin typeface="Arial"/>
                <a:ea typeface="Arial"/>
                <a:cs typeface="Arial"/>
                <a:sym typeface="Arial"/>
              </a:defRPr>
            </a:lvl1pPr>
            <a:lvl2pPr indent="-317500" lvl="1" marL="914400" rtl="0">
              <a:lnSpc>
                <a:spcPct val="120000"/>
              </a:lnSpc>
              <a:spcBef>
                <a:spcPts val="700"/>
              </a:spcBef>
              <a:spcAft>
                <a:spcPts val="0"/>
              </a:spcAft>
              <a:buClr>
                <a:srgbClr val="666666"/>
              </a:buClr>
              <a:buSzPts val="1400"/>
              <a:buChar char="○"/>
              <a:defRPr>
                <a:solidFill>
                  <a:srgbClr val="666666"/>
                </a:solidFill>
              </a:defRPr>
            </a:lvl2pPr>
            <a:lvl3pPr indent="-317500" lvl="2" marL="1371600" rtl="0">
              <a:lnSpc>
                <a:spcPct val="120000"/>
              </a:lnSpc>
              <a:spcBef>
                <a:spcPts val="700"/>
              </a:spcBef>
              <a:spcAft>
                <a:spcPts val="0"/>
              </a:spcAft>
              <a:buClr>
                <a:srgbClr val="666666"/>
              </a:buClr>
              <a:buSzPts val="1400"/>
              <a:buChar char="■"/>
              <a:defRPr>
                <a:solidFill>
                  <a:srgbClr val="666666"/>
                </a:solidFill>
              </a:defRPr>
            </a:lvl3pPr>
            <a:lvl4pPr indent="-317500" lvl="3" marL="1828800" rtl="0">
              <a:lnSpc>
                <a:spcPct val="120000"/>
              </a:lnSpc>
              <a:spcBef>
                <a:spcPts val="700"/>
              </a:spcBef>
              <a:spcAft>
                <a:spcPts val="0"/>
              </a:spcAft>
              <a:buClr>
                <a:srgbClr val="666666"/>
              </a:buClr>
              <a:buSzPts val="1400"/>
              <a:buChar char="●"/>
              <a:defRPr>
                <a:solidFill>
                  <a:srgbClr val="666666"/>
                </a:solidFill>
              </a:defRPr>
            </a:lvl4pPr>
            <a:lvl5pPr indent="-317500" lvl="4" marL="2286000" rtl="0">
              <a:lnSpc>
                <a:spcPct val="120000"/>
              </a:lnSpc>
              <a:spcBef>
                <a:spcPts val="700"/>
              </a:spcBef>
              <a:spcAft>
                <a:spcPts val="0"/>
              </a:spcAft>
              <a:buClr>
                <a:srgbClr val="666666"/>
              </a:buClr>
              <a:buSzPts val="1400"/>
              <a:buChar char="○"/>
              <a:defRPr>
                <a:solidFill>
                  <a:srgbClr val="666666"/>
                </a:solidFill>
              </a:defRPr>
            </a:lvl5pPr>
            <a:lvl6pPr indent="-317500" lvl="5" marL="2743200" rtl="0">
              <a:lnSpc>
                <a:spcPct val="120000"/>
              </a:lnSpc>
              <a:spcBef>
                <a:spcPts val="700"/>
              </a:spcBef>
              <a:spcAft>
                <a:spcPts val="0"/>
              </a:spcAft>
              <a:buClr>
                <a:srgbClr val="666666"/>
              </a:buClr>
              <a:buSzPts val="1400"/>
              <a:buChar char="■"/>
              <a:defRPr>
                <a:solidFill>
                  <a:srgbClr val="666666"/>
                </a:solidFill>
              </a:defRPr>
            </a:lvl6pPr>
            <a:lvl7pPr indent="-317500" lvl="6" marL="3200400" rtl="0">
              <a:lnSpc>
                <a:spcPct val="120000"/>
              </a:lnSpc>
              <a:spcBef>
                <a:spcPts val="700"/>
              </a:spcBef>
              <a:spcAft>
                <a:spcPts val="0"/>
              </a:spcAft>
              <a:buClr>
                <a:srgbClr val="666666"/>
              </a:buClr>
              <a:buSzPts val="1400"/>
              <a:buChar char="●"/>
              <a:defRPr>
                <a:solidFill>
                  <a:srgbClr val="666666"/>
                </a:solidFill>
              </a:defRPr>
            </a:lvl7pPr>
            <a:lvl8pPr indent="-317500" lvl="7" marL="3657600" rtl="0">
              <a:lnSpc>
                <a:spcPct val="120000"/>
              </a:lnSpc>
              <a:spcBef>
                <a:spcPts val="700"/>
              </a:spcBef>
              <a:spcAft>
                <a:spcPts val="0"/>
              </a:spcAft>
              <a:buClr>
                <a:srgbClr val="666666"/>
              </a:buClr>
              <a:buSzPts val="1400"/>
              <a:buChar char="○"/>
              <a:defRPr>
                <a:solidFill>
                  <a:srgbClr val="666666"/>
                </a:solidFill>
              </a:defRPr>
            </a:lvl8pPr>
            <a:lvl9pPr indent="-317500" lvl="8" marL="4114800" rtl="0">
              <a:lnSpc>
                <a:spcPct val="120000"/>
              </a:lnSpc>
              <a:spcBef>
                <a:spcPts val="700"/>
              </a:spcBef>
              <a:spcAft>
                <a:spcPts val="700"/>
              </a:spcAft>
              <a:buClr>
                <a:srgbClr val="666666"/>
              </a:buClr>
              <a:buSzPts val="1400"/>
              <a:buChar char="■"/>
              <a:defRPr>
                <a:solidFill>
                  <a:srgbClr val="666666"/>
                </a:solidFill>
              </a:defRPr>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48" name="Google Shape;48;p7"/>
          <p:cNvPicPr preferRelativeResize="0"/>
          <p:nvPr/>
        </p:nvPicPr>
        <p:blipFill rotWithShape="1">
          <a:blip r:embed="rId2">
            <a:alphaModFix/>
          </a:blip>
          <a:srcRect b="45383" l="18895" r="20565" t="9904"/>
          <a:stretch/>
        </p:blipFill>
        <p:spPr>
          <a:xfrm>
            <a:off x="7972425" y="4667250"/>
            <a:ext cx="685800" cy="354330"/>
          </a:xfrm>
          <a:prstGeom prst="rect">
            <a:avLst/>
          </a:prstGeom>
          <a:noFill/>
          <a:ln>
            <a:noFill/>
          </a:ln>
        </p:spPr>
      </p:pic>
      <p:sp>
        <p:nvSpPr>
          <p:cNvPr id="49" name="Google Shape;49;p7"/>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50" name="Google Shape;50;p7"/>
          <p:cNvPicPr preferRelativeResize="0"/>
          <p:nvPr/>
        </p:nvPicPr>
        <p:blipFill rotWithShape="1">
          <a:blip r:embed="rId3">
            <a:alphaModFix/>
          </a:blip>
          <a:srcRect b="0" l="0" r="90951" t="0"/>
          <a:stretch/>
        </p:blipFill>
        <p:spPr>
          <a:xfrm>
            <a:off x="0" y="0"/>
            <a:ext cx="465425" cy="5143500"/>
          </a:xfrm>
          <a:prstGeom prst="rect">
            <a:avLst/>
          </a:prstGeom>
          <a:noFill/>
          <a:ln>
            <a:noFill/>
          </a:ln>
        </p:spPr>
      </p:pic>
      <p:sp>
        <p:nvSpPr>
          <p:cNvPr id="51" name="Google Shape;51;p7"/>
          <p:cNvSpPr txBox="1"/>
          <p:nvPr>
            <p:ph idx="3" type="subTitle"/>
          </p:nvPr>
        </p:nvSpPr>
        <p:spPr>
          <a:xfrm>
            <a:off x="5279550" y="130400"/>
            <a:ext cx="3741600" cy="4311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rgbClr val="999999"/>
              </a:buClr>
              <a:buSzPts val="1600"/>
              <a:buNone/>
              <a:defRPr sz="1600">
                <a:solidFill>
                  <a:srgbClr val="999999"/>
                </a:solidFill>
              </a:defRPr>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54" name="Google Shape;54;p8"/>
          <p:cNvPicPr preferRelativeResize="0"/>
          <p:nvPr/>
        </p:nvPicPr>
        <p:blipFill rotWithShape="1">
          <a:blip r:embed="rId2">
            <a:alphaModFix/>
          </a:blip>
          <a:srcRect b="45383" l="18895" r="20565" t="9904"/>
          <a:stretch/>
        </p:blipFill>
        <p:spPr>
          <a:xfrm>
            <a:off x="7972425" y="4667250"/>
            <a:ext cx="685800" cy="354330"/>
          </a:xfrm>
          <a:prstGeom prst="rect">
            <a:avLst/>
          </a:prstGeom>
          <a:noFill/>
          <a:ln>
            <a:noFill/>
          </a:ln>
        </p:spPr>
      </p:pic>
      <p:pic>
        <p:nvPicPr>
          <p:cNvPr id="55" name="Google Shape;55;p8"/>
          <p:cNvPicPr preferRelativeResize="0"/>
          <p:nvPr/>
        </p:nvPicPr>
        <p:blipFill rotWithShape="1">
          <a:blip r:embed="rId3">
            <a:alphaModFix/>
          </a:blip>
          <a:srcRect b="0" l="0" r="81735" t="0"/>
          <a:stretch/>
        </p:blipFill>
        <p:spPr>
          <a:xfrm>
            <a:off x="0" y="0"/>
            <a:ext cx="939450" cy="5143500"/>
          </a:xfrm>
          <a:prstGeom prst="rect">
            <a:avLst/>
          </a:prstGeom>
          <a:noFill/>
          <a:ln>
            <a:noFill/>
          </a:ln>
        </p:spPr>
      </p:pic>
      <p:sp>
        <p:nvSpPr>
          <p:cNvPr id="56" name="Google Shape;56;p8"/>
          <p:cNvSpPr txBox="1"/>
          <p:nvPr>
            <p:ph idx="1" type="subTitle"/>
          </p:nvPr>
        </p:nvSpPr>
        <p:spPr>
          <a:xfrm>
            <a:off x="5279550" y="130400"/>
            <a:ext cx="3741600" cy="4311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rgbClr val="999999"/>
              </a:buClr>
              <a:buSzPts val="1600"/>
              <a:buNone/>
              <a:defRPr sz="1600">
                <a:solidFill>
                  <a:srgbClr val="999999"/>
                </a:solidFill>
              </a:defRPr>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TITLE_1">
    <p:spTree>
      <p:nvGrpSpPr>
        <p:cNvPr id="57" name="Shape 57"/>
        <p:cNvGrpSpPr/>
        <p:nvPr/>
      </p:nvGrpSpPr>
      <p:grpSpPr>
        <a:xfrm>
          <a:off x="0" y="0"/>
          <a:ext cx="0" cy="0"/>
          <a:chOff x="0" y="0"/>
          <a:chExt cx="0" cy="0"/>
        </a:xfrm>
      </p:grpSpPr>
      <p:sp>
        <p:nvSpPr>
          <p:cNvPr id="58" name="Google Shape;58;p9"/>
          <p:cNvSpPr txBox="1"/>
          <p:nvPr>
            <p:ph type="ctrTitle"/>
          </p:nvPr>
        </p:nvSpPr>
        <p:spPr>
          <a:xfrm>
            <a:off x="2674150" y="645925"/>
            <a:ext cx="5798400" cy="1361100"/>
          </a:xfrm>
          <a:prstGeom prst="rect">
            <a:avLst/>
          </a:prstGeom>
        </p:spPr>
        <p:txBody>
          <a:bodyPr anchorCtr="0" anchor="b" bIns="91425" lIns="91425" spcFirstLastPara="1" rIns="91425" wrap="square" tIns="91425">
            <a:normAutofit/>
          </a:bodyPr>
          <a:lstStyle>
            <a:lvl1pPr lvl="0" rtl="0">
              <a:spcBef>
                <a:spcPts val="0"/>
              </a:spcBef>
              <a:spcAft>
                <a:spcPts val="0"/>
              </a:spcAft>
              <a:buClr>
                <a:srgbClr val="585959"/>
              </a:buClr>
              <a:buSzPts val="3400"/>
              <a:buNone/>
              <a:defRPr b="1" sz="3400">
                <a:solidFill>
                  <a:srgbClr val="585959"/>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59" name="Google Shape;59;p9"/>
          <p:cNvSpPr txBox="1"/>
          <p:nvPr>
            <p:ph idx="1" type="subTitle"/>
          </p:nvPr>
        </p:nvSpPr>
        <p:spPr>
          <a:xfrm>
            <a:off x="2674150" y="2007025"/>
            <a:ext cx="3741600" cy="15180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585959"/>
              </a:buClr>
              <a:buSzPts val="1700"/>
              <a:buNone/>
              <a:defRPr sz="1700">
                <a:solidFill>
                  <a:srgbClr val="585959"/>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0" name="Google Shape;6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61" name="Google Shape;61;p9"/>
          <p:cNvPicPr preferRelativeResize="0"/>
          <p:nvPr/>
        </p:nvPicPr>
        <p:blipFill rotWithShape="1">
          <a:blip r:embed="rId2">
            <a:alphaModFix/>
          </a:blip>
          <a:srcRect b="0" l="0" r="57636" t="0"/>
          <a:stretch/>
        </p:blipFill>
        <p:spPr>
          <a:xfrm>
            <a:off x="0" y="0"/>
            <a:ext cx="2179000" cy="5143500"/>
          </a:xfrm>
          <a:prstGeom prst="rect">
            <a:avLst/>
          </a:prstGeom>
          <a:noFill/>
          <a:ln>
            <a:noFill/>
          </a:ln>
        </p:spPr>
      </p:pic>
      <p:pic>
        <p:nvPicPr>
          <p:cNvPr id="62" name="Google Shape;62;p9"/>
          <p:cNvPicPr preferRelativeResize="0"/>
          <p:nvPr/>
        </p:nvPicPr>
        <p:blipFill>
          <a:blip r:embed="rId3">
            <a:alphaModFix/>
          </a:blip>
          <a:stretch>
            <a:fillRect/>
          </a:stretch>
        </p:blipFill>
        <p:spPr>
          <a:xfrm>
            <a:off x="302375" y="3613150"/>
            <a:ext cx="1574262" cy="999925"/>
          </a:xfrm>
          <a:prstGeom prst="rect">
            <a:avLst/>
          </a:prstGeom>
          <a:noFill/>
          <a:ln>
            <a:noFill/>
          </a:ln>
        </p:spPr>
      </p:pic>
      <p:pic>
        <p:nvPicPr>
          <p:cNvPr id="63" name="Google Shape;63;p9"/>
          <p:cNvPicPr preferRelativeResize="0"/>
          <p:nvPr/>
        </p:nvPicPr>
        <p:blipFill>
          <a:blip r:embed="rId4">
            <a:alphaModFix/>
          </a:blip>
          <a:srcRect l="435" t="12727" r="435" b="12727"/>
          <a:stretch>
            <a:fillRect/>
          </a:stretch>
        </p:blipFill>
        <p:spPr>
          <a:xfrm>
            <a:off x="2762250" y="3838575"/>
            <a:ext cx="1143000" cy="822158"/>
          </a:xfrm>
          <a:prstGeom prst="rect">
            <a:avLst/>
          </a:prstGeom>
          <a:noFill/>
          <a:ln>
            <a:noFill/>
          </a:ln>
        </p:spPr>
      </p:pic>
      <p:pic>
        <p:nvPicPr>
          <p:cNvPr id="64" name="Google Shape;64;p9"/>
          <p:cNvPicPr preferRelativeResize="0"/>
          <p:nvPr/>
        </p:nvPicPr>
        <p:blipFill rotWithShape="1">
          <a:blip r:embed="rId5">
            <a:alphaModFix/>
          </a:blip>
          <a:srcRect b="45383" l="18895" r="20565" t="9904"/>
          <a:stretch/>
        </p:blipFill>
        <p:spPr>
          <a:xfrm>
            <a:off x="7924800" y="238125"/>
            <a:ext cx="762000" cy="39338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1pPr>
            <a:lvl2pPr lvl="1">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2pPr>
            <a:lvl3pPr lvl="2">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3pPr>
            <a:lvl4pPr lvl="3">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4pPr>
            <a:lvl5pPr lvl="4">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5pPr>
            <a:lvl6pPr lvl="5">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6pPr>
            <a:lvl7pPr lvl="6">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7pPr>
            <a:lvl8pPr lvl="7">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8pPr>
            <a:lvl9pPr lvl="8">
              <a:spcBef>
                <a:spcPts val="0"/>
              </a:spcBef>
              <a:spcAft>
                <a:spcPts val="0"/>
              </a:spcAft>
              <a:buClr>
                <a:schemeClr val="dk1"/>
              </a:buClr>
              <a:buSzPts val="2800"/>
              <a:buFont typeface="Arial"/>
              <a:buNone/>
              <a:defRPr sz="2800">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20000"/>
              </a:lnSpc>
              <a:spcBef>
                <a:spcPts val="0"/>
              </a:spcBef>
              <a:spcAft>
                <a:spcPts val="0"/>
              </a:spcAft>
              <a:buClr>
                <a:schemeClr val="dk2"/>
              </a:buClr>
              <a:buSzPts val="1800"/>
              <a:buFont typeface="Arial"/>
              <a:buChar char="●"/>
              <a:defRPr sz="1800">
                <a:solidFill>
                  <a:schemeClr val="dk2"/>
                </a:solidFill>
                <a:latin typeface="Arial"/>
                <a:ea typeface="Arial"/>
                <a:cs typeface="Arial"/>
                <a:sym typeface="Arial"/>
              </a:defRPr>
            </a:lvl1pPr>
            <a:lvl2pPr indent="-317500" lvl="1" marL="914400">
              <a:lnSpc>
                <a:spcPct val="120000"/>
              </a:lnSpc>
              <a:spcBef>
                <a:spcPts val="700"/>
              </a:spcBef>
              <a:spcAft>
                <a:spcPts val="0"/>
              </a:spcAft>
              <a:buClr>
                <a:schemeClr val="dk2"/>
              </a:buClr>
              <a:buSzPts val="1400"/>
              <a:buFont typeface="Arial"/>
              <a:buChar char="○"/>
              <a:defRPr>
                <a:solidFill>
                  <a:schemeClr val="dk2"/>
                </a:solidFill>
                <a:latin typeface="Arial"/>
                <a:ea typeface="Arial"/>
                <a:cs typeface="Arial"/>
                <a:sym typeface="Arial"/>
              </a:defRPr>
            </a:lvl2pPr>
            <a:lvl3pPr indent="-317500" lvl="2" marL="1371600">
              <a:lnSpc>
                <a:spcPct val="120000"/>
              </a:lnSpc>
              <a:spcBef>
                <a:spcPts val="700"/>
              </a:spcBef>
              <a:spcAft>
                <a:spcPts val="0"/>
              </a:spcAft>
              <a:buClr>
                <a:schemeClr val="dk2"/>
              </a:buClr>
              <a:buSzPts val="1400"/>
              <a:buFont typeface="Arial"/>
              <a:buChar char="■"/>
              <a:defRPr>
                <a:solidFill>
                  <a:schemeClr val="dk2"/>
                </a:solidFill>
                <a:latin typeface="Arial"/>
                <a:ea typeface="Arial"/>
                <a:cs typeface="Arial"/>
                <a:sym typeface="Arial"/>
              </a:defRPr>
            </a:lvl3pPr>
            <a:lvl4pPr indent="-317500" lvl="3" marL="1828800">
              <a:lnSpc>
                <a:spcPct val="120000"/>
              </a:lnSpc>
              <a:spcBef>
                <a:spcPts val="700"/>
              </a:spcBef>
              <a:spcAft>
                <a:spcPts val="0"/>
              </a:spcAft>
              <a:buClr>
                <a:schemeClr val="dk2"/>
              </a:buClr>
              <a:buSzPts val="1400"/>
              <a:buFont typeface="Arial"/>
              <a:buChar char="●"/>
              <a:defRPr>
                <a:solidFill>
                  <a:schemeClr val="dk2"/>
                </a:solidFill>
                <a:latin typeface="Arial"/>
                <a:ea typeface="Arial"/>
                <a:cs typeface="Arial"/>
                <a:sym typeface="Arial"/>
              </a:defRPr>
            </a:lvl4pPr>
            <a:lvl5pPr indent="-317500" lvl="4" marL="2286000">
              <a:lnSpc>
                <a:spcPct val="120000"/>
              </a:lnSpc>
              <a:spcBef>
                <a:spcPts val="700"/>
              </a:spcBef>
              <a:spcAft>
                <a:spcPts val="0"/>
              </a:spcAft>
              <a:buClr>
                <a:schemeClr val="dk2"/>
              </a:buClr>
              <a:buSzPts val="1400"/>
              <a:buFont typeface="Arial"/>
              <a:buChar char="○"/>
              <a:defRPr>
                <a:solidFill>
                  <a:schemeClr val="dk2"/>
                </a:solidFill>
                <a:latin typeface="Arial"/>
                <a:ea typeface="Arial"/>
                <a:cs typeface="Arial"/>
                <a:sym typeface="Arial"/>
              </a:defRPr>
            </a:lvl5pPr>
            <a:lvl6pPr indent="-317500" lvl="5" marL="2743200">
              <a:lnSpc>
                <a:spcPct val="120000"/>
              </a:lnSpc>
              <a:spcBef>
                <a:spcPts val="700"/>
              </a:spcBef>
              <a:spcAft>
                <a:spcPts val="0"/>
              </a:spcAft>
              <a:buClr>
                <a:schemeClr val="dk2"/>
              </a:buClr>
              <a:buSzPts val="1400"/>
              <a:buFont typeface="Arial"/>
              <a:buChar char="■"/>
              <a:defRPr>
                <a:solidFill>
                  <a:schemeClr val="dk2"/>
                </a:solidFill>
                <a:latin typeface="Arial"/>
                <a:ea typeface="Arial"/>
                <a:cs typeface="Arial"/>
                <a:sym typeface="Arial"/>
              </a:defRPr>
            </a:lvl6pPr>
            <a:lvl7pPr indent="-317500" lvl="6" marL="3200400">
              <a:lnSpc>
                <a:spcPct val="120000"/>
              </a:lnSpc>
              <a:spcBef>
                <a:spcPts val="700"/>
              </a:spcBef>
              <a:spcAft>
                <a:spcPts val="0"/>
              </a:spcAft>
              <a:buClr>
                <a:schemeClr val="dk2"/>
              </a:buClr>
              <a:buSzPts val="1400"/>
              <a:buFont typeface="Arial"/>
              <a:buChar char="●"/>
              <a:defRPr>
                <a:solidFill>
                  <a:schemeClr val="dk2"/>
                </a:solidFill>
                <a:latin typeface="Arial"/>
                <a:ea typeface="Arial"/>
                <a:cs typeface="Arial"/>
                <a:sym typeface="Arial"/>
              </a:defRPr>
            </a:lvl7pPr>
            <a:lvl8pPr indent="-317500" lvl="7" marL="3657600">
              <a:lnSpc>
                <a:spcPct val="120000"/>
              </a:lnSpc>
              <a:spcBef>
                <a:spcPts val="700"/>
              </a:spcBef>
              <a:spcAft>
                <a:spcPts val="0"/>
              </a:spcAft>
              <a:buClr>
                <a:schemeClr val="dk2"/>
              </a:buClr>
              <a:buSzPts val="1400"/>
              <a:buFont typeface="Arial"/>
              <a:buChar char="○"/>
              <a:defRPr>
                <a:solidFill>
                  <a:schemeClr val="dk2"/>
                </a:solidFill>
                <a:latin typeface="Arial"/>
                <a:ea typeface="Arial"/>
                <a:cs typeface="Arial"/>
                <a:sym typeface="Arial"/>
              </a:defRPr>
            </a:lvl8pPr>
            <a:lvl9pPr indent="-317500" lvl="8" marL="4114800">
              <a:lnSpc>
                <a:spcPct val="120000"/>
              </a:lnSpc>
              <a:spcBef>
                <a:spcPts val="700"/>
              </a:spcBef>
              <a:spcAft>
                <a:spcPts val="700"/>
              </a:spcAft>
              <a:buClr>
                <a:schemeClr val="dk2"/>
              </a:buClr>
              <a:buSzPts val="1400"/>
              <a:buFont typeface="Arial"/>
              <a:buChar char="■"/>
              <a:defRPr>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1.wav"/><Relationship Id="rId3" Type="http://schemas.openxmlformats.org/officeDocument/2006/relationships/audio" Target="../media/media1.wav"/><Relationship Id="rId4" Type="http://schemas.openxmlformats.org/officeDocument/2006/relationships/image" Target="../media/image7.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2.wav"/><Relationship Id="rId3" Type="http://schemas.openxmlformats.org/officeDocument/2006/relationships/audio" Target="../media/media2.wav"/><Relationship Id="rId4" Type="http://schemas.openxmlformats.org/officeDocument/2006/relationships/image" Target="../media/image8.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3.wav"/><Relationship Id="rId3" Type="http://schemas.openxmlformats.org/officeDocument/2006/relationships/audio" Target="../media/media3.wav"/><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4.wav"/><Relationship Id="rId3" Type="http://schemas.openxmlformats.org/officeDocument/2006/relationships/audio" Target="../media/media4.wav"/><Relationship Id="rId4" Type="http://schemas.openxmlformats.org/officeDocument/2006/relationships/image" Target="../media/image8.png"/><Relationship Id="rId5" Type="http://schemas.microsoft.com/office/2007/relationships/media" Target="../media/media5.wav"/><Relationship Id="rId6" Type="http://schemas.openxmlformats.org/officeDocument/2006/relationships/audio" Target="../media/media5.wav"/><Relationship Id="rId7" Type="http://schemas.microsoft.com/office/2007/relationships/media" Target="../media/media6.wav"/><Relationship Id="rId8" Type="http://schemas.openxmlformats.org/officeDocument/2006/relationships/audio" Target="../media/media6.wav"/><Relationship Id="rId9" Type="http://schemas.microsoft.com/office/2007/relationships/media" Target="../media/media7.wav"/><Relationship Id="rId10" Type="http://schemas.openxmlformats.org/officeDocument/2006/relationships/audio" Target="../media/media7.wav"/><Relationship Id="rId11" Type="http://schemas.microsoft.com/office/2007/relationships/media" Target="../media/media8.wav"/><Relationship Id="rId12" Type="http://schemas.openxmlformats.org/officeDocument/2006/relationships/audio" Target="../media/media8.wav"/><Relationship Id="rId13" Type="http://schemas.microsoft.com/office/2007/relationships/media" Target="../media/media9.wav"/><Relationship Id="rId14" Type="http://schemas.openxmlformats.org/officeDocument/2006/relationships/audio" Target="../media/media9.wav"/><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bagpipertts.github.io/bagpiper_tts_demo/"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bagpipertts.github.io/bagpiper_tts_demo/" TargetMode="Externa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17.xml"/><Relationship Type="http://schemas.openxmlformats.org/officeDocument/2006/relationships/hyperlink" Target="https://github.com/whr-a/bagpiper_tts_demo/raw/refs/heads/slides-interspeech2026/slides/Bagpiper-TTS_Interspeech2026.pptx" TargetMode="External" Id="rId7"/><Relationship Type="http://schemas.openxmlformats.org/officeDocument/2006/relationships/hyperlink" Target="https://bagpipertts.github.io/bagpiper_tts_demo/" TargetMode="External" Id="rId8"/><Relationship Type="http://schemas.openxmlformats.org/officeDocument/2006/relationships/hyperlink" Target="https://huggingface.co/espnet/bagpiper-tts-sft" TargetMode="External" Id="rId9"/></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2762250" y="952500"/>
            <a:ext cx="6000750" cy="1209675"/>
          </a:xfrm>
        </p:spPr>
        <p:txBody>
          <a:bodyPr anchor="t" lIns="0" rIns="0" tIns="0" bIns="0">
            <a:noAutofit/>
          </a:bodyPr>
          <a:lstStyle/>
          <a:p>
            <a:r>
              <a:rPr sz="4000" lang="en-US"/>
              <a:t>Bagpiper-TTS</a:t>
            </a:r>
          </a:p>
          <a:p>
            <a:pPr>
              <a:lnSpc>
                <a:spcPct val="95000"/>
              </a:lnSpc>
              <a:spcBef>
                <a:spcPts val="400"/>
              </a:spcBef>
            </a:pPr>
            <a:r>
              <a:rPr sz="2000" b="0" lang="en-US">
                <a:solidFill>
                  <a:srgbClr val="666666"/>
                </a:solidFill>
                <a:latin typeface="Arial"/>
              </a:rPr>
              <a:t>Natural Language Guided</a:t>
            </a:r>
          </a:p>
          <a:p>
            <a:pPr>
              <a:lnSpc>
                <a:spcPct val="95000"/>
              </a:lnSpc>
            </a:pPr>
            <a:r>
              <a:rPr sz="2000" b="0" lang="en-US">
                <a:solidFill>
                  <a:srgbClr val="666666"/>
                </a:solidFill>
                <a:latin typeface="Arial"/>
              </a:rPr>
              <a:t>Universal Speech Synthesis</a:t>
            </a:r>
          </a:p>
        </p:txBody>
      </p:sp>
      <p:sp>
        <p:nvSpPr>
          <p:cNvPr id="3" name="Subtitle 2"/>
          <p:cNvSpPr>
            <a:spLocks noGrp="1"/>
          </p:cNvSpPr>
          <p:nvPr>
            <p:ph type="subTitle" idx="1"/>
          </p:nvPr>
        </p:nvSpPr>
        <p:spPr>
          <a:xfrm>
            <a:off x="2762250" y="2419350"/>
            <a:ext cx="6000750" cy="1066800"/>
          </a:xfrm>
        </p:spPr>
        <p:txBody>
          <a:bodyPr lIns="0" rIns="0" tIns="0" bIns="0">
            <a:noAutofit/>
          </a:bodyPr>
          <a:lstStyle/>
          <a:p>
            <a:pPr marL="0" indent="0">
              <a:buNone/>
            </a:pPr>
            <a:r>
              <a:rPr sz="1600" b="1" lang="en-US">
                <a:solidFill>
                  <a:srgbClr val="AD132A"/>
                </a:solidFill>
                <a:latin typeface="Arial"/>
              </a:rPr>
              <a:t>Haoran Wang</a:t>
            </a:r>
          </a:p>
          <a:p>
            <a:pPr marL="0" indent="0">
              <a:lnSpc>
                <a:spcPct val="95000"/>
              </a:lnSpc>
              <a:spcBef>
                <a:spcPts val="500"/>
              </a:spcBef>
              <a:buNone/>
            </a:pPr>
            <a:r>
              <a:rPr sz="1050" b="0" lang="en-US">
                <a:solidFill>
                  <a:srgbClr val="7F7F7F"/>
                </a:solidFill>
                <a:latin typeface="Arial"/>
              </a:rPr>
              <a:t>Jinchuan Tian, Haoran Wang, Siddhant Arora, Takashi Maekaku, Keita Goto,</a:t>
            </a:r>
          </a:p>
          <a:p>
            <a:pPr marL="0" indent="0">
              <a:lnSpc>
                <a:spcPct val="95000"/>
              </a:lnSpc>
              <a:buNone/>
            </a:pPr>
            <a:r>
              <a:rPr sz="1050" b="0" lang="en-US">
                <a:solidFill>
                  <a:srgbClr val="7F7F7F"/>
                </a:solidFill>
                <a:latin typeface="Arial"/>
              </a:rPr>
              <a:t>Jin Sakuma, Yusuke Shinohara, Chao-Han Huck Yang, Shinji Watanabe</a:t>
            </a:r>
          </a:p>
        </p:txBody>
      </p:sp>
      <p:sp>
        <p:nvSpPr>
          <p:cNvPr id="4" name="Conference"/>
          <p:cNvSpPr txBox="1"/>
          <p:nvPr/>
        </p:nvSpPr>
        <p:spPr>
          <a:xfrm>
            <a:off x="2762250" y="685800"/>
            <a:ext cx="5810250" cy="171450"/>
          </a:xfrm>
          <a:prstGeom prst="rect">
            <a:avLst/>
          </a:prstGeom>
          <a:noFill/>
        </p:spPr>
        <p:txBody>
          <a:bodyPr wrap="square" lIns="0" rIns="0" tIns="0" bIns="0" anchor="t">
            <a:noAutofit/>
          </a:bodyPr>
          <a:lstStyle/>
          <a:p>
            <a:r>
              <a:rPr sz="900" b="1" lang="en-US" spc="60">
                <a:solidFill>
                  <a:srgbClr val="AD132A"/>
                </a:solidFill>
                <a:latin typeface="Arial"/>
              </a:rPr>
              <a:t>INTERSPEECH 2026  /  SYDNEY</a:t>
            </a:r>
          </a:p>
        </p:txBody>
      </p:sp>
      <p:pic>
        <p:nvPicPr>
          <p:cNvPr id="5" name="LY Corporation logo" descr="image-10.png"/>
          <p:cNvPicPr>
            <a:picLocks noChangeAspect="1"/>
          </p:cNvPicPr>
          <p:nvPr/>
        </p:nvPicPr>
        <p:blipFill>
          <a:blip r:embed="rId2"/>
          <a:stretch>
            <a:fillRect/>
          </a:stretch>
        </p:blipFill>
        <p:spPr>
          <a:xfrm>
            <a:off x="4695825" y="4124325"/>
            <a:ext cx="2000250" cy="281725"/>
          </a:xfrm>
          <a:prstGeom prst="rect">
            <a:avLst/>
          </a:prstGeom>
        </p:spPr>
      </p:pic>
      <p:pic>
        <p:nvPicPr>
          <p:cNvPr id="6" name="NVIDIA logo" descr="image2-12.png"/>
          <p:cNvPicPr>
            <a:picLocks noChangeAspect="1"/>
          </p:cNvPicPr>
          <p:nvPr/>
        </p:nvPicPr>
        <p:blipFill>
          <a:blip r:embed="rId3"/>
          <a:stretch>
            <a:fillRect/>
          </a:stretch>
        </p:blipFill>
        <p:spPr>
          <a:xfrm>
            <a:off x="7762875" y="3829050"/>
            <a:ext cx="857250" cy="85725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Speech control through natural language</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1. Introduction</a:t>
            </a:r>
          </a:p>
        </p:txBody>
      </p:sp>
      <p:sp>
        <p:nvSpPr>
          <p:cNvPr id="5" name="Slide Number 2"/>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2</a:t>
            </a:fld>
            <a:endParaRPr sz="900" b="0">
              <a:solidFill>
                <a:srgbClr val="777777"/>
              </a:solidFill>
            </a:endParaRPr>
          </a:p>
        </p:txBody>
      </p:sp>
      <p:sp>
        <p:nvSpPr>
          <p:cNvPr id="6" name="Idea traditional panel"/>
          <p:cNvSpPr/>
          <p:nvPr/>
        </p:nvSpPr>
        <p:spPr>
          <a:xfrm>
            <a:off x="1447800" y="1343025"/>
            <a:ext cx="3333750" cy="1485900"/>
          </a:xfrm>
          <a:prstGeom prst="rect">
            <a:avLst/>
          </a:prstGeom>
          <a:solidFill>
            <a:srgbClr val="F2F2F2"/>
          </a:solidFill>
          <a:ln>
            <a:noFill/>
          </a:ln>
        </p:spPr>
        <p:txBody>
          <a:bodyPr rtlCol="0" anchor="ctr"/>
          <a:lstStyle/>
          <a:p>
            <a:pPr algn="ctr"/>
          </a:p>
        </p:txBody>
      </p:sp>
      <p:sp>
        <p:nvSpPr>
          <p:cNvPr id="7" name="Idea natural language panel"/>
          <p:cNvSpPr/>
          <p:nvPr/>
        </p:nvSpPr>
        <p:spPr>
          <a:xfrm>
            <a:off x="5314950" y="1343025"/>
            <a:ext cx="3457575" cy="1485900"/>
          </a:xfrm>
          <a:prstGeom prst="rect">
            <a:avLst/>
          </a:prstGeom>
          <a:solidFill>
            <a:srgbClr val="F8ECEE"/>
          </a:solidFill>
          <a:ln>
            <a:noFill/>
          </a:ln>
        </p:spPr>
        <p:txBody>
          <a:bodyPr rtlCol="0" anchor="ctr"/>
          <a:lstStyle/>
          <a:p>
            <a:pPr algn="ctr"/>
          </a:p>
        </p:txBody>
      </p:sp>
      <p:sp>
        <p:nvSpPr>
          <p:cNvPr id="8" name="Idea traditional heading"/>
          <p:cNvSpPr txBox="1"/>
          <p:nvPr/>
        </p:nvSpPr>
        <p:spPr>
          <a:xfrm>
            <a:off x="1657350" y="1495425"/>
            <a:ext cx="2933700" cy="257175"/>
          </a:xfrm>
          <a:prstGeom prst="rect">
            <a:avLst/>
          </a:prstGeom>
          <a:noFill/>
        </p:spPr>
        <p:txBody>
          <a:bodyPr wrap="square" lIns="0" rIns="0" tIns="0" bIns="0" anchor="t">
            <a:noAutofit/>
          </a:bodyPr>
          <a:lstStyle/>
          <a:p>
            <a:pPr>
              <a:lnSpc>
                <a:spcPct val="106000"/>
              </a:lnSpc>
            </a:pPr>
            <a:r>
              <a:rPr sz="1600" b="1" lang="en-US">
                <a:solidFill>
                  <a:srgbClr val="666666"/>
                </a:solidFill>
                <a:latin typeface="Arial"/>
              </a:rPr>
              <a:t>Traditional TTS</a:t>
            </a:r>
            <a:endParaRPr lang="en-US" sz="1600" b="1"/>
          </a:p>
        </p:txBody>
      </p:sp>
      <p:sp>
        <p:nvSpPr>
          <p:cNvPr id="9" name="Idea traditional statement"/>
          <p:cNvSpPr txBox="1"/>
          <p:nvPr/>
        </p:nvSpPr>
        <p:spPr>
          <a:xfrm>
            <a:off x="1657350" y="1866900"/>
            <a:ext cx="2914650" cy="238125"/>
          </a:xfrm>
          <a:prstGeom prst="rect">
            <a:avLst/>
          </a:prstGeom>
          <a:noFill/>
        </p:spPr>
        <p:txBody>
          <a:bodyPr wrap="square" lIns="0" rIns="0" tIns="0" bIns="0" anchor="t">
            <a:noAutofit/>
          </a:bodyPr>
          <a:lstStyle/>
          <a:p>
            <a:pPr>
              <a:lnSpc>
                <a:spcPct val="106000"/>
              </a:lnSpc>
            </a:pPr>
            <a:r>
              <a:rPr sz="1350" b="0" lang="en-US">
                <a:solidFill>
                  <a:srgbClr val="434343"/>
                </a:solidFill>
                <a:latin typeface="Arial"/>
              </a:rPr>
              <a:t>Choose from fixed controls</a:t>
            </a:r>
            <a:endParaRPr lang="en-US" sz="1350"/>
          </a:p>
        </p:txBody>
      </p:sp>
      <p:sp>
        <p:nvSpPr>
          <p:cNvPr id="10" name="Idea traditional controls"/>
          <p:cNvSpPr txBox="1"/>
          <p:nvPr/>
        </p:nvSpPr>
        <p:spPr>
          <a:xfrm>
            <a:off x="1657350" y="2276475"/>
            <a:ext cx="2914650" cy="409575"/>
          </a:xfrm>
          <a:prstGeom prst="rect">
            <a:avLst/>
          </a:prstGeom>
          <a:noFill/>
        </p:spPr>
        <p:txBody>
          <a:bodyPr wrap="square" lIns="0" rIns="0" tIns="0" bIns="0" anchor="t">
            <a:noAutofit/>
          </a:bodyPr>
          <a:lstStyle/>
          <a:p>
            <a:pPr>
              <a:lnSpc>
                <a:spcPct val="106000"/>
              </a:lnSpc>
            </a:pPr>
            <a:r>
              <a:rPr sz="1200" b="0" lang="en-US">
                <a:solidFill>
                  <a:srgbClr val="666666"/>
                </a:solidFill>
                <a:latin typeface="Arial"/>
              </a:rPr>
              <a:t>Text  /  Speaker</a:t>
            </a:r>
            <a:endParaRPr lang="en-US" sz="1200"/>
          </a:p>
          <a:p>
            <a:pPr>
              <a:lnSpc>
                <a:spcPct val="106000"/>
              </a:lnSpc>
            </a:pPr>
            <a:r>
              <a:rPr sz="1200" b="0" lang="en-US">
                <a:solidFill>
                  <a:srgbClr val="666666"/>
                </a:solidFill>
                <a:latin typeface="Arial"/>
              </a:rPr>
              <a:t>Emotion  /  Speaking rate</a:t>
            </a:r>
            <a:endParaRPr lang="en-US" sz="1200"/>
          </a:p>
        </p:txBody>
      </p:sp>
      <p:sp>
        <p:nvSpPr>
          <p:cNvPr id="11" name="Idea interface arrow"/>
          <p:cNvSpPr/>
          <p:nvPr/>
        </p:nvSpPr>
        <p:spPr>
          <a:xfrm>
            <a:off x="4991100" y="1971675"/>
            <a:ext cx="190500" cy="142875"/>
          </a:xfrm>
          <a:prstGeom prst="rightArrow">
            <a:avLst/>
          </a:prstGeom>
          <a:solidFill>
            <a:srgbClr val="AD132A"/>
          </a:solidFill>
          <a:ln>
            <a:noFill/>
          </a:ln>
        </p:spPr>
        <p:txBody>
          <a:bodyPr rtlCol="0" anchor="ctr"/>
          <a:lstStyle/>
          <a:p>
            <a:pPr algn="ctr"/>
          </a:p>
        </p:txBody>
      </p:sp>
      <p:sp>
        <p:nvSpPr>
          <p:cNvPr id="12" name="Idea model heading"/>
          <p:cNvSpPr txBox="1"/>
          <p:nvPr/>
        </p:nvSpPr>
        <p:spPr>
          <a:xfrm>
            <a:off x="5524500" y="1495425"/>
            <a:ext cx="3048000" cy="257175"/>
          </a:xfrm>
          <a:prstGeom prst="rect">
            <a:avLst/>
          </a:prstGeom>
          <a:noFill/>
        </p:spPr>
        <p:txBody>
          <a:bodyPr wrap="square" lIns="0" rIns="0" tIns="0" bIns="0" anchor="t">
            <a:noAutofit/>
          </a:bodyPr>
          <a:lstStyle/>
          <a:p>
            <a:pPr>
              <a:lnSpc>
                <a:spcPct val="106000"/>
              </a:lnSpc>
            </a:pPr>
            <a:r>
              <a:rPr sz="1600" b="1" lang="en-US">
                <a:solidFill>
                  <a:srgbClr val="AD132A"/>
                </a:solidFill>
                <a:latin typeface="Arial"/>
              </a:rPr>
              <a:t>Bagpiper-TTS</a:t>
            </a:r>
            <a:endParaRPr lang="en-US" sz="1600" b="1"/>
          </a:p>
        </p:txBody>
      </p:sp>
      <p:sp>
        <p:nvSpPr>
          <p:cNvPr id="13" name="Idea natural language statement"/>
          <p:cNvSpPr txBox="1"/>
          <p:nvPr/>
        </p:nvSpPr>
        <p:spPr>
          <a:xfrm>
            <a:off x="5524500" y="1914525"/>
            <a:ext cx="3048000" cy="666750"/>
          </a:xfrm>
          <a:prstGeom prst="rect">
            <a:avLst/>
          </a:prstGeom>
          <a:noFill/>
        </p:spPr>
        <p:txBody>
          <a:bodyPr wrap="square" lIns="0" rIns="0" tIns="0" bIns="0" anchor="t">
            <a:noAutofit/>
          </a:bodyPr>
          <a:lstStyle/>
          <a:p>
            <a:pPr>
              <a:lnSpc>
                <a:spcPct val="106000"/>
              </a:lnSpc>
            </a:pPr>
            <a:r>
              <a:rPr sz="1800" b="1" lang="en-US">
                <a:solidFill>
                  <a:srgbClr val="434343"/>
                </a:solidFill>
                <a:latin typeface="Arial"/>
              </a:rPr>
              <a:t>Describe what to say</a:t>
            </a:r>
            <a:endParaRPr lang="en-US" sz="1800"/>
          </a:p>
          <a:p>
            <a:pPr>
              <a:lnSpc>
                <a:spcPct val="106000"/>
              </a:lnSpc>
            </a:pPr>
            <a:r>
              <a:rPr sz="1800" b="1" lang="en-US">
                <a:solidFill>
                  <a:srgbClr val="434343"/>
                </a:solidFill>
                <a:latin typeface="Arial"/>
              </a:rPr>
              <a:t>and how it should sound.</a:t>
            </a:r>
            <a:endParaRPr lang="en-US" sz="1800"/>
          </a:p>
        </p:txBody>
      </p:sp>
      <p:sp>
        <p:nvSpPr>
          <p:cNvPr id="14" name="Idea pipeline"/>
          <p:cNvSpPr txBox="1"/>
          <p:nvPr/>
        </p:nvSpPr>
        <p:spPr>
          <a:xfrm>
            <a:off x="1447800" y="3048000"/>
            <a:ext cx="7404100" cy="330200"/>
          </a:xfrm>
          <a:prstGeom prst="rect">
            <a:avLst/>
          </a:prstGeom>
          <a:noFill/>
        </p:spPr>
        <p:txBody>
          <a:bodyPr wrap="square" lIns="0" rIns="0" tIns="0" bIns="0" anchor="t">
            <a:noAutofit/>
          </a:bodyPr>
          <a:lstStyle/>
          <a:p>
            <a:pPr>
              <a:lnSpc>
                <a:spcPct val="106000"/>
              </a:lnSpc>
            </a:pPr>
            <a:r>
              <a:rPr sz="1800" b="1" lang="en-US">
                <a:solidFill>
                  <a:srgbClr val="434343"/>
                </a:solidFill>
                <a:latin typeface="Arial"/>
              </a:rPr>
              <a:t>Request  →  Planning  →  Rich caption  →  Audio</a:t>
            </a:r>
            <a:endParaRPr lang="en-US" sz="1800" b="1"/>
          </a:p>
        </p:txBody>
      </p:sp>
      <p:sp>
        <p:nvSpPr>
          <p:cNvPr id="15" name="Idea scope"/>
          <p:cNvSpPr txBox="1"/>
          <p:nvPr/>
        </p:nvSpPr>
        <p:spPr>
          <a:xfrm>
            <a:off x="1447800" y="3543300"/>
            <a:ext cx="7404100" cy="292100"/>
          </a:xfrm>
          <a:prstGeom prst="rect">
            <a:avLst/>
          </a:prstGeom>
          <a:noFill/>
        </p:spPr>
        <p:txBody>
          <a:bodyPr wrap="square" lIns="0" rIns="0" tIns="0" bIns="0" anchor="t">
            <a:noAutofit/>
          </a:bodyPr>
          <a:lstStyle/>
          <a:p>
            <a:pPr>
              <a:lnSpc>
                <a:spcPct val="106000"/>
              </a:lnSpc>
            </a:pPr>
            <a:r>
              <a:rPr sz="1300" b="0" lang="en-US">
                <a:solidFill>
                  <a:srgbClr val="666666"/>
                </a:solidFill>
                <a:latin typeface="Arial"/>
              </a:rPr>
              <a:t>Expressive speech  ·  Dialogue  ·  Role-play  ·  Singing</a:t>
            </a:r>
            <a:endParaRPr lang="en-US" sz="1300"/>
          </a:p>
        </p:txBody>
      </p:sp>
      <p:cxnSp>
        <p:nvCxnSpPr>
          <p:cNvPr id="16" name="Idea audio divider"/>
          <p:cNvCxnSpPr/>
          <p:nvPr/>
        </p:nvCxnSpPr>
        <p:spPr>
          <a:xfrm>
            <a:off x="1447800" y="3975100"/>
            <a:ext cx="5994400" cy="0"/>
          </a:xfrm>
          <a:prstGeom prst="line">
            <a:avLst/>
          </a:prstGeom>
          <a:ln w="8255">
            <a:solidFill>
              <a:srgbClr val="D9D9D9"/>
            </a:solidFill>
          </a:ln>
        </p:spPr>
      </p:cxnSp>
      <p:pic>
        <p:nvPicPr>
          <p:cNvPr id="20" name="Visible play button 1" descr="Idea narration only, with a quiet original instrumental background; click to play"/>
          <p:cNvPicPr>
            <a:picLocks noChangeAspect="1"/>
          </p:cNvPicPr>
          <p:nvPr/>
        </p:nvPicPr>
        <p:blipFill>
          <a:blip r:embed="rId4"/>
          <a:stretch>
            <a:fillRect/>
          </a:stretch>
        </p:blipFill>
        <p:spPr>
          <a:xfrm>
            <a:off x="1447800" y="4178300"/>
            <a:ext cx="419100" cy="419100"/>
          </a:xfrm>
          <a:prstGeom prst="rect">
            <a:avLst/>
          </a:prstGeom>
        </p:spPr>
      </p:pic>
      <p:pic>
        <p:nvPicPr>
          <p:cNvPr id="17" name="Idea narration — click to play" descr="Idea narration only, with a quiet original instrumental background; click to play">
            <a:hlinkClick action="ppaction://media"/>
          </p:cNvPr>
          <p:cNvPicPr>
            <a:picLocks noChangeAspect="1"/>
          </p:cNvPicPr>
          <p:nvPr>
            <a:audioFile r:link="rId3"/>
            <p:extLst>
              <p:ext uri="{DAA4B4D4-6D71-4841-9C94-3DE7FCFB9230}">
                <p14:media xmlns:p14="http://schemas.microsoft.com/office/powerpoint/2010/main" r:embed="rId2"/>
              </p:ext>
            </p:extLst>
          </p:nvPr>
        </p:nvPicPr>
        <p:blipFill>
          <a:blip r:embed="rId4"/>
          <a:stretch>
            <a:fillRect/>
          </a:stretch>
        </p:blipFill>
        <p:spPr>
          <a:xfrm>
            <a:off x="1447800" y="4178300"/>
            <a:ext cx="419100" cy="419100"/>
          </a:xfrm>
          <a:prstGeom prst="rect">
            <a:avLst/>
          </a:prstGeom>
        </p:spPr>
      </p:pic>
      <p:sp>
        <p:nvSpPr>
          <p:cNvPr id="18" name="Idea play label"/>
          <p:cNvSpPr txBox="1"/>
          <p:nvPr/>
        </p:nvSpPr>
        <p:spPr>
          <a:xfrm>
            <a:off x="2019300" y="4165600"/>
            <a:ext cx="5207000" cy="266700"/>
          </a:xfrm>
          <a:prstGeom prst="rect">
            <a:avLst/>
          </a:prstGeom>
          <a:noFill/>
        </p:spPr>
        <p:txBody>
          <a:bodyPr wrap="square" lIns="0" rIns="0" tIns="0" bIns="0" anchor="t">
            <a:noAutofit/>
          </a:bodyPr>
          <a:lstStyle/>
          <a:p>
            <a:pPr>
              <a:buNone/>
            </a:pPr>
            <a:r>
              <a:rPr sz="1200" b="1" lang="en-US">
                <a:solidFill>
                  <a:srgbClr val="B30A2B"/>
                </a:solidFill>
                <a:latin typeface="Arial"/>
              </a:rPr>
              <a:t>PLAY NARRATION  /  23 s</a:t>
            </a:r>
          </a:p>
        </p:txBody>
      </p:sp>
      <p:sp>
        <p:nvSpPr>
          <p:cNvPr id="19" name="Idea audio credit"/>
          <p:cNvSpPr txBox="1"/>
          <p:nvPr/>
        </p:nvSpPr>
        <p:spPr>
          <a:xfrm>
            <a:off x="2019300" y="4448175"/>
            <a:ext cx="5667375" cy="200025"/>
          </a:xfrm>
          <a:prstGeom prst="rect">
            <a:avLst/>
          </a:prstGeom>
          <a:noFill/>
        </p:spPr>
        <p:txBody>
          <a:bodyPr wrap="square" lIns="0" rIns="0" tIns="0" bIns="0" anchor="t">
            <a:noAutofit/>
          </a:bodyPr>
          <a:lstStyle/>
          <a:p>
            <a:pPr>
              <a:buNone/>
            </a:pPr>
            <a:r>
              <a:rPr sz="1050" b="0" lang="en-US">
                <a:solidFill>
                  <a:srgbClr val="666666"/>
                </a:solidFill>
                <a:latin typeface="Arial"/>
              </a:rPr>
              <a:t>One generation, no cherry-picking. Background music added separately.</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2850" fill="hold"/>
                                        <p:tgtEl>
                                          <p:spTgt spid="17"/>
                                        </p:tgtEl>
                                      </p:cBhvr>
                                    </p:cmd>
                                  </p:childTnLst>
                                </p:cTn>
                              </p:par>
                            </p:childTnLst>
                          </p:cTn>
                        </p:par>
                      </p:childTnLst>
                    </p:cTn>
                  </p:par>
                </p:childTnLst>
              </p:cTn>
              <p:nextCondLst>
                <p:cond evt="onClick" delay="0">
                  <p:tgtEl>
                    <p:spTgt spid="17"/>
                  </p:tgtEl>
                </p:cond>
              </p:nextCondLst>
            </p:seq>
            <p:audio>
              <p:cMediaNode vol="80000" numSld="1">
                <p:cTn id="7" fill="hold" display="0">
                  <p:stCondLst>
                    <p:cond delay="indefinite"/>
                  </p:stCondLst>
                  <p:endCondLst>
                    <p:cond evt="onStopAudio" delay="0">
                      <p:tgtEl>
                        <p:sldTgt/>
                      </p:tgtEl>
                    </p:cond>
                  </p:endCondLst>
                </p:cTn>
                <p:tgtEl>
                  <p:spTgt spid="17"/>
                </p:tgtEl>
              </p:cMediaNode>
            </p:audi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4D9D38E9-BEA4-4AB6-B97B-4529EE3FBE47}"/>
              </a:ext>
            </a:extLst>
          </p:cNvPr>
          <p:cNvSpPr>
            <a:spLocks noGrp="1"/>
          </p:cNvSpPr>
          <p:nvPr>
            <p:ph type="title" idx="0"/>
          </p:nvPr>
        </p:nvSpPr>
        <p:spPr>
          <a:xfrm>
            <a:off x="1447800" y="590550"/>
            <a:ext cx="7334250" cy="447675"/>
          </a:xfrm>
        </p:spPr>
        <p:txBody>
          <a:bodyPr lIns="0" tIns="0" rIns="0" bIns="0">
            <a:noAutofit/>
          </a:bodyPr>
          <a:lstStyle/>
          <a:p>
            <a:pPr marL="0" indent="0">
              <a:buNone/>
            </a:pPr>
            <a:r>
              <a:rPr sz="2400" b="1" u="none">
                <a:latin typeface="Arial"/>
                <a:ea typeface="Arial"/>
                <a:cs typeface="Arial"/>
              </a:rPr>
              <a:t>The exact speech-generation prompt</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1. Introduction</a:t>
            </a:r>
          </a:p>
        </p:txBody>
      </p:sp>
      <p:sp>
        <p:nvSpPr>
          <p:cNvPr id="5" name="Slide Number 3"/>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3</a:t>
            </a:fld>
            <a:endParaRPr sz="900" b="0">
              <a:solidFill>
                <a:srgbClr val="777777"/>
              </a:solidFill>
            </a:endParaRPr>
          </a:p>
        </p:txBody>
      </p:sp>
      <p:sp>
        <p:nvSpPr>
          <p:cNvPr id="6" name="Prompt setup">
            <a:extLst>
              <a:ext uri="{FF2B5EF4-FFF2-40B4-BE49-F238E27FC236}">
                <a16:creationId xmlns:a16="http://schemas.microsoft.com/office/drawing/2014/main" id="{7B918436-99A7-47C2-8AD4-66CD80E14331}"/>
              </a:ext>
            </a:extLst>
          </p:cNvPr>
          <p:cNvSpPr>
            <a:spLocks noGrp="1"/>
          </p:cNvSpPr>
          <p:nvPr/>
        </p:nvSpPr>
        <p:spPr>
          <a:xfrm>
            <a:off x="1447800" y="1371600"/>
            <a:ext cx="7315200" cy="2914650"/>
          </a:xfrm>
          <a:prstGeom prst="rect">
            <a:avLst/>
          </a:prstGeom>
          <a:noFill/>
        </p:spPr>
        <p:txBody>
          <a:bodyPr wrap="square" lIns="0" tIns="0" rIns="0" bIns="0" anchor="t">
            <a:noAutofit/>
          </a:bodyPr>
          <a:lstStyle/>
          <a:p>
            <a:pPr marL="0" indent="0">
              <a:lnSpc>
                <a:spcPct val="120000"/>
              </a:lnSpc>
              <a:defRPr sz="1700" u="none">
                <a:latin typeface="Arial"/>
                <a:ea typeface="Arial"/>
                <a:cs typeface="Arial"/>
              </a:defRPr>
              <a:buNone/>
            </a:pPr>
            <a:r>
              <a:rPr sz="1700" b="0" u="none">
                <a:solidFill>
                  <a:srgbClr val="555555"/>
                </a:solidFill>
                <a:latin typeface="Arial"/>
                <a:ea typeface="Arial"/>
                <a:cs typeface="Arial"/>
              </a:rPr>
              <a:t>One conference presenter, </a:t>
            </a:r>
            <a:r>
              <a:rPr sz="1700" b="1" u="none">
                <a:solidFill>
                  <a:srgbClr val="555555"/>
                </a:solidFill>
                <a:latin typeface="Arial"/>
                <a:ea typeface="Arial"/>
                <a:cs typeface="Arial"/>
              </a:rPr>
              <a:t>one continuous take</a:t>
            </a:r>
            <a:r>
              <a:rPr sz="1700" b="0" u="none">
                <a:solidFill>
                  <a:srgbClr val="555555"/>
                </a:solidFill>
                <a:latin typeface="Arial"/>
                <a:ea typeface="Arial"/>
                <a:cs typeface="Arial"/>
              </a:rPr>
              <a:t>, </a:t>
            </a:r>
            <a:r>
              <a:rPr sz="1700" b="1" u="none">
                <a:solidFill>
                  <a:srgbClr val="555555"/>
                </a:solidFill>
                <a:latin typeface="Arial"/>
                <a:ea typeface="Arial"/>
                <a:cs typeface="Arial"/>
              </a:rPr>
              <a:t>same voice throughout</a:t>
            </a:r>
            <a:r>
              <a:rPr sz="1700" b="0" u="none">
                <a:solidFill>
                  <a:srgbClr val="555555"/>
                </a:solidFill>
                <a:latin typeface="Arial"/>
                <a:ea typeface="Arial"/>
                <a:cs typeface="Arial"/>
              </a:rPr>
              <a:t>, close-miked, </a:t>
            </a:r>
            <a:r>
              <a:rPr sz="1700" b="1" u="none">
                <a:solidFill>
                  <a:srgbClr val="555555"/>
                </a:solidFill>
                <a:latin typeface="Arial"/>
                <a:ea typeface="Arial"/>
                <a:cs typeface="Arial"/>
              </a:rPr>
              <a:t>no music</a:t>
            </a:r>
            <a:r>
              <a:rPr sz="1700" b="0" u="none">
                <a:solidFill>
                  <a:srgbClr val="555555"/>
                </a:solidFill>
                <a:latin typeface="Arial"/>
                <a:ea typeface="Arial"/>
                <a:cs typeface="Arial"/>
              </a:rPr>
              <a:t>. Bracketed notes are delivery directions, not spoken. Speak only the quoted script. </a:t>
            </a:r>
            <a:r>
              <a:rPr sz="1700" b="1" u="none">
                <a:solidFill>
                  <a:srgbClr val="B30A2B"/>
                </a:solidFill>
                <a:latin typeface="Arial"/>
                <a:ea typeface="Arial"/>
                <a:cs typeface="Arial"/>
              </a:rPr>
              <a:t>[Warm, curious, conversational]</a:t>
            </a:r>
            <a:r>
              <a:rPr sz="1700" b="0" u="none">
                <a:solidFill>
                  <a:srgbClr val="555555"/>
                </a:solidFill>
                <a:latin typeface="Arial"/>
                <a:ea typeface="Arial"/>
                <a:cs typeface="Arial"/>
              </a:rPr>
              <a:t> </a:t>
            </a:r>
            <a:r>
              <a:rPr sz="1700" b="1" u="none">
                <a:solidFill>
                  <a:srgbClr val="1C405A"/>
                </a:solidFill>
                <a:latin typeface="Arial"/>
                <a:ea typeface="Arial"/>
                <a:cs typeface="Arial"/>
              </a:rPr>
              <a:t>'What if we could direct speech in everyday language?'</a:t>
            </a:r>
            <a:r>
              <a:rPr sz="1700" b="0" u="none">
                <a:solidFill>
                  <a:srgbClr val="555555"/>
                </a:solidFill>
                <a:latin typeface="Arial"/>
                <a:ea typeface="Arial"/>
                <a:cs typeface="Arial"/>
              </a:rPr>
              <a:t> </a:t>
            </a:r>
            <a:r>
              <a:rPr sz="1700" b="1" u="none">
                <a:solidFill>
                  <a:srgbClr val="B30A2B"/>
                </a:solidFill>
                <a:latin typeface="Arial"/>
                <a:ea typeface="Arial"/>
                <a:cs typeface="Arial"/>
              </a:rPr>
              <a:t>[Clear, engaged, slightly brisk]</a:t>
            </a:r>
            <a:r>
              <a:rPr sz="1700" b="0" u="none">
                <a:solidFill>
                  <a:srgbClr val="555555"/>
                </a:solidFill>
                <a:latin typeface="Arial"/>
                <a:ea typeface="Arial"/>
                <a:cs typeface="Arial"/>
              </a:rPr>
              <a:t> </a:t>
            </a:r>
            <a:r>
              <a:rPr sz="1700" b="1" u="none">
                <a:solidFill>
                  <a:srgbClr val="1C405A"/>
                </a:solidFill>
                <a:latin typeface="Arial"/>
                <a:ea typeface="Arial"/>
                <a:cs typeface="Arial"/>
              </a:rPr>
              <a:t>'With Bagpiper-TTS, we describe what to say and how it should sound. The model plans the content and delivery, writes a rich caption, then generates the audio.'</a:t>
            </a:r>
            <a:r>
              <a:rPr sz="1700" b="0" u="none">
                <a:solidFill>
                  <a:srgbClr val="555555"/>
                </a:solidFill>
                <a:latin typeface="Arial"/>
                <a:ea typeface="Arial"/>
                <a:cs typeface="Arial"/>
              </a:rPr>
              <a:t> </a:t>
            </a:r>
            <a:r>
              <a:rPr sz="1700" b="1" u="none">
                <a:solidFill>
                  <a:srgbClr val="B30A2B"/>
                </a:solidFill>
                <a:latin typeface="Arial"/>
                <a:ea typeface="Arial"/>
                <a:cs typeface="Arial"/>
              </a:rPr>
              <a:t>[Brief pause; warm, confident finish]</a:t>
            </a:r>
            <a:r>
              <a:rPr sz="1700" b="0" u="none">
                <a:solidFill>
                  <a:srgbClr val="555555"/>
                </a:solidFill>
                <a:latin typeface="Arial"/>
                <a:ea typeface="Arial"/>
                <a:cs typeface="Arial"/>
              </a:rPr>
              <a:t> </a:t>
            </a:r>
            <a:r>
              <a:rPr sz="1700" b="1" u="none">
                <a:solidFill>
                  <a:srgbClr val="1C405A"/>
                </a:solidFill>
                <a:latin typeface="Arial"/>
                <a:ea typeface="Arial"/>
                <a:cs typeface="Arial"/>
              </a:rPr>
              <a:t>'One model, one natural language interface, from expressive speech to dialogue, role-play, and singing.'</a:t>
            </a:r>
          </a:p>
        </p:txBody>
      </p:sp>
      <p:sp>
        <p:nvSpPr>
          <p:cNvPr id="19" name="Prompt music note">
            <a:extLst>
              <a:ext uri="{FF2B5EF4-FFF2-40B4-BE49-F238E27FC236}">
                <a16:creationId xmlns:a16="http://schemas.microsoft.com/office/drawing/2014/main" id="{A4C01F21-4B84-45CA-BEDA-606D8981FF14}"/>
              </a:ext>
            </a:extLst>
          </p:cNvPr>
          <p:cNvSpPr>
            <a:spLocks noGrp="1"/>
          </p:cNvSpPr>
          <p:nvPr/>
        </p:nvSpPr>
        <p:spPr>
          <a:xfrm>
            <a:off x="1447800" y="4505325"/>
            <a:ext cx="6429375" cy="257175"/>
          </a:xfrm>
          <a:prstGeom prst="rect">
            <a:avLst/>
          </a:prstGeom>
          <a:noFill/>
        </p:spPr>
        <p:txBody>
          <a:bodyPr wrap="square" lIns="0" tIns="0" rIns="0" bIns="0" anchor="t">
            <a:noAutofit/>
          </a:bodyPr>
          <a:lstStyle/>
          <a:p>
            <a:pPr marL="0" indent="0">
              <a:defRPr sz="1000" u="none">
                <a:solidFill>
                  <a:srgbClr val="666666"/>
                </a:solidFill>
                <a:latin typeface="Arial"/>
                <a:ea typeface="Arial"/>
                <a:cs typeface="Arial"/>
              </a:defRPr>
              <a:buNone/>
            </a:pPr>
            <a:r>
              <a:rPr sz="1000" b="0" u="none">
                <a:solidFill>
                  <a:srgbClr val="666666"/>
                </a:solidFill>
                <a:latin typeface="Arial"/>
                <a:ea typeface="Arial"/>
                <a:cs typeface="Arial"/>
              </a:rPr>
              <a:t>Audio playback: generated narration + background music added afterward.</a:t>
            </a:r>
          </a:p>
        </p:txBody>
      </p:sp>
      <p:sp>
        <p:nvSpPr>
          <p:cNvPr id="20" name="v22-prompt-key-directions">
            <a:extLst>
              <a:ext uri="{FF2B5EF4-FFF2-40B4-BE49-F238E27FC236}">
                <a16:creationId xmlns:a16="http://schemas.microsoft.com/office/drawing/2014/main" id="{7F08041D-8735-42D2-8B63-5C5F2B34F39B}"/>
              </a:ext>
            </a:extLst>
          </p:cNvPr>
          <p:cNvSpPr>
            <a:spLocks noGrp="1"/>
          </p:cNvSpPr>
          <p:nvPr/>
        </p:nvSpPr>
        <p:spPr>
          <a:xfrm>
            <a:off x="1447800" y="1114425"/>
            <a:ext cx="2228850" cy="180975"/>
          </a:xfrm>
          <a:prstGeom prst="rect">
            <a:avLst/>
          </a:prstGeom>
          <a:noFill/>
          <a:ln w="0">
            <a:noFill/>
          </a:ln>
        </p:spPr>
        <p:txBody>
          <a:bodyPr lIns="0" tIns="0" rIns="0" bIns="0">
            <a:noAutofit/>
          </a:bodyPr>
          <a:lstStyle/>
          <a:p>
            <a:pPr marL="0" indent="0">
              <a:defRPr sz="900" b="1" u="none">
                <a:solidFill>
                  <a:srgbClr val="B30A2B"/>
                </a:solidFill>
                <a:latin typeface="Arial"/>
                <a:ea typeface="Arial"/>
                <a:cs typeface="Arial"/>
              </a:defRPr>
              <a:buNone/>
            </a:pPr>
            <a:r>
              <a:rPr sz="900" b="1" u="none">
                <a:solidFill>
                  <a:srgbClr val="B30A2B"/>
                </a:solidFill>
                <a:latin typeface="Arial"/>
                <a:ea typeface="Arial"/>
                <a:cs typeface="Arial"/>
              </a:rPr>
              <a:t>SETTINGS &amp; DELIVERY</a:t>
            </a:r>
          </a:p>
        </p:txBody>
      </p:sp>
      <p:sp>
        <p:nvSpPr>
          <p:cNvPr id="21" name="v22-prompt-key-transcription">
            <a:extLst>
              <a:ext uri="{FF2B5EF4-FFF2-40B4-BE49-F238E27FC236}">
                <a16:creationId xmlns:a16="http://schemas.microsoft.com/office/drawing/2014/main" id="{2C3A53E0-4F8F-42A0-A21F-B58ABC992DB9}"/>
              </a:ext>
            </a:extLst>
          </p:cNvPr>
          <p:cNvSpPr>
            <a:spLocks noGrp="1"/>
          </p:cNvSpPr>
          <p:nvPr/>
        </p:nvSpPr>
        <p:spPr>
          <a:xfrm>
            <a:off x="3600450" y="1114425"/>
            <a:ext cx="2381250" cy="180975"/>
          </a:xfrm>
          <a:prstGeom prst="rect">
            <a:avLst/>
          </a:prstGeom>
          <a:noFill/>
          <a:ln w="0">
            <a:noFill/>
          </a:ln>
        </p:spPr>
        <p:txBody>
          <a:bodyPr lIns="0" tIns="0" rIns="0" bIns="0">
            <a:noAutofit/>
          </a:bodyPr>
          <a:lstStyle/>
          <a:p>
            <a:pPr marL="0" indent="0">
              <a:defRPr sz="900" b="1" u="none">
                <a:solidFill>
                  <a:srgbClr val="1C405A"/>
                </a:solidFill>
                <a:latin typeface="Arial"/>
                <a:ea typeface="Arial"/>
                <a:cs typeface="Arial"/>
              </a:defRPr>
              <a:buNone/>
            </a:pPr>
            <a:r>
              <a:rPr sz="900" b="1" u="none">
                <a:solidFill>
                  <a:srgbClr val="1C405A"/>
                </a:solidFill>
                <a:latin typeface="Arial"/>
                <a:ea typeface="Arial"/>
                <a:cs typeface="Arial"/>
              </a:rPr>
              <a:t>TRANSCRIPTION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From a request to an expressive voice</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1. Introduction</a:t>
            </a:r>
          </a:p>
        </p:txBody>
      </p:sp>
      <p:sp>
        <p:nvSpPr>
          <p:cNvPr id="5" name="Slide Number 4"/>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4</a:t>
            </a:fld>
            <a:endParaRPr sz="900" b="0">
              <a:solidFill>
                <a:srgbClr val="777777"/>
              </a:solidFill>
            </a:endParaRPr>
          </a:p>
        </p:txBody>
      </p:sp>
      <p:sp>
        <p:nvSpPr>
          <p:cNvPr id="6" name="Demo request label"/>
          <p:cNvSpPr txBox="1"/>
          <p:nvPr/>
        </p:nvSpPr>
        <p:spPr>
          <a:xfrm>
            <a:off x="1447800" y="1320800"/>
            <a:ext cx="6858000" cy="266700"/>
          </a:xfrm>
          <a:prstGeom prst="rect">
            <a:avLst/>
          </a:prstGeom>
          <a:noFill/>
        </p:spPr>
        <p:txBody>
          <a:bodyPr wrap="square" lIns="0" rIns="0" tIns="0" bIns="0" anchor="t">
            <a:noAutofit/>
          </a:bodyPr>
          <a:lstStyle/>
          <a:p>
            <a:pPr>
              <a:lnSpc>
                <a:spcPct val="106000"/>
              </a:lnSpc>
            </a:pPr>
            <a:r>
              <a:rPr sz="1200" b="1" lang="en-US">
                <a:solidFill>
                  <a:srgbClr val="AD132A"/>
                </a:solidFill>
                <a:latin typeface="Arial"/>
              </a:rPr>
              <a:t>THE REQUEST</a:t>
            </a:r>
            <a:endParaRPr lang="en-US" sz="1200"/>
          </a:p>
        </p:txBody>
      </p:sp>
      <p:sp>
        <p:nvSpPr>
          <p:cNvPr id="7" name="Demo request panel"/>
          <p:cNvSpPr/>
          <p:nvPr/>
        </p:nvSpPr>
        <p:spPr>
          <a:xfrm>
            <a:off x="1447800" y="1739900"/>
            <a:ext cx="7404100" cy="1358900"/>
          </a:xfrm>
          <a:prstGeom prst="rect">
            <a:avLst/>
          </a:prstGeom>
          <a:solidFill>
            <a:srgbClr val="F8ECEE"/>
          </a:solidFill>
          <a:ln>
            <a:noFill/>
          </a:ln>
        </p:spPr>
        <p:txBody>
          <a:bodyPr rtlCol="0" anchor="ctr"/>
          <a:lstStyle/>
          <a:p>
            <a:pPr algn="ctr"/>
          </a:p>
        </p:txBody>
      </p:sp>
      <p:sp>
        <p:nvSpPr>
          <p:cNvPr id="8" name="Demo original request"/>
          <p:cNvSpPr txBox="1"/>
          <p:nvPr/>
        </p:nvSpPr>
        <p:spPr>
          <a:xfrm>
            <a:off x="1676400" y="1917700"/>
            <a:ext cx="6985000" cy="1092200"/>
          </a:xfrm>
          <a:prstGeom prst="rect">
            <a:avLst/>
          </a:prstGeom>
          <a:noFill/>
        </p:spPr>
        <p:txBody>
          <a:bodyPr wrap="square" lIns="0" rIns="0" tIns="0" bIns="0" anchor="t">
            <a:noAutofit/>
          </a:bodyPr>
          <a:lstStyle/>
          <a:p>
            <a:pPr>
              <a:lnSpc>
                <a:spcPct val="106000"/>
              </a:lnSpc>
            </a:pPr>
            <a:r>
              <a:rPr sz="1700" b="0" lang="en-US">
                <a:solidFill>
                  <a:srgbClr val="434343"/>
                </a:solidFill>
                <a:latin typeface="Arial"/>
              </a:rPr>
              <a:t>“I want to ask for help without sounding desperate,</a:t>
            </a:r>
            <a:endParaRPr lang="en-US" sz="1700"/>
          </a:p>
          <a:p>
            <a:pPr>
              <a:lnSpc>
                <a:spcPct val="106000"/>
              </a:lnSpc>
            </a:pPr>
            <a:r>
              <a:rPr sz="1700" b="0" lang="en-US">
                <a:solidFill>
                  <a:srgbClr val="434343"/>
                </a:solidFill>
                <a:latin typeface="Arial"/>
              </a:rPr>
              <a:t>my voice should be nervous and a bit stuttery,</a:t>
            </a:r>
            <a:endParaRPr lang="en-US" sz="1700"/>
          </a:p>
          <a:p>
            <a:pPr>
              <a:lnSpc>
                <a:spcPct val="106000"/>
              </a:lnSpc>
            </a:pPr>
            <a:r>
              <a:rPr sz="1700" b="0" lang="en-US">
                <a:solidFill>
                  <a:srgbClr val="434343"/>
                </a:solidFill>
                <a:latin typeface="Arial"/>
              </a:rPr>
              <a:t>as if I'm speaking gently to a child.”</a:t>
            </a:r>
            <a:endParaRPr lang="en-US" sz="1700"/>
          </a:p>
        </p:txBody>
      </p:sp>
      <p:sp>
        <p:nvSpPr>
          <p:cNvPr id="9" name="Demo output label"/>
          <p:cNvSpPr txBox="1"/>
          <p:nvPr/>
        </p:nvSpPr>
        <p:spPr>
          <a:xfrm>
            <a:off x="1447800" y="3314700"/>
            <a:ext cx="6731000" cy="279400"/>
          </a:xfrm>
          <a:prstGeom prst="rect">
            <a:avLst/>
          </a:prstGeom>
          <a:noFill/>
        </p:spPr>
        <p:txBody>
          <a:bodyPr wrap="square" lIns="0" rIns="0" tIns="0" bIns="0" anchor="t">
            <a:noAutofit/>
          </a:bodyPr>
          <a:lstStyle/>
          <a:p>
            <a:pPr>
              <a:lnSpc>
                <a:spcPct val="106000"/>
              </a:lnSpc>
            </a:pPr>
            <a:r>
              <a:rPr sz="1200" b="1" lang="en-US">
                <a:solidFill>
                  <a:srgbClr val="AD132A"/>
                </a:solidFill>
                <a:latin typeface="Arial"/>
              </a:rPr>
              <a:t>THE GENERATED SPEECH</a:t>
            </a:r>
            <a:endParaRPr lang="en-US" sz="1200"/>
          </a:p>
        </p:txBody>
      </p:sp>
      <p:sp>
        <p:nvSpPr>
          <p:cNvPr id="10" name="Demo original spoken text"/>
          <p:cNvSpPr txBox="1"/>
          <p:nvPr/>
        </p:nvSpPr>
        <p:spPr>
          <a:xfrm>
            <a:off x="1447800" y="3683000"/>
            <a:ext cx="5080000" cy="723900"/>
          </a:xfrm>
          <a:prstGeom prst="rect">
            <a:avLst/>
          </a:prstGeom>
          <a:noFill/>
        </p:spPr>
        <p:txBody>
          <a:bodyPr wrap="square" lIns="0" rIns="0" tIns="0" bIns="0" anchor="t">
            <a:noAutofit/>
          </a:bodyPr>
          <a:lstStyle/>
          <a:p>
            <a:pPr>
              <a:lnSpc>
                <a:spcPct val="106000"/>
              </a:lnSpc>
            </a:pPr>
            <a:r>
              <a:rPr sz="2000" b="1" lang="en-US">
                <a:solidFill>
                  <a:srgbClr val="434343"/>
                </a:solidFill>
                <a:latin typeface="Arial"/>
              </a:rPr>
              <a:t>“I have a little order, um,</a:t>
            </a:r>
            <a:endParaRPr lang="en-US" sz="2000"/>
          </a:p>
          <a:p>
            <a:pPr>
              <a:lnSpc>
                <a:spcPct val="106000"/>
              </a:lnSpc>
            </a:pPr>
            <a:r>
              <a:rPr sz="2000" b="1" lang="en-US">
                <a:solidFill>
                  <a:srgbClr val="434343"/>
                </a:solidFill>
                <a:latin typeface="Arial"/>
              </a:rPr>
              <a:t>could you make it for me?”</a:t>
            </a:r>
            <a:endParaRPr lang="en-US" sz="2000"/>
          </a:p>
        </p:txBody>
      </p:sp>
      <p:pic>
        <p:nvPicPr>
          <p:cNvPr id="13" name="Visible play button 1" descr="Original Bagpiper intent-to-speech example, about 3 seconds; click to play separately"/>
          <p:cNvPicPr>
            <a:picLocks noChangeAspect="1"/>
          </p:cNvPicPr>
          <p:nvPr/>
        </p:nvPicPr>
        <p:blipFill>
          <a:blip r:embed="rId4"/>
          <a:stretch>
            <a:fillRect/>
          </a:stretch>
        </p:blipFill>
        <p:spPr>
          <a:xfrm>
            <a:off x="7524750" y="3590925"/>
            <a:ext cx="542925" cy="542925"/>
          </a:xfrm>
          <a:prstGeom prst="rect">
            <a:avLst/>
          </a:prstGeom>
        </p:spPr>
      </p:pic>
      <p:pic>
        <p:nvPicPr>
          <p:cNvPr id="11" name="Original demo — click to play" descr="Original Bagpiper intent-to-speech example, about 3 seconds; click to play separately">
            <a:hlinkClick action="ppaction://media"/>
          </p:cNvPr>
          <p:cNvPicPr>
            <a:picLocks noChangeAspect="1"/>
          </p:cNvPicPr>
          <p:nvPr>
            <a:audioFile r:link="rId3"/>
            <p:extLst>
              <p:ext uri="{DAA4B4D4-6D71-4841-9C94-3DE7FCFB9230}">
                <p14:media xmlns:p14="http://schemas.microsoft.com/office/powerpoint/2010/main" r:embed="rId2"/>
              </p:ext>
            </p:extLst>
          </p:nvPr>
        </p:nvPicPr>
        <p:blipFill>
          <a:blip r:embed="rId4"/>
          <a:stretch>
            <a:fillRect/>
          </a:stretch>
        </p:blipFill>
        <p:spPr>
          <a:xfrm>
            <a:off x="7524750" y="3590925"/>
            <a:ext cx="542925" cy="542925"/>
          </a:xfrm>
          <a:prstGeom prst="rect">
            <a:avLst/>
          </a:prstGeom>
        </p:spPr>
      </p:pic>
      <p:sp>
        <p:nvSpPr>
          <p:cNvPr id="12" name="Demo play label"/>
          <p:cNvSpPr txBox="1"/>
          <p:nvPr/>
        </p:nvSpPr>
        <p:spPr>
          <a:xfrm>
            <a:off x="7200900" y="4257675"/>
            <a:ext cx="1200150" cy="209550"/>
          </a:xfrm>
          <a:prstGeom prst="rect">
            <a:avLst/>
          </a:prstGeom>
          <a:noFill/>
        </p:spPr>
        <p:txBody>
          <a:bodyPr wrap="square" lIns="0" rIns="0" tIns="0" bIns="0" anchor="t">
            <a:noAutofit/>
          </a:bodyPr>
          <a:lstStyle/>
          <a:p>
            <a:pPr algn="ctr">
              <a:lnSpc>
                <a:spcPct val="106000"/>
              </a:lnSpc>
            </a:pPr>
            <a:r>
              <a:rPr sz="1100" b="1" lang="en-US">
                <a:solidFill>
                  <a:srgbClr val="AD132A"/>
                </a:solidFill>
                <a:latin typeface="Arial"/>
              </a:rPr>
              <a:t>PLAY  / 3 s</a:t>
            </a:r>
            <a:endParaRPr lang="en-US" sz="1100" b="1"/>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980" fill="hold"/>
                                        <p:tgtEl>
                                          <p:spTgt spid="11"/>
                                        </p:tgtEl>
                                      </p:cBhvr>
                                    </p:cmd>
                                  </p:childTnLst>
                                </p:cTn>
                              </p:par>
                            </p:childTnLst>
                          </p:cTn>
                        </p:par>
                      </p:childTnLst>
                    </p:cTn>
                  </p:par>
                </p:childTnLst>
              </p:cTn>
              <p:nextCondLst>
                <p:cond evt="onClick" delay="0">
                  <p:tgtEl>
                    <p:spTgt spid="11"/>
                  </p:tgtEl>
                </p:cond>
              </p:nextCondLst>
            </p:seq>
            <p:audio>
              <p:cMediaNode vol="80000" numSld="1">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One model, three generation steps</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2. Method</a:t>
            </a:r>
          </a:p>
        </p:txBody>
      </p:sp>
      <p:sp>
        <p:nvSpPr>
          <p:cNvPr id="5" name="ShapeInfo 1834"/>
          <p:cNvSpPr/>
          <p:nvPr/>
        </p:nvSpPr>
        <p:spPr>
          <a:xfrm>
            <a:off x="1447800" y="1304036"/>
            <a:ext cx="1603400" cy="636270"/>
          </a:xfrm>
          <a:prstGeom prst="rect">
            <a:avLst/>
          </a:prstGeom>
          <a:solidFill>
            <a:srgbClr val="F8ECEE"/>
          </a:solidFill>
          <a:ln w="12700">
            <a:solidFill>
              <a:srgbClr val="AD132A"/>
            </a:solidFill>
          </a:ln>
        </p:spPr>
        <p:txBody>
          <a:bodyPr rtlCol="0" anchor="ctr"/>
          <a:lstStyle/>
          <a:p>
            <a:pPr algn="ctr"/>
          </a:p>
        </p:txBody>
      </p:sp>
      <p:sp>
        <p:nvSpPr>
          <p:cNvPr id="6" name="Text 1838"/>
          <p:cNvSpPr txBox="1"/>
          <p:nvPr/>
        </p:nvSpPr>
        <p:spPr>
          <a:xfrm>
            <a:off x="1555966" y="1405839"/>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TEXT</a:t>
            </a:r>
            <a:endParaRPr lang="en-US" sz="800"/>
          </a:p>
        </p:txBody>
      </p:sp>
      <p:sp>
        <p:nvSpPr>
          <p:cNvPr id="7" name="Text 1842"/>
          <p:cNvSpPr txBox="1"/>
          <p:nvPr/>
        </p:nvSpPr>
        <p:spPr>
          <a:xfrm>
            <a:off x="1555966" y="1609446"/>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User request</a:t>
            </a:r>
            <a:endParaRPr lang="en-US" sz="1400" b="1"/>
          </a:p>
        </p:txBody>
      </p:sp>
      <p:sp>
        <p:nvSpPr>
          <p:cNvPr id="8" name="ShapeInfo 1846"/>
          <p:cNvSpPr/>
          <p:nvPr/>
        </p:nvSpPr>
        <p:spPr>
          <a:xfrm>
            <a:off x="3108465" y="1558544"/>
            <a:ext cx="184518" cy="133617"/>
          </a:xfrm>
          <a:prstGeom prst="rightArrow">
            <a:avLst/>
          </a:prstGeom>
          <a:solidFill>
            <a:srgbClr val="AD132A"/>
          </a:solidFill>
          <a:ln>
            <a:noFill/>
          </a:ln>
        </p:spPr>
        <p:txBody>
          <a:bodyPr rtlCol="0" anchor="ctr"/>
          <a:lstStyle/>
          <a:p>
            <a:pPr algn="ctr"/>
          </a:p>
        </p:txBody>
      </p:sp>
      <p:sp>
        <p:nvSpPr>
          <p:cNvPr id="9" name="ShapeInfo 1850"/>
          <p:cNvSpPr/>
          <p:nvPr/>
        </p:nvSpPr>
        <p:spPr>
          <a:xfrm>
            <a:off x="3356610" y="1304036"/>
            <a:ext cx="1603400" cy="636270"/>
          </a:xfrm>
          <a:prstGeom prst="rect">
            <a:avLst/>
          </a:prstGeom>
          <a:solidFill>
            <a:srgbClr val="F8ECEE"/>
          </a:solidFill>
          <a:ln w="12700">
            <a:solidFill>
              <a:srgbClr val="AD132A"/>
            </a:solidFill>
          </a:ln>
        </p:spPr>
        <p:txBody>
          <a:bodyPr rtlCol="0" anchor="ctr"/>
          <a:lstStyle/>
          <a:p>
            <a:pPr algn="ctr"/>
          </a:p>
        </p:txBody>
      </p:sp>
      <p:sp>
        <p:nvSpPr>
          <p:cNvPr id="10" name="Text 1854"/>
          <p:cNvSpPr txBox="1"/>
          <p:nvPr/>
        </p:nvSpPr>
        <p:spPr>
          <a:xfrm>
            <a:off x="3464776" y="1405839"/>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TEXT</a:t>
            </a:r>
            <a:endParaRPr lang="en-US" sz="800"/>
          </a:p>
        </p:txBody>
      </p:sp>
      <p:sp>
        <p:nvSpPr>
          <p:cNvPr id="11" name="Text 1858"/>
          <p:cNvSpPr txBox="1"/>
          <p:nvPr/>
        </p:nvSpPr>
        <p:spPr>
          <a:xfrm>
            <a:off x="3464776" y="1609446"/>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Planning</a:t>
            </a:r>
            <a:endParaRPr lang="en-US" sz="1400" b="1"/>
          </a:p>
        </p:txBody>
      </p:sp>
      <p:sp>
        <p:nvSpPr>
          <p:cNvPr id="12" name="ShapeInfo 1862"/>
          <p:cNvSpPr/>
          <p:nvPr/>
        </p:nvSpPr>
        <p:spPr>
          <a:xfrm>
            <a:off x="5017275" y="1558544"/>
            <a:ext cx="184518" cy="133617"/>
          </a:xfrm>
          <a:prstGeom prst="rightArrow">
            <a:avLst/>
          </a:prstGeom>
          <a:solidFill>
            <a:srgbClr val="AD132A"/>
          </a:solidFill>
          <a:ln>
            <a:noFill/>
          </a:ln>
        </p:spPr>
        <p:txBody>
          <a:bodyPr rtlCol="0" anchor="ctr"/>
          <a:lstStyle/>
          <a:p>
            <a:pPr algn="ctr"/>
          </a:p>
        </p:txBody>
      </p:sp>
      <p:sp>
        <p:nvSpPr>
          <p:cNvPr id="13" name="ShapeInfo 1866"/>
          <p:cNvSpPr/>
          <p:nvPr/>
        </p:nvSpPr>
        <p:spPr>
          <a:xfrm>
            <a:off x="5265420" y="1304036"/>
            <a:ext cx="1603400" cy="636270"/>
          </a:xfrm>
          <a:prstGeom prst="rect">
            <a:avLst/>
          </a:prstGeom>
          <a:solidFill>
            <a:srgbClr val="F8ECEE"/>
          </a:solidFill>
          <a:ln w="12700">
            <a:solidFill>
              <a:srgbClr val="AD132A"/>
            </a:solidFill>
          </a:ln>
        </p:spPr>
        <p:txBody>
          <a:bodyPr rtlCol="0" anchor="ctr"/>
          <a:lstStyle/>
          <a:p>
            <a:pPr algn="ctr"/>
          </a:p>
        </p:txBody>
      </p:sp>
      <p:sp>
        <p:nvSpPr>
          <p:cNvPr id="14" name="Text 1870"/>
          <p:cNvSpPr txBox="1"/>
          <p:nvPr/>
        </p:nvSpPr>
        <p:spPr>
          <a:xfrm>
            <a:off x="5373586" y="1405839"/>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TEXT</a:t>
            </a:r>
            <a:endParaRPr lang="en-US" sz="800"/>
          </a:p>
        </p:txBody>
      </p:sp>
      <p:sp>
        <p:nvSpPr>
          <p:cNvPr id="15" name="Text 1874"/>
          <p:cNvSpPr txBox="1"/>
          <p:nvPr/>
        </p:nvSpPr>
        <p:spPr>
          <a:xfrm>
            <a:off x="5373586" y="1609446"/>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Rich caption</a:t>
            </a:r>
            <a:endParaRPr lang="en-US" sz="1400" b="1"/>
          </a:p>
        </p:txBody>
      </p:sp>
      <p:sp>
        <p:nvSpPr>
          <p:cNvPr id="16" name="ShapeInfo 1878"/>
          <p:cNvSpPr/>
          <p:nvPr/>
        </p:nvSpPr>
        <p:spPr>
          <a:xfrm>
            <a:off x="6926085" y="1558544"/>
            <a:ext cx="184518" cy="133617"/>
          </a:xfrm>
          <a:prstGeom prst="rightArrow">
            <a:avLst/>
          </a:prstGeom>
          <a:solidFill>
            <a:srgbClr val="AD132A"/>
          </a:solidFill>
          <a:ln>
            <a:noFill/>
          </a:ln>
        </p:spPr>
        <p:txBody>
          <a:bodyPr rtlCol="0" anchor="ctr"/>
          <a:lstStyle/>
          <a:p>
            <a:pPr algn="ctr"/>
          </a:p>
        </p:txBody>
      </p:sp>
      <p:sp>
        <p:nvSpPr>
          <p:cNvPr id="17" name="ShapeInfo 1882"/>
          <p:cNvSpPr/>
          <p:nvPr/>
        </p:nvSpPr>
        <p:spPr>
          <a:xfrm>
            <a:off x="7174230" y="1304036"/>
            <a:ext cx="1603400" cy="636270"/>
          </a:xfrm>
          <a:prstGeom prst="rect">
            <a:avLst/>
          </a:prstGeom>
          <a:solidFill>
            <a:srgbClr val="F8ECEE"/>
          </a:solidFill>
          <a:ln w="12700">
            <a:solidFill>
              <a:srgbClr val="AD132A"/>
            </a:solidFill>
          </a:ln>
        </p:spPr>
        <p:txBody>
          <a:bodyPr rtlCol="0" anchor="ctr"/>
          <a:lstStyle/>
          <a:p>
            <a:pPr algn="ctr"/>
          </a:p>
        </p:txBody>
      </p:sp>
      <p:sp>
        <p:nvSpPr>
          <p:cNvPr id="18" name="Text 1886"/>
          <p:cNvSpPr txBox="1"/>
          <p:nvPr/>
        </p:nvSpPr>
        <p:spPr>
          <a:xfrm>
            <a:off x="7282396" y="1405839"/>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AUDIO</a:t>
            </a:r>
            <a:endParaRPr lang="en-US" sz="800"/>
          </a:p>
        </p:txBody>
      </p:sp>
      <p:sp>
        <p:nvSpPr>
          <p:cNvPr id="19" name="Text 1890"/>
          <p:cNvSpPr txBox="1"/>
          <p:nvPr/>
        </p:nvSpPr>
        <p:spPr>
          <a:xfrm>
            <a:off x="7282396" y="1609446"/>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Audio</a:t>
            </a:r>
            <a:endParaRPr lang="en-US" sz="1400" b="1"/>
          </a:p>
        </p:txBody>
      </p:sp>
      <p:sp>
        <p:nvSpPr>
          <p:cNvPr id="20" name="Text 1894"/>
          <p:cNvSpPr txBox="1"/>
          <p:nvPr/>
        </p:nvSpPr>
        <p:spPr>
          <a:xfrm>
            <a:off x="1447800" y="2239353"/>
            <a:ext cx="1603400" cy="337223"/>
          </a:xfrm>
          <a:prstGeom prst="rect">
            <a:avLst/>
          </a:prstGeom>
          <a:noFill/>
        </p:spPr>
        <p:txBody>
          <a:bodyPr wrap="square" lIns="0" rIns="0" tIns="0" bIns="0" anchor="t">
            <a:noAutofit/>
          </a:bodyPr>
          <a:lstStyle/>
          <a:p>
            <a:pPr algn="l">
              <a:lnSpc>
                <a:spcPct val="90000"/>
              </a:lnSpc>
            </a:pPr>
            <a:r>
              <a:rPr sz="1150" b="1" lang="en-US">
                <a:solidFill>
                  <a:srgbClr val="AD132A"/>
                </a:solidFill>
                <a:latin typeface="Arial"/>
              </a:rPr>
              <a:t>Specify the goal</a:t>
            </a:r>
            <a:endParaRPr lang="en-US" sz="1150" b="1"/>
          </a:p>
        </p:txBody>
      </p:sp>
      <p:sp>
        <p:nvSpPr>
          <p:cNvPr id="21" name="Text 1898"/>
          <p:cNvSpPr txBox="1"/>
          <p:nvPr/>
        </p:nvSpPr>
        <p:spPr>
          <a:xfrm>
            <a:off x="1447800" y="2703830"/>
            <a:ext cx="1603400" cy="1081659"/>
          </a:xfrm>
          <a:prstGeom prst="rect">
            <a:avLst/>
          </a:prstGeom>
          <a:noFill/>
        </p:spPr>
        <p:txBody>
          <a:bodyPr wrap="square" lIns="0" rIns="0" tIns="0" bIns="0" anchor="t">
            <a:noAutofit/>
          </a:bodyPr>
          <a:lstStyle/>
          <a:p>
            <a:pPr algn="l">
              <a:lnSpc>
                <a:spcPct val="90000"/>
              </a:lnSpc>
            </a:pPr>
            <a:r>
              <a:rPr sz="1350" b="0" lang="en-US">
                <a:solidFill>
                  <a:srgbClr val="434343"/>
                </a:solidFill>
                <a:latin typeface="Arial"/>
              </a:rPr>
              <a:t>Ask for help.</a:t>
            </a:r>
            <a:endParaRPr lang="en-US" sz="1350"/>
          </a:p>
          <a:p>
            <a:pPr algn="l">
              <a:lnSpc>
                <a:spcPct val="90000"/>
              </a:lnSpc>
            </a:pPr>
            <a:r>
              <a:rPr sz="1350" b="0" lang="en-US">
                <a:solidFill>
                  <a:srgbClr val="434343"/>
                </a:solidFill>
                <a:latin typeface="Arial"/>
              </a:rPr>
              <a:t>Sound nervous,</a:t>
            </a:r>
            <a:endParaRPr lang="en-US" sz="1350"/>
          </a:p>
          <a:p>
            <a:pPr algn="l">
              <a:lnSpc>
                <a:spcPct val="90000"/>
              </a:lnSpc>
            </a:pPr>
            <a:r>
              <a:rPr sz="1350" b="0" lang="en-US">
                <a:solidFill>
                  <a:srgbClr val="434343"/>
                </a:solidFill>
                <a:latin typeface="Arial"/>
              </a:rPr>
              <a:t>gentle, and a little</a:t>
            </a:r>
            <a:endParaRPr lang="en-US" sz="1350"/>
          </a:p>
          <a:p>
            <a:pPr algn="l">
              <a:lnSpc>
                <a:spcPct val="90000"/>
              </a:lnSpc>
            </a:pPr>
            <a:r>
              <a:rPr sz="1350" b="0" lang="en-US">
                <a:solidFill>
                  <a:srgbClr val="434343"/>
                </a:solidFill>
                <a:latin typeface="Arial"/>
              </a:rPr>
              <a:t>stuttery.</a:t>
            </a:r>
            <a:endParaRPr lang="en-US" sz="1350"/>
          </a:p>
        </p:txBody>
      </p:sp>
      <p:sp>
        <p:nvSpPr>
          <p:cNvPr id="22" name="Text 1902"/>
          <p:cNvSpPr txBox="1"/>
          <p:nvPr/>
        </p:nvSpPr>
        <p:spPr>
          <a:xfrm>
            <a:off x="3356610" y="2239353"/>
            <a:ext cx="1603400" cy="337223"/>
          </a:xfrm>
          <a:prstGeom prst="rect">
            <a:avLst/>
          </a:prstGeom>
          <a:noFill/>
        </p:spPr>
        <p:txBody>
          <a:bodyPr wrap="square" lIns="0" rIns="0" tIns="0" bIns="0" anchor="t">
            <a:noAutofit/>
          </a:bodyPr>
          <a:lstStyle/>
          <a:p>
            <a:pPr algn="l">
              <a:lnSpc>
                <a:spcPct val="90000"/>
              </a:lnSpc>
            </a:pPr>
            <a:r>
              <a:rPr sz="1150" b="1" lang="en-US">
                <a:solidFill>
                  <a:srgbClr val="AD132A"/>
                </a:solidFill>
                <a:latin typeface="Arial"/>
              </a:rPr>
              <a:t>Choose the delivery</a:t>
            </a:r>
            <a:endParaRPr lang="en-US" sz="1150" b="1"/>
          </a:p>
        </p:txBody>
      </p:sp>
      <p:sp>
        <p:nvSpPr>
          <p:cNvPr id="23" name="Text 1906"/>
          <p:cNvSpPr txBox="1"/>
          <p:nvPr/>
        </p:nvSpPr>
        <p:spPr>
          <a:xfrm>
            <a:off x="3356610" y="2703830"/>
            <a:ext cx="1706447" cy="1081659"/>
          </a:xfrm>
          <a:prstGeom prst="rect">
            <a:avLst/>
          </a:prstGeom>
          <a:noFill/>
        </p:spPr>
        <p:txBody>
          <a:bodyPr wrap="square" lIns="0" rIns="0" tIns="0" bIns="0" anchor="t">
            <a:noAutofit/>
          </a:bodyPr>
          <a:lstStyle/>
          <a:p>
            <a:pPr algn="l">
              <a:lnSpc>
                <a:spcPct val="90000"/>
              </a:lnSpc>
            </a:pPr>
            <a:r>
              <a:rPr sz="1350" b="0" lang="en-US">
                <a:solidFill>
                  <a:srgbClr val="434343"/>
                </a:solidFill>
                <a:latin typeface="Arial"/>
              </a:rPr>
              <a:t>A polite question.</a:t>
            </a:r>
            <a:endParaRPr lang="en-US" sz="1350"/>
          </a:p>
          <a:p>
            <a:pPr algn="l">
              <a:lnSpc>
                <a:spcPct val="90000"/>
              </a:lnSpc>
            </a:pPr>
            <a:r>
              <a:rPr sz="1350" b="0" lang="en-US">
                <a:solidFill>
                  <a:srgbClr val="434343"/>
                </a:solidFill>
                <a:latin typeface="Arial"/>
              </a:rPr>
              <a:t>Hesitation with "um".</a:t>
            </a:r>
            <a:endParaRPr lang="en-US" sz="1350"/>
          </a:p>
          <a:p>
            <a:pPr algn="l">
              <a:lnSpc>
                <a:spcPct val="90000"/>
              </a:lnSpc>
            </a:pPr>
            <a:r>
              <a:rPr sz="1350" b="0" lang="en-US">
                <a:solidFill>
                  <a:srgbClr val="434343"/>
                </a:solidFill>
                <a:latin typeface="Arial"/>
              </a:rPr>
              <a:t>Slow, breathy voice.</a:t>
            </a:r>
            <a:endParaRPr lang="en-US" sz="1350"/>
          </a:p>
        </p:txBody>
      </p:sp>
      <p:sp>
        <p:nvSpPr>
          <p:cNvPr id="24" name="Text 1910"/>
          <p:cNvSpPr txBox="1"/>
          <p:nvPr/>
        </p:nvSpPr>
        <p:spPr>
          <a:xfrm>
            <a:off x="5265420" y="2239353"/>
            <a:ext cx="1603400" cy="337223"/>
          </a:xfrm>
          <a:prstGeom prst="rect">
            <a:avLst/>
          </a:prstGeom>
          <a:noFill/>
        </p:spPr>
        <p:txBody>
          <a:bodyPr wrap="square" lIns="0" rIns="0" tIns="0" bIns="0" anchor="t">
            <a:noAutofit/>
          </a:bodyPr>
          <a:lstStyle/>
          <a:p>
            <a:pPr algn="l">
              <a:lnSpc>
                <a:spcPct val="90000"/>
              </a:lnSpc>
            </a:pPr>
            <a:r>
              <a:rPr sz="1150" b="1" lang="en-US">
                <a:solidFill>
                  <a:srgbClr val="AD132A"/>
                </a:solidFill>
                <a:latin typeface="Arial"/>
              </a:rPr>
              <a:t>Describe the sound</a:t>
            </a:r>
            <a:endParaRPr lang="en-US" sz="1150" b="1"/>
          </a:p>
        </p:txBody>
      </p:sp>
      <p:sp>
        <p:nvSpPr>
          <p:cNvPr id="25" name="Text 1914"/>
          <p:cNvSpPr txBox="1"/>
          <p:nvPr/>
        </p:nvSpPr>
        <p:spPr>
          <a:xfrm>
            <a:off x="5265420" y="2703830"/>
            <a:ext cx="1694220" cy="1081659"/>
          </a:xfrm>
          <a:prstGeom prst="rect">
            <a:avLst/>
          </a:prstGeom>
          <a:noFill/>
        </p:spPr>
        <p:txBody>
          <a:bodyPr wrap="square" lIns="0" rIns="0" tIns="0" bIns="0" anchor="t">
            <a:noAutofit/>
          </a:bodyPr>
          <a:lstStyle/>
          <a:p>
            <a:pPr algn="l">
              <a:lnSpc>
                <a:spcPct val="90000"/>
              </a:lnSpc>
            </a:pPr>
            <a:r>
              <a:rPr sz="1350" b="0" lang="en-US">
                <a:solidFill>
                  <a:srgbClr val="434343"/>
                </a:solidFill>
                <a:latin typeface="Arial"/>
              </a:rPr>
              <a:t>The full sentence.</a:t>
            </a:r>
            <a:endParaRPr lang="en-US" sz="1350"/>
          </a:p>
          <a:p>
            <a:pPr algn="l">
              <a:lnSpc>
                <a:spcPct val="90000"/>
              </a:lnSpc>
            </a:pPr>
            <a:r>
              <a:rPr sz="1350" b="0" lang="en-US">
                <a:solidFill>
                  <a:srgbClr val="434343"/>
                </a:solidFill>
                <a:latin typeface="Arial"/>
              </a:rPr>
              <a:t>Pauses around "um".</a:t>
            </a:r>
            <a:endParaRPr lang="en-US" sz="1350"/>
          </a:p>
          <a:p>
            <a:pPr algn="l">
              <a:lnSpc>
                <a:spcPct val="90000"/>
              </a:lnSpc>
            </a:pPr>
            <a:r>
              <a:rPr sz="1350" b="0" lang="en-US">
                <a:solidFill>
                  <a:srgbClr val="434343"/>
                </a:solidFill>
                <a:latin typeface="Arial"/>
              </a:rPr>
              <a:t>Rising final "me".</a:t>
            </a:r>
            <a:endParaRPr lang="en-US" sz="1350"/>
          </a:p>
        </p:txBody>
      </p:sp>
      <p:sp>
        <p:nvSpPr>
          <p:cNvPr id="26" name="Text 1918"/>
          <p:cNvSpPr txBox="1"/>
          <p:nvPr/>
        </p:nvSpPr>
        <p:spPr>
          <a:xfrm>
            <a:off x="7174230" y="2239353"/>
            <a:ext cx="1603400" cy="337223"/>
          </a:xfrm>
          <a:prstGeom prst="rect">
            <a:avLst/>
          </a:prstGeom>
          <a:noFill/>
        </p:spPr>
        <p:txBody>
          <a:bodyPr wrap="square" lIns="0" rIns="0" tIns="0" bIns="0" anchor="t">
            <a:noAutofit/>
          </a:bodyPr>
          <a:lstStyle/>
          <a:p>
            <a:pPr algn="l">
              <a:lnSpc>
                <a:spcPct val="90000"/>
              </a:lnSpc>
            </a:pPr>
            <a:r>
              <a:rPr sz="1150" b="1" lang="en-US">
                <a:solidFill>
                  <a:srgbClr val="AD132A"/>
                </a:solidFill>
                <a:latin typeface="Arial"/>
              </a:rPr>
              <a:t>Generate speech</a:t>
            </a:r>
            <a:endParaRPr lang="en-US" sz="1150" b="1"/>
          </a:p>
        </p:txBody>
      </p:sp>
      <p:sp>
        <p:nvSpPr>
          <p:cNvPr id="27" name="Text 1922"/>
          <p:cNvSpPr txBox="1"/>
          <p:nvPr/>
        </p:nvSpPr>
        <p:spPr>
          <a:xfrm>
            <a:off x="7174230" y="2703830"/>
            <a:ext cx="1603400" cy="1081659"/>
          </a:xfrm>
          <a:prstGeom prst="rect">
            <a:avLst/>
          </a:prstGeom>
          <a:noFill/>
        </p:spPr>
        <p:txBody>
          <a:bodyPr wrap="square" lIns="0" rIns="0" tIns="0" bIns="0" anchor="t">
            <a:noAutofit/>
          </a:bodyPr>
          <a:lstStyle/>
          <a:p>
            <a:pPr algn="l">
              <a:lnSpc>
                <a:spcPct val="90000"/>
              </a:lnSpc>
            </a:pPr>
            <a:r>
              <a:rPr sz="1350" b="0" lang="en-US">
                <a:solidFill>
                  <a:srgbClr val="434343"/>
                </a:solidFill>
                <a:latin typeface="Arial"/>
              </a:rPr>
              <a:t>"I have a little</a:t>
            </a:r>
            <a:endParaRPr lang="en-US" sz="1350"/>
          </a:p>
          <a:p>
            <a:pPr algn="l">
              <a:lnSpc>
                <a:spcPct val="90000"/>
              </a:lnSpc>
            </a:pPr>
            <a:r>
              <a:rPr sz="1350" b="0" lang="en-US">
                <a:solidFill>
                  <a:srgbClr val="434343"/>
                </a:solidFill>
                <a:latin typeface="Arial"/>
              </a:rPr>
              <a:t>order, um, could</a:t>
            </a:r>
            <a:endParaRPr lang="en-US" sz="1350"/>
          </a:p>
          <a:p>
            <a:pPr algn="l">
              <a:lnSpc>
                <a:spcPct val="90000"/>
              </a:lnSpc>
            </a:pPr>
            <a:r>
              <a:rPr sz="1350" b="0" lang="en-US">
                <a:solidFill>
                  <a:srgbClr val="434343"/>
                </a:solidFill>
                <a:latin typeface="Arial"/>
              </a:rPr>
              <a:t>you make it</a:t>
            </a:r>
            <a:endParaRPr lang="en-US" sz="1350"/>
          </a:p>
          <a:p>
            <a:pPr algn="l">
              <a:lnSpc>
                <a:spcPct val="90000"/>
              </a:lnSpc>
            </a:pPr>
            <a:r>
              <a:rPr sz="1350" b="0" lang="en-US">
                <a:solidFill>
                  <a:srgbClr val="434343"/>
                </a:solidFill>
                <a:latin typeface="Arial"/>
              </a:rPr>
              <a:t>for me?"</a:t>
            </a:r>
            <a:endParaRPr lang="en-US" sz="1350"/>
          </a:p>
        </p:txBody>
      </p:sp>
      <p:cxnSp>
        <p:nvCxnSpPr>
          <p:cNvPr id="28" name="ShapeInfo 1926"/>
          <p:cNvCxnSpPr/>
          <p:nvPr/>
        </p:nvCxnSpPr>
        <p:spPr>
          <a:xfrm>
            <a:off x="3356610" y="3963645"/>
            <a:ext cx="5421020" cy="0"/>
          </a:xfrm>
          <a:prstGeom prst="line">
            <a:avLst/>
          </a:prstGeom>
          <a:ln w="9525">
            <a:solidFill>
              <a:srgbClr val="AD132A"/>
            </a:solidFill>
          </a:ln>
        </p:spPr>
      </p:cxnSp>
      <p:sp>
        <p:nvSpPr>
          <p:cNvPr id="29" name="Text 1930"/>
          <p:cNvSpPr txBox="1"/>
          <p:nvPr/>
        </p:nvSpPr>
        <p:spPr>
          <a:xfrm>
            <a:off x="3356610" y="4071810"/>
            <a:ext cx="5421020" cy="279959"/>
          </a:xfrm>
          <a:prstGeom prst="rect">
            <a:avLst/>
          </a:prstGeom>
          <a:noFill/>
        </p:spPr>
        <p:txBody>
          <a:bodyPr wrap="square" lIns="0" rIns="0" tIns="0" bIns="0" anchor="t">
            <a:noAutofit/>
          </a:bodyPr>
          <a:lstStyle/>
          <a:p>
            <a:pPr algn="l">
              <a:lnSpc>
                <a:spcPct val="90000"/>
              </a:lnSpc>
            </a:pPr>
            <a:r>
              <a:rPr sz="1200" b="1" lang="en-US">
                <a:solidFill>
                  <a:srgbClr val="AD132A"/>
                </a:solidFill>
                <a:latin typeface="Arial"/>
              </a:rPr>
              <a:t>Planning, caption, and audio generation run in one unified model</a:t>
            </a:r>
            <a:endParaRPr lang="en-US" sz="1200"/>
          </a:p>
        </p:txBody>
      </p:sp>
      <p:sp>
        <p:nvSpPr>
          <p:cNvPr id="30" name="Text 1934"/>
          <p:cNvSpPr txBox="1"/>
          <p:nvPr/>
        </p:nvSpPr>
        <p:spPr>
          <a:xfrm>
            <a:off x="1447800" y="4667250"/>
            <a:ext cx="6353175" cy="304800"/>
          </a:xfrm>
          <a:prstGeom prst="rect">
            <a:avLst/>
          </a:prstGeom>
          <a:noFill/>
        </p:spPr>
        <p:txBody>
          <a:bodyPr wrap="square" lIns="0" rIns="0" tIns="0" bIns="0" anchor="t">
            <a:noAutofit/>
          </a:bodyPr>
          <a:lstStyle/>
          <a:p>
            <a:pPr algn="l">
              <a:lnSpc>
                <a:spcPct val="90000"/>
              </a:lnSpc>
            </a:pPr>
            <a:r>
              <a:rPr sz="850" b="0" lang="en-US">
                <a:solidFill>
                  <a:srgbClr val="666666"/>
                </a:solidFill>
                <a:latin typeface="Arial"/>
              </a:rPr>
              <a:t>Built on Bagpiper-Base. Tian et al., "Bagpiper: Solving Open-Ended Audio Tasks via Rich Captions," COLM 2026.</a:t>
            </a:r>
            <a:endParaRPr lang="en-US" sz="850" b="0">
              <a:solidFill>
                <a:srgbClr val="666666"/>
              </a:solidFill>
            </a:endParaRPr>
          </a:p>
        </p:txBody>
      </p:sp>
      <p:sp>
        <p:nvSpPr>
          <p:cNvPr id="31" name="Slide Number 5"/>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5</a:t>
            </a:fld>
            <a:endParaRPr sz="900" b="0">
              <a:solidFill>
                <a:srgbClr val="777777"/>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User request</a:t>
            </a:r>
            <a:r>
              <a:rPr sz="2400" b="1" lang="en-US">
                <a:solidFill>
                  <a:srgbClr val="AD132A"/>
                </a:solidFill>
                <a:latin typeface="Arial"/>
              </a:rPr>
              <a:t>  →  </a:t>
            </a:r>
            <a:r>
              <a:rPr sz="2400" lang="en-US" b="1"/>
              <a:t>Planning</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2. Method</a:t>
            </a:r>
          </a:p>
        </p:txBody>
      </p:sp>
      <p:sp>
        <p:nvSpPr>
          <p:cNvPr id="5" name="ShapeInfo 1958"/>
          <p:cNvSpPr/>
          <p:nvPr/>
        </p:nvSpPr>
        <p:spPr>
          <a:xfrm>
            <a:off x="1447800" y="1303718"/>
            <a:ext cx="1603400" cy="636270"/>
          </a:xfrm>
          <a:prstGeom prst="rect">
            <a:avLst/>
          </a:prstGeom>
          <a:solidFill>
            <a:srgbClr val="F8ECEE"/>
          </a:solidFill>
          <a:ln w="12700">
            <a:solidFill>
              <a:srgbClr val="AD132A"/>
            </a:solidFill>
          </a:ln>
        </p:spPr>
        <p:txBody>
          <a:bodyPr rtlCol="0" anchor="ctr"/>
          <a:lstStyle/>
          <a:p>
            <a:pPr algn="ctr"/>
          </a:p>
        </p:txBody>
      </p:sp>
      <p:sp>
        <p:nvSpPr>
          <p:cNvPr id="6" name="Text 1962"/>
          <p:cNvSpPr txBox="1"/>
          <p:nvPr/>
        </p:nvSpPr>
        <p:spPr>
          <a:xfrm>
            <a:off x="1555966" y="1405522"/>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TEXT</a:t>
            </a:r>
            <a:endParaRPr lang="en-US" sz="800"/>
          </a:p>
        </p:txBody>
      </p:sp>
      <p:sp>
        <p:nvSpPr>
          <p:cNvPr id="7" name="Text 1966"/>
          <p:cNvSpPr txBox="1"/>
          <p:nvPr/>
        </p:nvSpPr>
        <p:spPr>
          <a:xfrm>
            <a:off x="1555966" y="1609128"/>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User request</a:t>
            </a:r>
            <a:endParaRPr lang="en-US" sz="1400" b="1"/>
          </a:p>
        </p:txBody>
      </p:sp>
      <p:sp>
        <p:nvSpPr>
          <p:cNvPr id="8" name="ShapeInfo 1970"/>
          <p:cNvSpPr/>
          <p:nvPr/>
        </p:nvSpPr>
        <p:spPr>
          <a:xfrm>
            <a:off x="3108465" y="1558226"/>
            <a:ext cx="184518" cy="133617"/>
          </a:xfrm>
          <a:prstGeom prst="rightArrow">
            <a:avLst/>
          </a:prstGeom>
          <a:solidFill>
            <a:srgbClr val="AD132A"/>
          </a:solidFill>
          <a:ln>
            <a:noFill/>
          </a:ln>
        </p:spPr>
        <p:txBody>
          <a:bodyPr rtlCol="0" anchor="ctr"/>
          <a:lstStyle/>
          <a:p>
            <a:pPr algn="ctr"/>
          </a:p>
        </p:txBody>
      </p:sp>
      <p:sp>
        <p:nvSpPr>
          <p:cNvPr id="9" name="ShapeInfo 1974"/>
          <p:cNvSpPr/>
          <p:nvPr/>
        </p:nvSpPr>
        <p:spPr>
          <a:xfrm>
            <a:off x="3356610" y="1303718"/>
            <a:ext cx="1603400" cy="636270"/>
          </a:xfrm>
          <a:prstGeom prst="rect">
            <a:avLst/>
          </a:prstGeom>
          <a:solidFill>
            <a:srgbClr val="F8ECEE"/>
          </a:solidFill>
          <a:ln w="12700">
            <a:solidFill>
              <a:srgbClr val="AD132A"/>
            </a:solidFill>
          </a:ln>
        </p:spPr>
        <p:txBody>
          <a:bodyPr rtlCol="0" anchor="ctr"/>
          <a:lstStyle/>
          <a:p>
            <a:pPr algn="ctr"/>
          </a:p>
        </p:txBody>
      </p:sp>
      <p:sp>
        <p:nvSpPr>
          <p:cNvPr id="10" name="Text 1978"/>
          <p:cNvSpPr txBox="1"/>
          <p:nvPr/>
        </p:nvSpPr>
        <p:spPr>
          <a:xfrm>
            <a:off x="3464776" y="1405522"/>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TEXT</a:t>
            </a:r>
            <a:endParaRPr lang="en-US" sz="800"/>
          </a:p>
        </p:txBody>
      </p:sp>
      <p:sp>
        <p:nvSpPr>
          <p:cNvPr id="11" name="Text 1982"/>
          <p:cNvSpPr txBox="1"/>
          <p:nvPr/>
        </p:nvSpPr>
        <p:spPr>
          <a:xfrm>
            <a:off x="3464776" y="1609128"/>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Planning</a:t>
            </a:r>
            <a:endParaRPr lang="en-US" sz="1400" b="1"/>
          </a:p>
        </p:txBody>
      </p:sp>
      <p:sp>
        <p:nvSpPr>
          <p:cNvPr id="12" name="ShapeInfo 1986"/>
          <p:cNvSpPr/>
          <p:nvPr/>
        </p:nvSpPr>
        <p:spPr>
          <a:xfrm>
            <a:off x="5017275" y="1558226"/>
            <a:ext cx="184518" cy="133617"/>
          </a:xfrm>
          <a:prstGeom prst="rightArrow">
            <a:avLst/>
          </a:prstGeom>
          <a:solidFill>
            <a:srgbClr val="C4C4C4"/>
          </a:solidFill>
          <a:ln>
            <a:noFill/>
          </a:ln>
        </p:spPr>
        <p:txBody>
          <a:bodyPr rtlCol="0" anchor="ctr"/>
          <a:lstStyle/>
          <a:p>
            <a:pPr algn="ctr"/>
          </a:p>
        </p:txBody>
      </p:sp>
      <p:sp>
        <p:nvSpPr>
          <p:cNvPr id="13" name="ShapeInfo 1990"/>
          <p:cNvSpPr/>
          <p:nvPr/>
        </p:nvSpPr>
        <p:spPr>
          <a:xfrm>
            <a:off x="5265420" y="1303718"/>
            <a:ext cx="1603400" cy="636270"/>
          </a:xfrm>
          <a:prstGeom prst="rect">
            <a:avLst/>
          </a:prstGeom>
          <a:solidFill>
            <a:srgbClr val="F2F2F2"/>
          </a:solidFill>
          <a:ln w="6350">
            <a:solidFill>
              <a:srgbClr val="D9D9D9"/>
            </a:solidFill>
          </a:ln>
        </p:spPr>
        <p:txBody>
          <a:bodyPr rtlCol="0" anchor="ctr"/>
          <a:lstStyle/>
          <a:p>
            <a:pPr algn="ctr"/>
          </a:p>
        </p:txBody>
      </p:sp>
      <p:sp>
        <p:nvSpPr>
          <p:cNvPr id="14" name="Text 1994"/>
          <p:cNvSpPr txBox="1"/>
          <p:nvPr/>
        </p:nvSpPr>
        <p:spPr>
          <a:xfrm>
            <a:off x="5373586" y="1405522"/>
            <a:ext cx="1374343" cy="146342"/>
          </a:xfrm>
          <a:prstGeom prst="rect">
            <a:avLst/>
          </a:prstGeom>
          <a:noFill/>
        </p:spPr>
        <p:txBody>
          <a:bodyPr wrap="square" lIns="0" rIns="0" tIns="0" bIns="0" anchor="t">
            <a:noAutofit/>
          </a:bodyPr>
          <a:lstStyle/>
          <a:p>
            <a:pPr algn="l">
              <a:lnSpc>
                <a:spcPct val="90000"/>
              </a:lnSpc>
            </a:pPr>
            <a:r>
              <a:rPr sz="800" b="1" lang="en-US">
                <a:solidFill>
                  <a:srgbClr val="9E9E9E"/>
                </a:solidFill>
                <a:latin typeface="Arial"/>
              </a:rPr>
              <a:t>TEXT</a:t>
            </a:r>
            <a:endParaRPr lang="en-US" sz="800"/>
          </a:p>
        </p:txBody>
      </p:sp>
      <p:sp>
        <p:nvSpPr>
          <p:cNvPr id="15" name="Text 1998"/>
          <p:cNvSpPr txBox="1"/>
          <p:nvPr/>
        </p:nvSpPr>
        <p:spPr>
          <a:xfrm>
            <a:off x="5373586" y="1609128"/>
            <a:ext cx="1425245" cy="254508"/>
          </a:xfrm>
          <a:prstGeom prst="rect">
            <a:avLst/>
          </a:prstGeom>
          <a:noFill/>
        </p:spPr>
        <p:txBody>
          <a:bodyPr wrap="square" lIns="0" rIns="0" tIns="0" bIns="0" anchor="t">
            <a:noAutofit/>
          </a:bodyPr>
          <a:lstStyle/>
          <a:p>
            <a:pPr algn="l">
              <a:lnSpc>
                <a:spcPct val="90000"/>
              </a:lnSpc>
            </a:pPr>
            <a:r>
              <a:rPr sz="1400" b="1" lang="en-US">
                <a:solidFill>
                  <a:srgbClr val="9E9E9E"/>
                </a:solidFill>
                <a:latin typeface="Arial"/>
              </a:rPr>
              <a:t>Rich caption</a:t>
            </a:r>
            <a:endParaRPr lang="en-US" sz="1400" b="1"/>
          </a:p>
        </p:txBody>
      </p:sp>
      <p:sp>
        <p:nvSpPr>
          <p:cNvPr id="16" name="ShapeInfo 2002"/>
          <p:cNvSpPr/>
          <p:nvPr/>
        </p:nvSpPr>
        <p:spPr>
          <a:xfrm>
            <a:off x="6926085" y="1558226"/>
            <a:ext cx="184518" cy="133617"/>
          </a:xfrm>
          <a:prstGeom prst="rightArrow">
            <a:avLst/>
          </a:prstGeom>
          <a:solidFill>
            <a:srgbClr val="C4C4C4"/>
          </a:solidFill>
          <a:ln>
            <a:noFill/>
          </a:ln>
        </p:spPr>
        <p:txBody>
          <a:bodyPr rtlCol="0" anchor="ctr"/>
          <a:lstStyle/>
          <a:p>
            <a:pPr algn="ctr"/>
          </a:p>
        </p:txBody>
      </p:sp>
      <p:sp>
        <p:nvSpPr>
          <p:cNvPr id="17" name="ShapeInfo 2006"/>
          <p:cNvSpPr/>
          <p:nvPr/>
        </p:nvSpPr>
        <p:spPr>
          <a:xfrm>
            <a:off x="7174230" y="1303718"/>
            <a:ext cx="1603400" cy="636270"/>
          </a:xfrm>
          <a:prstGeom prst="rect">
            <a:avLst/>
          </a:prstGeom>
          <a:solidFill>
            <a:srgbClr val="F2F2F2"/>
          </a:solidFill>
          <a:ln w="6350">
            <a:solidFill>
              <a:srgbClr val="D9D9D9"/>
            </a:solidFill>
          </a:ln>
        </p:spPr>
        <p:txBody>
          <a:bodyPr rtlCol="0" anchor="ctr"/>
          <a:lstStyle/>
          <a:p>
            <a:pPr algn="ctr"/>
          </a:p>
        </p:txBody>
      </p:sp>
      <p:sp>
        <p:nvSpPr>
          <p:cNvPr id="18" name="Text 2010"/>
          <p:cNvSpPr txBox="1"/>
          <p:nvPr/>
        </p:nvSpPr>
        <p:spPr>
          <a:xfrm>
            <a:off x="7282396" y="1405522"/>
            <a:ext cx="1374343" cy="146342"/>
          </a:xfrm>
          <a:prstGeom prst="rect">
            <a:avLst/>
          </a:prstGeom>
          <a:noFill/>
        </p:spPr>
        <p:txBody>
          <a:bodyPr wrap="square" lIns="0" rIns="0" tIns="0" bIns="0" anchor="t">
            <a:noAutofit/>
          </a:bodyPr>
          <a:lstStyle/>
          <a:p>
            <a:pPr algn="l">
              <a:lnSpc>
                <a:spcPct val="90000"/>
              </a:lnSpc>
            </a:pPr>
            <a:r>
              <a:rPr sz="800" b="1" lang="en-US">
                <a:solidFill>
                  <a:srgbClr val="9E9E9E"/>
                </a:solidFill>
                <a:latin typeface="Arial"/>
              </a:rPr>
              <a:t>AUDIO</a:t>
            </a:r>
            <a:endParaRPr lang="en-US" sz="800"/>
          </a:p>
        </p:txBody>
      </p:sp>
      <p:sp>
        <p:nvSpPr>
          <p:cNvPr id="19" name="Text 2014"/>
          <p:cNvSpPr txBox="1"/>
          <p:nvPr/>
        </p:nvSpPr>
        <p:spPr>
          <a:xfrm>
            <a:off x="7282396" y="1609128"/>
            <a:ext cx="1425245" cy="254508"/>
          </a:xfrm>
          <a:prstGeom prst="rect">
            <a:avLst/>
          </a:prstGeom>
          <a:noFill/>
        </p:spPr>
        <p:txBody>
          <a:bodyPr wrap="square" lIns="0" rIns="0" tIns="0" bIns="0" anchor="t">
            <a:noAutofit/>
          </a:bodyPr>
          <a:lstStyle/>
          <a:p>
            <a:pPr algn="l">
              <a:lnSpc>
                <a:spcPct val="90000"/>
              </a:lnSpc>
            </a:pPr>
            <a:r>
              <a:rPr sz="1400" b="1" lang="en-US">
                <a:solidFill>
                  <a:srgbClr val="9E9E9E"/>
                </a:solidFill>
                <a:latin typeface="Arial"/>
              </a:rPr>
              <a:t>Audio</a:t>
            </a:r>
            <a:endParaRPr lang="en-US" sz="1400" b="1"/>
          </a:p>
        </p:txBody>
      </p:sp>
      <p:sp>
        <p:nvSpPr>
          <p:cNvPr id="20" name="Text 2018"/>
          <p:cNvSpPr txBox="1"/>
          <p:nvPr/>
        </p:nvSpPr>
        <p:spPr>
          <a:xfrm>
            <a:off x="1447800" y="2112353"/>
            <a:ext cx="3054096" cy="184518"/>
          </a:xfrm>
          <a:prstGeom prst="rect">
            <a:avLst/>
          </a:prstGeom>
          <a:noFill/>
        </p:spPr>
        <p:txBody>
          <a:bodyPr wrap="square" lIns="0" rIns="0" tIns="0" bIns="0" anchor="t">
            <a:noAutofit/>
          </a:bodyPr>
          <a:lstStyle/>
          <a:p>
            <a:pPr algn="l">
              <a:lnSpc>
                <a:spcPct val="90000"/>
              </a:lnSpc>
            </a:pPr>
            <a:r>
              <a:rPr sz="850" b="1" lang="en-US">
                <a:solidFill>
                  <a:srgbClr val="666666"/>
                </a:solidFill>
                <a:latin typeface="Arial"/>
              </a:rPr>
              <a:t>REQUEST CONSTRAINT</a:t>
            </a:r>
            <a:endParaRPr lang="en-US" sz="850"/>
          </a:p>
        </p:txBody>
      </p:sp>
      <p:sp>
        <p:nvSpPr>
          <p:cNvPr id="21" name="Text 2022"/>
          <p:cNvSpPr txBox="1"/>
          <p:nvPr/>
        </p:nvSpPr>
        <p:spPr>
          <a:xfrm>
            <a:off x="5526291" y="2112353"/>
            <a:ext cx="3251340" cy="184518"/>
          </a:xfrm>
          <a:prstGeom prst="rect">
            <a:avLst/>
          </a:prstGeom>
          <a:noFill/>
        </p:spPr>
        <p:txBody>
          <a:bodyPr wrap="square" lIns="0" rIns="0" tIns="0" bIns="0" anchor="t">
            <a:noAutofit/>
          </a:bodyPr>
          <a:lstStyle/>
          <a:p>
            <a:pPr algn="l">
              <a:lnSpc>
                <a:spcPct val="90000"/>
              </a:lnSpc>
            </a:pPr>
            <a:r>
              <a:rPr sz="850" b="1" lang="en-US">
                <a:solidFill>
                  <a:srgbClr val="AD132A"/>
                </a:solidFill>
                <a:latin typeface="Arial"/>
              </a:rPr>
              <a:t>PLANNING CHOICE</a:t>
            </a:r>
            <a:endParaRPr lang="en-US" sz="850"/>
          </a:p>
        </p:txBody>
      </p:sp>
      <p:sp>
        <p:nvSpPr>
          <p:cNvPr id="22" name="Text 2026"/>
          <p:cNvSpPr txBox="1"/>
          <p:nvPr/>
        </p:nvSpPr>
        <p:spPr>
          <a:xfrm>
            <a:off x="1447800" y="2398674"/>
            <a:ext cx="3149536" cy="477203"/>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Ask for help without</a:t>
            </a:r>
            <a:endParaRPr lang="en-US" sz="1400"/>
          </a:p>
          <a:p>
            <a:pPr algn="l">
              <a:lnSpc>
                <a:spcPct val="90000"/>
              </a:lnSpc>
            </a:pPr>
            <a:r>
              <a:rPr sz="1400" b="0" lang="en-US">
                <a:solidFill>
                  <a:srgbClr val="434343"/>
                </a:solidFill>
                <a:latin typeface="Arial"/>
              </a:rPr>
              <a:t>sounding desperate</a:t>
            </a:r>
            <a:endParaRPr lang="en-US" sz="1400"/>
          </a:p>
        </p:txBody>
      </p:sp>
      <p:sp>
        <p:nvSpPr>
          <p:cNvPr id="23" name="ShapeInfo 2030"/>
          <p:cNvSpPr/>
          <p:nvPr/>
        </p:nvSpPr>
        <p:spPr>
          <a:xfrm>
            <a:off x="4877295" y="2481390"/>
            <a:ext cx="248145" cy="152705"/>
          </a:xfrm>
          <a:prstGeom prst="rightArrow">
            <a:avLst/>
          </a:prstGeom>
          <a:solidFill>
            <a:srgbClr val="AD132A"/>
          </a:solidFill>
          <a:ln>
            <a:noFill/>
          </a:ln>
        </p:spPr>
        <p:txBody>
          <a:bodyPr rtlCol="0" anchor="ctr"/>
          <a:lstStyle/>
          <a:p>
            <a:pPr algn="ctr"/>
          </a:p>
        </p:txBody>
      </p:sp>
      <p:sp>
        <p:nvSpPr>
          <p:cNvPr id="24" name="Text 2034"/>
          <p:cNvSpPr txBox="1"/>
          <p:nvPr/>
        </p:nvSpPr>
        <p:spPr>
          <a:xfrm>
            <a:off x="5526291" y="2398674"/>
            <a:ext cx="3251340" cy="489928"/>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Choose a polite modal question:</a:t>
            </a:r>
            <a:endParaRPr lang="en-US" sz="1400"/>
          </a:p>
          <a:p>
            <a:pPr algn="l">
              <a:lnSpc>
                <a:spcPct val="90000"/>
              </a:lnSpc>
            </a:pPr>
            <a:r>
              <a:rPr sz="1400" b="0" lang="en-US">
                <a:solidFill>
                  <a:srgbClr val="434343"/>
                </a:solidFill>
                <a:latin typeface="Arial"/>
              </a:rPr>
              <a:t>"could you make it for me?"</a:t>
            </a:r>
            <a:endParaRPr lang="en-US" sz="1400"/>
          </a:p>
        </p:txBody>
      </p:sp>
      <p:cxnSp>
        <p:nvCxnSpPr>
          <p:cNvPr id="25" name="ShapeInfo 2038"/>
          <p:cNvCxnSpPr/>
          <p:nvPr/>
        </p:nvCxnSpPr>
        <p:spPr>
          <a:xfrm>
            <a:off x="1447800" y="2875877"/>
            <a:ext cx="7329830" cy="0"/>
          </a:xfrm>
          <a:prstGeom prst="line">
            <a:avLst/>
          </a:prstGeom>
          <a:ln w="9525">
            <a:solidFill>
              <a:srgbClr val="D9D9D9"/>
            </a:solidFill>
          </a:ln>
        </p:spPr>
      </p:cxnSp>
      <p:sp>
        <p:nvSpPr>
          <p:cNvPr id="26" name="Text 2042"/>
          <p:cNvSpPr txBox="1"/>
          <p:nvPr/>
        </p:nvSpPr>
        <p:spPr>
          <a:xfrm>
            <a:off x="1447800" y="2939504"/>
            <a:ext cx="3149536" cy="477203"/>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Nervous and a bit stuttery</a:t>
            </a:r>
            <a:endParaRPr lang="en-US" sz="1400"/>
          </a:p>
        </p:txBody>
      </p:sp>
      <p:sp>
        <p:nvSpPr>
          <p:cNvPr id="27" name="ShapeInfo 2046"/>
          <p:cNvSpPr/>
          <p:nvPr/>
        </p:nvSpPr>
        <p:spPr>
          <a:xfrm>
            <a:off x="4877295" y="3022219"/>
            <a:ext cx="248145" cy="152705"/>
          </a:xfrm>
          <a:prstGeom prst="rightArrow">
            <a:avLst/>
          </a:prstGeom>
          <a:solidFill>
            <a:srgbClr val="AD132A"/>
          </a:solidFill>
          <a:ln>
            <a:noFill/>
          </a:ln>
        </p:spPr>
        <p:txBody>
          <a:bodyPr rtlCol="0" anchor="ctr"/>
          <a:lstStyle/>
          <a:p>
            <a:pPr algn="ctr"/>
          </a:p>
        </p:txBody>
      </p:sp>
      <p:sp>
        <p:nvSpPr>
          <p:cNvPr id="28" name="Text 2050"/>
          <p:cNvSpPr txBox="1"/>
          <p:nvPr/>
        </p:nvSpPr>
        <p:spPr>
          <a:xfrm>
            <a:off x="5526291" y="2939504"/>
            <a:ext cx="3251340" cy="48992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Insert a hesitation: "um"</a:t>
            </a:r>
            <a:endParaRPr lang="en-US" sz="1400"/>
          </a:p>
        </p:txBody>
      </p:sp>
      <p:cxnSp>
        <p:nvCxnSpPr>
          <p:cNvPr id="29" name="ShapeInfo 2054"/>
          <p:cNvCxnSpPr/>
          <p:nvPr/>
        </p:nvCxnSpPr>
        <p:spPr>
          <a:xfrm>
            <a:off x="1447800" y="3416706"/>
            <a:ext cx="7329830" cy="0"/>
          </a:xfrm>
          <a:prstGeom prst="line">
            <a:avLst/>
          </a:prstGeom>
          <a:ln w="9525">
            <a:solidFill>
              <a:srgbClr val="D9D9D9"/>
            </a:solidFill>
          </a:ln>
        </p:spPr>
      </p:cxnSp>
      <p:sp>
        <p:nvSpPr>
          <p:cNvPr id="30" name="Text 2058"/>
          <p:cNvSpPr txBox="1"/>
          <p:nvPr/>
        </p:nvSpPr>
        <p:spPr>
          <a:xfrm>
            <a:off x="1447800" y="3480333"/>
            <a:ext cx="3149536" cy="477203"/>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Gentle delivery</a:t>
            </a:r>
            <a:endParaRPr lang="en-US" sz="1400"/>
          </a:p>
        </p:txBody>
      </p:sp>
      <p:sp>
        <p:nvSpPr>
          <p:cNvPr id="31" name="ShapeInfo 2062"/>
          <p:cNvSpPr/>
          <p:nvPr/>
        </p:nvSpPr>
        <p:spPr>
          <a:xfrm>
            <a:off x="4877295" y="3563048"/>
            <a:ext cx="248145" cy="152705"/>
          </a:xfrm>
          <a:prstGeom prst="rightArrow">
            <a:avLst/>
          </a:prstGeom>
          <a:solidFill>
            <a:srgbClr val="AD132A"/>
          </a:solidFill>
          <a:ln>
            <a:noFill/>
          </a:ln>
        </p:spPr>
        <p:txBody>
          <a:bodyPr rtlCol="0" anchor="ctr"/>
          <a:lstStyle/>
          <a:p>
            <a:pPr algn="ctr"/>
          </a:p>
        </p:txBody>
      </p:sp>
      <p:sp>
        <p:nvSpPr>
          <p:cNvPr id="32" name="Text 2066"/>
          <p:cNvSpPr txBox="1"/>
          <p:nvPr/>
        </p:nvSpPr>
        <p:spPr>
          <a:xfrm>
            <a:off x="5526291" y="3480333"/>
            <a:ext cx="3251340" cy="489928"/>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Use slow, breathy speech</a:t>
            </a:r>
            <a:endParaRPr lang="en-US" sz="1400"/>
          </a:p>
          <a:p>
            <a:pPr algn="l">
              <a:lnSpc>
                <a:spcPct val="90000"/>
              </a:lnSpc>
            </a:pPr>
            <a:r>
              <a:rPr sz="1400" b="0" lang="en-US">
                <a:solidFill>
                  <a:srgbClr val="434343"/>
                </a:solidFill>
                <a:latin typeface="Arial"/>
              </a:rPr>
              <a:t>and a rising final intonation</a:t>
            </a:r>
            <a:endParaRPr lang="en-US" sz="1400"/>
          </a:p>
        </p:txBody>
      </p:sp>
      <p:sp>
        <p:nvSpPr>
          <p:cNvPr id="33" name="ShapeInfo 2070"/>
          <p:cNvSpPr/>
          <p:nvPr/>
        </p:nvSpPr>
        <p:spPr>
          <a:xfrm>
            <a:off x="1447800" y="4110241"/>
            <a:ext cx="7329830" cy="299047"/>
          </a:xfrm>
          <a:prstGeom prst="rect">
            <a:avLst/>
          </a:prstGeom>
          <a:solidFill>
            <a:srgbClr val="F8ECEE"/>
          </a:solidFill>
          <a:ln>
            <a:noFill/>
          </a:ln>
        </p:spPr>
        <p:txBody>
          <a:bodyPr rtlCol="0" anchor="ctr"/>
          <a:lstStyle/>
          <a:p>
            <a:pPr algn="ctr"/>
          </a:p>
        </p:txBody>
      </p:sp>
      <p:sp>
        <p:nvSpPr>
          <p:cNvPr id="34" name="Text 2074"/>
          <p:cNvSpPr txBox="1"/>
          <p:nvPr/>
        </p:nvSpPr>
        <p:spPr>
          <a:xfrm>
            <a:off x="1543240" y="4173868"/>
            <a:ext cx="7113499" cy="254508"/>
          </a:xfrm>
          <a:prstGeom prst="rect">
            <a:avLst/>
          </a:prstGeom>
          <a:noFill/>
        </p:spPr>
        <p:txBody>
          <a:bodyPr wrap="square" lIns="0" rIns="0" tIns="0" bIns="0" anchor="t">
            <a:noAutofit/>
          </a:bodyPr>
          <a:lstStyle/>
          <a:p>
            <a:pPr algn="l">
              <a:lnSpc>
                <a:spcPct val="90000"/>
              </a:lnSpc>
            </a:pPr>
            <a:r>
              <a:rPr sz="1350" b="1" lang="en-US">
                <a:solidFill>
                  <a:srgbClr val="AD132A"/>
                </a:solidFill>
                <a:latin typeface="Arial"/>
              </a:rPr>
              <a:t>Selected text: "I have a little order, um, could you make it for me?"</a:t>
            </a:r>
            <a:endParaRPr lang="en-US" sz="1350"/>
          </a:p>
        </p:txBody>
      </p:sp>
      <p:sp>
        <p:nvSpPr>
          <p:cNvPr id="35" name="Slide Number 6"/>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6</a:t>
            </a:fld>
            <a:endParaRPr sz="900" b="0">
              <a:solidFill>
                <a:srgbClr val="777777"/>
              </a:solidFill>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Planning</a:t>
            </a:r>
            <a:r>
              <a:rPr sz="2400" b="1" lang="en-US">
                <a:solidFill>
                  <a:srgbClr val="AD132A"/>
                </a:solidFill>
                <a:latin typeface="Arial"/>
              </a:rPr>
              <a:t>  →  </a:t>
            </a:r>
            <a:r>
              <a:rPr sz="2400" lang="en-US" b="1"/>
              <a:t>Rich caption</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2. Method</a:t>
            </a:r>
          </a:p>
        </p:txBody>
      </p:sp>
      <p:sp>
        <p:nvSpPr>
          <p:cNvPr id="5" name="ShapeInfo 2098"/>
          <p:cNvSpPr/>
          <p:nvPr/>
        </p:nvSpPr>
        <p:spPr>
          <a:xfrm>
            <a:off x="1447800" y="1304036"/>
            <a:ext cx="1603400" cy="636270"/>
          </a:xfrm>
          <a:prstGeom prst="rect">
            <a:avLst/>
          </a:prstGeom>
          <a:solidFill>
            <a:srgbClr val="F2F2F2"/>
          </a:solidFill>
          <a:ln w="6350">
            <a:solidFill>
              <a:srgbClr val="D9D9D9"/>
            </a:solidFill>
          </a:ln>
        </p:spPr>
        <p:txBody>
          <a:bodyPr rtlCol="0" anchor="ctr"/>
          <a:lstStyle/>
          <a:p>
            <a:pPr algn="ctr"/>
          </a:p>
        </p:txBody>
      </p:sp>
      <p:sp>
        <p:nvSpPr>
          <p:cNvPr id="6" name="Text 2102"/>
          <p:cNvSpPr txBox="1"/>
          <p:nvPr/>
        </p:nvSpPr>
        <p:spPr>
          <a:xfrm>
            <a:off x="1555966" y="1405839"/>
            <a:ext cx="1374343" cy="146342"/>
          </a:xfrm>
          <a:prstGeom prst="rect">
            <a:avLst/>
          </a:prstGeom>
          <a:noFill/>
        </p:spPr>
        <p:txBody>
          <a:bodyPr wrap="square" lIns="0" rIns="0" tIns="0" bIns="0" anchor="t">
            <a:noAutofit/>
          </a:bodyPr>
          <a:lstStyle/>
          <a:p>
            <a:pPr algn="l">
              <a:lnSpc>
                <a:spcPct val="90000"/>
              </a:lnSpc>
            </a:pPr>
            <a:r>
              <a:rPr sz="800" b="1" lang="en-US">
                <a:solidFill>
                  <a:srgbClr val="9E9E9E"/>
                </a:solidFill>
                <a:latin typeface="Arial"/>
              </a:rPr>
              <a:t>TEXT</a:t>
            </a:r>
            <a:endParaRPr lang="en-US" sz="800"/>
          </a:p>
        </p:txBody>
      </p:sp>
      <p:sp>
        <p:nvSpPr>
          <p:cNvPr id="7" name="Text 2106"/>
          <p:cNvSpPr txBox="1"/>
          <p:nvPr/>
        </p:nvSpPr>
        <p:spPr>
          <a:xfrm>
            <a:off x="1555966" y="1609446"/>
            <a:ext cx="1425245" cy="254508"/>
          </a:xfrm>
          <a:prstGeom prst="rect">
            <a:avLst/>
          </a:prstGeom>
          <a:noFill/>
        </p:spPr>
        <p:txBody>
          <a:bodyPr wrap="square" lIns="0" rIns="0" tIns="0" bIns="0" anchor="t">
            <a:noAutofit/>
          </a:bodyPr>
          <a:lstStyle/>
          <a:p>
            <a:pPr algn="l">
              <a:lnSpc>
                <a:spcPct val="90000"/>
              </a:lnSpc>
            </a:pPr>
            <a:r>
              <a:rPr sz="1400" b="1" lang="en-US">
                <a:solidFill>
                  <a:srgbClr val="9E9E9E"/>
                </a:solidFill>
                <a:latin typeface="Arial"/>
              </a:rPr>
              <a:t>User request</a:t>
            </a:r>
            <a:endParaRPr lang="en-US" sz="1400" b="1"/>
          </a:p>
        </p:txBody>
      </p:sp>
      <p:sp>
        <p:nvSpPr>
          <p:cNvPr id="8" name="ShapeInfo 2110"/>
          <p:cNvSpPr/>
          <p:nvPr/>
        </p:nvSpPr>
        <p:spPr>
          <a:xfrm>
            <a:off x="3108465" y="1558544"/>
            <a:ext cx="184518" cy="133617"/>
          </a:xfrm>
          <a:prstGeom prst="rightArrow">
            <a:avLst/>
          </a:prstGeom>
          <a:solidFill>
            <a:srgbClr val="C4C4C4"/>
          </a:solidFill>
          <a:ln>
            <a:noFill/>
          </a:ln>
        </p:spPr>
        <p:txBody>
          <a:bodyPr rtlCol="0" anchor="ctr"/>
          <a:lstStyle/>
          <a:p>
            <a:pPr algn="ctr"/>
          </a:p>
        </p:txBody>
      </p:sp>
      <p:sp>
        <p:nvSpPr>
          <p:cNvPr id="9" name="ShapeInfo 2114"/>
          <p:cNvSpPr/>
          <p:nvPr/>
        </p:nvSpPr>
        <p:spPr>
          <a:xfrm>
            <a:off x="3356610" y="1304036"/>
            <a:ext cx="1603400" cy="636270"/>
          </a:xfrm>
          <a:prstGeom prst="rect">
            <a:avLst/>
          </a:prstGeom>
          <a:solidFill>
            <a:srgbClr val="F8ECEE"/>
          </a:solidFill>
          <a:ln w="12700">
            <a:solidFill>
              <a:srgbClr val="AD132A"/>
            </a:solidFill>
          </a:ln>
        </p:spPr>
        <p:txBody>
          <a:bodyPr rtlCol="0" anchor="ctr"/>
          <a:lstStyle/>
          <a:p>
            <a:pPr algn="ctr"/>
          </a:p>
        </p:txBody>
      </p:sp>
      <p:sp>
        <p:nvSpPr>
          <p:cNvPr id="10" name="Text 2118"/>
          <p:cNvSpPr txBox="1"/>
          <p:nvPr/>
        </p:nvSpPr>
        <p:spPr>
          <a:xfrm>
            <a:off x="3464776" y="1405839"/>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TEXT</a:t>
            </a:r>
            <a:endParaRPr lang="en-US" sz="800"/>
          </a:p>
        </p:txBody>
      </p:sp>
      <p:sp>
        <p:nvSpPr>
          <p:cNvPr id="11" name="Text 2122"/>
          <p:cNvSpPr txBox="1"/>
          <p:nvPr/>
        </p:nvSpPr>
        <p:spPr>
          <a:xfrm>
            <a:off x="3464776" y="1609446"/>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Planning</a:t>
            </a:r>
            <a:endParaRPr lang="en-US" sz="1400" b="1"/>
          </a:p>
        </p:txBody>
      </p:sp>
      <p:sp>
        <p:nvSpPr>
          <p:cNvPr id="12" name="ShapeInfo 2126"/>
          <p:cNvSpPr/>
          <p:nvPr/>
        </p:nvSpPr>
        <p:spPr>
          <a:xfrm>
            <a:off x="5017275" y="1558544"/>
            <a:ext cx="184518" cy="133617"/>
          </a:xfrm>
          <a:prstGeom prst="rightArrow">
            <a:avLst/>
          </a:prstGeom>
          <a:solidFill>
            <a:srgbClr val="AD132A"/>
          </a:solidFill>
          <a:ln>
            <a:noFill/>
          </a:ln>
        </p:spPr>
        <p:txBody>
          <a:bodyPr rtlCol="0" anchor="ctr"/>
          <a:lstStyle/>
          <a:p>
            <a:pPr algn="ctr"/>
          </a:p>
        </p:txBody>
      </p:sp>
      <p:sp>
        <p:nvSpPr>
          <p:cNvPr id="13" name="ShapeInfo 2130"/>
          <p:cNvSpPr/>
          <p:nvPr/>
        </p:nvSpPr>
        <p:spPr>
          <a:xfrm>
            <a:off x="5265420" y="1304036"/>
            <a:ext cx="1603400" cy="636270"/>
          </a:xfrm>
          <a:prstGeom prst="rect">
            <a:avLst/>
          </a:prstGeom>
          <a:solidFill>
            <a:srgbClr val="F8ECEE"/>
          </a:solidFill>
          <a:ln w="12700">
            <a:solidFill>
              <a:srgbClr val="AD132A"/>
            </a:solidFill>
          </a:ln>
        </p:spPr>
        <p:txBody>
          <a:bodyPr rtlCol="0" anchor="ctr"/>
          <a:lstStyle/>
          <a:p>
            <a:pPr algn="ctr"/>
          </a:p>
        </p:txBody>
      </p:sp>
      <p:sp>
        <p:nvSpPr>
          <p:cNvPr id="14" name="Text 2134"/>
          <p:cNvSpPr txBox="1"/>
          <p:nvPr/>
        </p:nvSpPr>
        <p:spPr>
          <a:xfrm>
            <a:off x="5373586" y="1405839"/>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TEXT</a:t>
            </a:r>
            <a:endParaRPr lang="en-US" sz="800"/>
          </a:p>
        </p:txBody>
      </p:sp>
      <p:sp>
        <p:nvSpPr>
          <p:cNvPr id="15" name="Text 2138"/>
          <p:cNvSpPr txBox="1"/>
          <p:nvPr/>
        </p:nvSpPr>
        <p:spPr>
          <a:xfrm>
            <a:off x="5373586" y="1609446"/>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Rich caption</a:t>
            </a:r>
            <a:endParaRPr lang="en-US" sz="1400" b="1"/>
          </a:p>
        </p:txBody>
      </p:sp>
      <p:sp>
        <p:nvSpPr>
          <p:cNvPr id="16" name="ShapeInfo 2142"/>
          <p:cNvSpPr/>
          <p:nvPr/>
        </p:nvSpPr>
        <p:spPr>
          <a:xfrm>
            <a:off x="6926085" y="1558544"/>
            <a:ext cx="184518" cy="133617"/>
          </a:xfrm>
          <a:prstGeom prst="rightArrow">
            <a:avLst/>
          </a:prstGeom>
          <a:solidFill>
            <a:srgbClr val="C4C4C4"/>
          </a:solidFill>
          <a:ln>
            <a:noFill/>
          </a:ln>
        </p:spPr>
        <p:txBody>
          <a:bodyPr rtlCol="0" anchor="ctr"/>
          <a:lstStyle/>
          <a:p>
            <a:pPr algn="ctr"/>
          </a:p>
        </p:txBody>
      </p:sp>
      <p:sp>
        <p:nvSpPr>
          <p:cNvPr id="17" name="ShapeInfo 2146"/>
          <p:cNvSpPr/>
          <p:nvPr/>
        </p:nvSpPr>
        <p:spPr>
          <a:xfrm>
            <a:off x="7174230" y="1304036"/>
            <a:ext cx="1603400" cy="636270"/>
          </a:xfrm>
          <a:prstGeom prst="rect">
            <a:avLst/>
          </a:prstGeom>
          <a:solidFill>
            <a:srgbClr val="F2F2F2"/>
          </a:solidFill>
          <a:ln w="6350">
            <a:solidFill>
              <a:srgbClr val="D9D9D9"/>
            </a:solidFill>
          </a:ln>
        </p:spPr>
        <p:txBody>
          <a:bodyPr rtlCol="0" anchor="ctr"/>
          <a:lstStyle/>
          <a:p>
            <a:pPr algn="ctr"/>
          </a:p>
        </p:txBody>
      </p:sp>
      <p:sp>
        <p:nvSpPr>
          <p:cNvPr id="18" name="Text 2150"/>
          <p:cNvSpPr txBox="1"/>
          <p:nvPr/>
        </p:nvSpPr>
        <p:spPr>
          <a:xfrm>
            <a:off x="7282396" y="1405839"/>
            <a:ext cx="1374343" cy="146342"/>
          </a:xfrm>
          <a:prstGeom prst="rect">
            <a:avLst/>
          </a:prstGeom>
          <a:noFill/>
        </p:spPr>
        <p:txBody>
          <a:bodyPr wrap="square" lIns="0" rIns="0" tIns="0" bIns="0" anchor="t">
            <a:noAutofit/>
          </a:bodyPr>
          <a:lstStyle/>
          <a:p>
            <a:pPr algn="l">
              <a:lnSpc>
                <a:spcPct val="90000"/>
              </a:lnSpc>
            </a:pPr>
            <a:r>
              <a:rPr sz="800" b="1" lang="en-US">
                <a:solidFill>
                  <a:srgbClr val="9E9E9E"/>
                </a:solidFill>
                <a:latin typeface="Arial"/>
              </a:rPr>
              <a:t>AUDIO</a:t>
            </a:r>
            <a:endParaRPr lang="en-US" sz="800"/>
          </a:p>
        </p:txBody>
      </p:sp>
      <p:sp>
        <p:nvSpPr>
          <p:cNvPr id="19" name="Text 2154"/>
          <p:cNvSpPr txBox="1"/>
          <p:nvPr/>
        </p:nvSpPr>
        <p:spPr>
          <a:xfrm>
            <a:off x="7282396" y="1609446"/>
            <a:ext cx="1425245" cy="254508"/>
          </a:xfrm>
          <a:prstGeom prst="rect">
            <a:avLst/>
          </a:prstGeom>
          <a:noFill/>
        </p:spPr>
        <p:txBody>
          <a:bodyPr wrap="square" lIns="0" rIns="0" tIns="0" bIns="0" anchor="t">
            <a:noAutofit/>
          </a:bodyPr>
          <a:lstStyle/>
          <a:p>
            <a:pPr algn="l">
              <a:lnSpc>
                <a:spcPct val="90000"/>
              </a:lnSpc>
            </a:pPr>
            <a:r>
              <a:rPr sz="1400" b="1" lang="en-US">
                <a:solidFill>
                  <a:srgbClr val="9E9E9E"/>
                </a:solidFill>
                <a:latin typeface="Arial"/>
              </a:rPr>
              <a:t>Audio</a:t>
            </a:r>
            <a:endParaRPr lang="en-US" sz="1400" b="1"/>
          </a:p>
        </p:txBody>
      </p:sp>
      <p:sp>
        <p:nvSpPr>
          <p:cNvPr id="20" name="Text 2158"/>
          <p:cNvSpPr txBox="1"/>
          <p:nvPr/>
        </p:nvSpPr>
        <p:spPr>
          <a:xfrm>
            <a:off x="1447800" y="2252078"/>
            <a:ext cx="3149536" cy="178156"/>
          </a:xfrm>
          <a:prstGeom prst="rect">
            <a:avLst/>
          </a:prstGeom>
          <a:noFill/>
        </p:spPr>
        <p:txBody>
          <a:bodyPr wrap="square" lIns="0" rIns="0" tIns="0" bIns="0" anchor="t">
            <a:noAutofit/>
          </a:bodyPr>
          <a:lstStyle/>
          <a:p>
            <a:pPr algn="l">
              <a:lnSpc>
                <a:spcPct val="90000"/>
              </a:lnSpc>
            </a:pPr>
            <a:r>
              <a:rPr sz="850" b="1" lang="en-US">
                <a:solidFill>
                  <a:srgbClr val="666666"/>
                </a:solidFill>
                <a:latin typeface="Arial"/>
              </a:rPr>
              <a:t>WHAT THE PLAN DECIDES</a:t>
            </a:r>
            <a:endParaRPr lang="en-US" sz="850"/>
          </a:p>
        </p:txBody>
      </p:sp>
      <p:sp>
        <p:nvSpPr>
          <p:cNvPr id="21" name="Text 2162"/>
          <p:cNvSpPr txBox="1"/>
          <p:nvPr/>
        </p:nvSpPr>
        <p:spPr>
          <a:xfrm>
            <a:off x="5239969" y="2252078"/>
            <a:ext cx="3537661" cy="178156"/>
          </a:xfrm>
          <a:prstGeom prst="rect">
            <a:avLst/>
          </a:prstGeom>
          <a:noFill/>
        </p:spPr>
        <p:txBody>
          <a:bodyPr wrap="square" lIns="0" rIns="0" tIns="0" bIns="0" anchor="t">
            <a:noAutofit/>
          </a:bodyPr>
          <a:lstStyle/>
          <a:p>
            <a:pPr algn="l">
              <a:lnSpc>
                <a:spcPct val="90000"/>
              </a:lnSpc>
            </a:pPr>
            <a:r>
              <a:rPr sz="850" b="1" lang="en-US">
                <a:solidFill>
                  <a:srgbClr val="AD132A"/>
                </a:solidFill>
                <a:latin typeface="Arial"/>
              </a:rPr>
              <a:t>WHAT THE CAPTION DESCRIBES</a:t>
            </a:r>
            <a:endParaRPr lang="en-US" sz="850"/>
          </a:p>
        </p:txBody>
      </p:sp>
      <p:sp>
        <p:nvSpPr>
          <p:cNvPr id="22" name="Text 2166"/>
          <p:cNvSpPr txBox="1"/>
          <p:nvPr/>
        </p:nvSpPr>
        <p:spPr>
          <a:xfrm>
            <a:off x="1447800" y="2582939"/>
            <a:ext cx="3104998" cy="260871"/>
          </a:xfrm>
          <a:prstGeom prst="rect">
            <a:avLst/>
          </a:prstGeom>
          <a:noFill/>
        </p:spPr>
        <p:txBody>
          <a:bodyPr wrap="square" lIns="0" rIns="0" tIns="0" bIns="0" anchor="t">
            <a:noAutofit/>
          </a:bodyPr>
          <a:lstStyle/>
          <a:p>
            <a:pPr algn="l">
              <a:lnSpc>
                <a:spcPct val="90000"/>
              </a:lnSpc>
            </a:pPr>
            <a:r>
              <a:rPr sz="1450" b="1" lang="en-US">
                <a:solidFill>
                  <a:srgbClr val="AD132A"/>
                </a:solidFill>
                <a:latin typeface="Arial"/>
              </a:rPr>
              <a:t>The sentence</a:t>
            </a:r>
            <a:endParaRPr lang="en-US" sz="1450"/>
          </a:p>
        </p:txBody>
      </p:sp>
      <p:sp>
        <p:nvSpPr>
          <p:cNvPr id="23" name="Text 2170"/>
          <p:cNvSpPr txBox="1"/>
          <p:nvPr/>
        </p:nvSpPr>
        <p:spPr>
          <a:xfrm>
            <a:off x="1447800" y="2888348"/>
            <a:ext cx="3104998" cy="273596"/>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A polite request with "um"</a:t>
            </a:r>
            <a:endParaRPr lang="en-US" sz="1400"/>
          </a:p>
        </p:txBody>
      </p:sp>
      <p:sp>
        <p:nvSpPr>
          <p:cNvPr id="24" name="Text 2174"/>
          <p:cNvSpPr txBox="1"/>
          <p:nvPr/>
        </p:nvSpPr>
        <p:spPr>
          <a:xfrm>
            <a:off x="1447800" y="3403727"/>
            <a:ext cx="3104998" cy="260871"/>
          </a:xfrm>
          <a:prstGeom prst="rect">
            <a:avLst/>
          </a:prstGeom>
          <a:noFill/>
        </p:spPr>
        <p:txBody>
          <a:bodyPr wrap="square" lIns="0" rIns="0" tIns="0" bIns="0" anchor="t">
            <a:noAutofit/>
          </a:bodyPr>
          <a:lstStyle/>
          <a:p>
            <a:pPr algn="l">
              <a:lnSpc>
                <a:spcPct val="90000"/>
              </a:lnSpc>
            </a:pPr>
            <a:r>
              <a:rPr sz="1450" b="1" lang="en-US">
                <a:solidFill>
                  <a:srgbClr val="AD132A"/>
                </a:solidFill>
                <a:latin typeface="Arial"/>
              </a:rPr>
              <a:t>How to perform it</a:t>
            </a:r>
            <a:endParaRPr lang="en-US" sz="1450"/>
          </a:p>
        </p:txBody>
      </p:sp>
      <p:sp>
        <p:nvSpPr>
          <p:cNvPr id="25" name="Text 2178"/>
          <p:cNvSpPr txBox="1"/>
          <p:nvPr/>
        </p:nvSpPr>
        <p:spPr>
          <a:xfrm>
            <a:off x="1447800" y="3709137"/>
            <a:ext cx="3181350" cy="680809"/>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Slow and hesitant</a:t>
            </a:r>
            <a:endParaRPr lang="en-US" sz="1400"/>
          </a:p>
          <a:p>
            <a:pPr algn="l">
              <a:lnSpc>
                <a:spcPct val="90000"/>
              </a:lnSpc>
            </a:pPr>
            <a:r>
              <a:rPr sz="1400" b="0" lang="en-US">
                <a:solidFill>
                  <a:srgbClr val="434343"/>
                </a:solidFill>
                <a:latin typeface="Arial"/>
              </a:rPr>
              <a:t>Breathy voice</a:t>
            </a:r>
            <a:endParaRPr lang="en-US" sz="1400"/>
          </a:p>
          <a:p>
            <a:pPr algn="l">
              <a:lnSpc>
                <a:spcPct val="90000"/>
              </a:lnSpc>
            </a:pPr>
            <a:r>
              <a:rPr sz="1400" b="0" lang="en-US">
                <a:solidFill>
                  <a:srgbClr val="434343"/>
                </a:solidFill>
                <a:latin typeface="Arial"/>
              </a:rPr>
              <a:t>Rising final intonation</a:t>
            </a:r>
            <a:endParaRPr lang="en-US" sz="1400"/>
          </a:p>
        </p:txBody>
      </p:sp>
      <p:sp>
        <p:nvSpPr>
          <p:cNvPr id="26" name="ShapeInfo 2182"/>
          <p:cNvSpPr/>
          <p:nvPr/>
        </p:nvSpPr>
        <p:spPr>
          <a:xfrm>
            <a:off x="5093627" y="2525674"/>
            <a:ext cx="3684003" cy="1826095"/>
          </a:xfrm>
          <a:prstGeom prst="rect">
            <a:avLst/>
          </a:prstGeom>
          <a:solidFill>
            <a:srgbClr val="F8ECEE"/>
          </a:solidFill>
          <a:ln>
            <a:noFill/>
          </a:ln>
        </p:spPr>
        <p:txBody>
          <a:bodyPr rtlCol="0" anchor="ctr"/>
          <a:lstStyle/>
          <a:p>
            <a:pPr algn="ctr"/>
          </a:p>
        </p:txBody>
      </p:sp>
      <p:sp>
        <p:nvSpPr>
          <p:cNvPr id="27" name="Text 2186"/>
          <p:cNvSpPr txBox="1"/>
          <p:nvPr/>
        </p:nvSpPr>
        <p:spPr>
          <a:xfrm>
            <a:off x="5239969" y="2633840"/>
            <a:ext cx="3384956" cy="534467"/>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"I have a little order, um,</a:t>
            </a:r>
            <a:endParaRPr lang="en-US" sz="1400" b="1"/>
          </a:p>
          <a:p>
            <a:pPr algn="l">
              <a:lnSpc>
                <a:spcPct val="90000"/>
              </a:lnSpc>
            </a:pPr>
            <a:r>
              <a:rPr sz="1400" b="1" lang="en-US">
                <a:solidFill>
                  <a:srgbClr val="434343"/>
                </a:solidFill>
                <a:latin typeface="Arial"/>
              </a:rPr>
              <a:t>could you make it for me?"</a:t>
            </a:r>
            <a:endParaRPr lang="en-US" sz="1400" b="1"/>
          </a:p>
        </p:txBody>
      </p:sp>
      <p:sp>
        <p:nvSpPr>
          <p:cNvPr id="28" name="Text 2190"/>
          <p:cNvSpPr txBox="1"/>
          <p:nvPr/>
        </p:nvSpPr>
        <p:spPr>
          <a:xfrm>
            <a:off x="5239969" y="3301924"/>
            <a:ext cx="3384956" cy="986218"/>
          </a:xfrm>
          <a:prstGeom prst="rect">
            <a:avLst/>
          </a:prstGeom>
          <a:noFill/>
        </p:spPr>
        <p:txBody>
          <a:bodyPr wrap="square" lIns="0" rIns="0" tIns="0" bIns="0" anchor="t">
            <a:noAutofit/>
          </a:bodyPr>
          <a:lstStyle/>
          <a:p>
            <a:pPr algn="l">
              <a:lnSpc>
                <a:spcPct val="90000"/>
              </a:lnSpc>
            </a:pPr>
            <a:r>
              <a:rPr sz="1200" b="0" lang="en-US">
                <a:solidFill>
                  <a:srgbClr val="434343"/>
                </a:solidFill>
                <a:latin typeface="Arial"/>
              </a:rPr>
              <a:t>High-pitched, breathy, slightly tremulous voice.</a:t>
            </a:r>
            <a:endParaRPr lang="en-US" sz="1200"/>
          </a:p>
          <a:p>
            <a:pPr algn="l">
              <a:lnSpc>
                <a:spcPct val="90000"/>
              </a:lnSpc>
            </a:pPr>
            <a:r>
              <a:rPr sz="1200" b="0" lang="en-US">
                <a:solidFill>
                  <a:srgbClr val="434343"/>
                </a:solidFill>
                <a:latin typeface="Arial"/>
              </a:rPr>
              <a:t>Pauses around "um".</a:t>
            </a:r>
            <a:endParaRPr lang="en-US" sz="1200"/>
          </a:p>
          <a:p>
            <a:pPr algn="l">
              <a:lnSpc>
                <a:spcPct val="90000"/>
              </a:lnSpc>
            </a:pPr>
            <a:r>
              <a:rPr sz="1200" b="0" lang="en-US">
                <a:solidFill>
                  <a:srgbClr val="434343"/>
                </a:solidFill>
                <a:latin typeface="Arial"/>
              </a:rPr>
              <a:t>A rising inflection on "me".</a:t>
            </a:r>
            <a:endParaRPr lang="en-US" sz="1200"/>
          </a:p>
          <a:p>
            <a:pPr algn="l">
              <a:lnSpc>
                <a:spcPct val="90000"/>
              </a:lnSpc>
            </a:pPr>
            <a:r>
              <a:rPr sz="1200" b="0" lang="en-US">
                <a:solidFill>
                  <a:srgbClr val="434343"/>
                </a:solidFill>
                <a:latin typeface="Arial"/>
              </a:rPr>
              <a:t>A quiet, acoustically dry room.</a:t>
            </a:r>
            <a:endParaRPr lang="en-US" sz="1200"/>
          </a:p>
        </p:txBody>
      </p:sp>
      <p:sp>
        <p:nvSpPr>
          <p:cNvPr id="29" name="Text 2194"/>
          <p:cNvSpPr txBox="1"/>
          <p:nvPr/>
        </p:nvSpPr>
        <p:spPr>
          <a:xfrm>
            <a:off x="1447800" y="4667250"/>
            <a:ext cx="6353175" cy="304800"/>
          </a:xfrm>
          <a:prstGeom prst="rect">
            <a:avLst/>
          </a:prstGeom>
          <a:noFill/>
        </p:spPr>
        <p:txBody>
          <a:bodyPr wrap="square" lIns="0" rIns="0" tIns="0" bIns="0" anchor="t">
            <a:noAutofit/>
          </a:bodyPr>
          <a:lstStyle/>
          <a:p>
            <a:pPr algn="l">
              <a:lnSpc>
                <a:spcPct val="90000"/>
              </a:lnSpc>
            </a:pPr>
            <a:r>
              <a:rPr sz="850" b="0" lang="en-US">
                <a:solidFill>
                  <a:srgbClr val="666666"/>
                </a:solidFill>
                <a:latin typeface="Arial"/>
              </a:rPr>
              <a:t>Condensed from the same public demo trace. The caption specifies both the words and their acoustic realization.</a:t>
            </a:r>
            <a:endParaRPr lang="en-US" sz="850" b="0">
              <a:solidFill>
                <a:srgbClr val="666666"/>
              </a:solidFill>
            </a:endParaRPr>
          </a:p>
        </p:txBody>
      </p:sp>
      <p:sp>
        <p:nvSpPr>
          <p:cNvPr id="30" name="Slide Number 7"/>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7</a:t>
            </a:fld>
            <a:endParaRPr sz="900" b="0">
              <a:solidFill>
                <a:srgbClr val="777777"/>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Rich caption</a:t>
            </a:r>
            <a:r>
              <a:rPr sz="2400" b="1" lang="en-US">
                <a:solidFill>
                  <a:srgbClr val="AD132A"/>
                </a:solidFill>
                <a:latin typeface="Arial"/>
              </a:rPr>
              <a:t>  →  </a:t>
            </a:r>
            <a:r>
              <a:rPr sz="2400" lang="en-US" b="1"/>
              <a:t>Audio</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2. Method</a:t>
            </a:r>
          </a:p>
        </p:txBody>
      </p:sp>
      <p:sp>
        <p:nvSpPr>
          <p:cNvPr id="5" name="ShapeInfo 2218"/>
          <p:cNvSpPr/>
          <p:nvPr/>
        </p:nvSpPr>
        <p:spPr>
          <a:xfrm>
            <a:off x="1447800" y="1304036"/>
            <a:ext cx="1603400" cy="636270"/>
          </a:xfrm>
          <a:prstGeom prst="rect">
            <a:avLst/>
          </a:prstGeom>
          <a:solidFill>
            <a:srgbClr val="F2F2F2"/>
          </a:solidFill>
          <a:ln w="6350">
            <a:solidFill>
              <a:srgbClr val="D9D9D9"/>
            </a:solidFill>
          </a:ln>
        </p:spPr>
        <p:txBody>
          <a:bodyPr rtlCol="0" anchor="ctr"/>
          <a:lstStyle/>
          <a:p>
            <a:pPr algn="ctr"/>
          </a:p>
        </p:txBody>
      </p:sp>
      <p:sp>
        <p:nvSpPr>
          <p:cNvPr id="6" name="Text 2222"/>
          <p:cNvSpPr txBox="1"/>
          <p:nvPr/>
        </p:nvSpPr>
        <p:spPr>
          <a:xfrm>
            <a:off x="1555966" y="1405839"/>
            <a:ext cx="1374343" cy="146342"/>
          </a:xfrm>
          <a:prstGeom prst="rect">
            <a:avLst/>
          </a:prstGeom>
          <a:noFill/>
        </p:spPr>
        <p:txBody>
          <a:bodyPr wrap="square" lIns="0" rIns="0" tIns="0" bIns="0" anchor="t">
            <a:noAutofit/>
          </a:bodyPr>
          <a:lstStyle/>
          <a:p>
            <a:pPr algn="l">
              <a:lnSpc>
                <a:spcPct val="90000"/>
              </a:lnSpc>
            </a:pPr>
            <a:r>
              <a:rPr sz="800" b="1" lang="en-US">
                <a:solidFill>
                  <a:srgbClr val="9E9E9E"/>
                </a:solidFill>
                <a:latin typeface="Arial"/>
              </a:rPr>
              <a:t>TEXT</a:t>
            </a:r>
            <a:endParaRPr lang="en-US" sz="800"/>
          </a:p>
        </p:txBody>
      </p:sp>
      <p:sp>
        <p:nvSpPr>
          <p:cNvPr id="7" name="Text 2226"/>
          <p:cNvSpPr txBox="1"/>
          <p:nvPr/>
        </p:nvSpPr>
        <p:spPr>
          <a:xfrm>
            <a:off x="1555966" y="1609446"/>
            <a:ext cx="1425245" cy="254508"/>
          </a:xfrm>
          <a:prstGeom prst="rect">
            <a:avLst/>
          </a:prstGeom>
          <a:noFill/>
        </p:spPr>
        <p:txBody>
          <a:bodyPr wrap="square" lIns="0" rIns="0" tIns="0" bIns="0" anchor="t">
            <a:noAutofit/>
          </a:bodyPr>
          <a:lstStyle/>
          <a:p>
            <a:pPr algn="l">
              <a:lnSpc>
                <a:spcPct val="90000"/>
              </a:lnSpc>
            </a:pPr>
            <a:r>
              <a:rPr sz="1400" b="1" lang="en-US">
                <a:solidFill>
                  <a:srgbClr val="9E9E9E"/>
                </a:solidFill>
                <a:latin typeface="Arial"/>
              </a:rPr>
              <a:t>User request</a:t>
            </a:r>
            <a:endParaRPr lang="en-US" sz="1400" b="1"/>
          </a:p>
        </p:txBody>
      </p:sp>
      <p:sp>
        <p:nvSpPr>
          <p:cNvPr id="8" name="ShapeInfo 2230"/>
          <p:cNvSpPr/>
          <p:nvPr/>
        </p:nvSpPr>
        <p:spPr>
          <a:xfrm>
            <a:off x="3108465" y="1558544"/>
            <a:ext cx="184518" cy="133617"/>
          </a:xfrm>
          <a:prstGeom prst="rightArrow">
            <a:avLst/>
          </a:prstGeom>
          <a:solidFill>
            <a:srgbClr val="C4C4C4"/>
          </a:solidFill>
          <a:ln>
            <a:noFill/>
          </a:ln>
        </p:spPr>
        <p:txBody>
          <a:bodyPr rtlCol="0" anchor="ctr"/>
          <a:lstStyle/>
          <a:p>
            <a:pPr algn="ctr"/>
          </a:p>
        </p:txBody>
      </p:sp>
      <p:sp>
        <p:nvSpPr>
          <p:cNvPr id="9" name="ShapeInfo 2234"/>
          <p:cNvSpPr/>
          <p:nvPr/>
        </p:nvSpPr>
        <p:spPr>
          <a:xfrm>
            <a:off x="3356610" y="1304036"/>
            <a:ext cx="1603400" cy="636270"/>
          </a:xfrm>
          <a:prstGeom prst="rect">
            <a:avLst/>
          </a:prstGeom>
          <a:solidFill>
            <a:srgbClr val="F2F2F2"/>
          </a:solidFill>
          <a:ln w="6350">
            <a:solidFill>
              <a:srgbClr val="D9D9D9"/>
            </a:solidFill>
          </a:ln>
        </p:spPr>
        <p:txBody>
          <a:bodyPr rtlCol="0" anchor="ctr"/>
          <a:lstStyle/>
          <a:p>
            <a:pPr algn="ctr"/>
          </a:p>
        </p:txBody>
      </p:sp>
      <p:sp>
        <p:nvSpPr>
          <p:cNvPr id="10" name="Text 2238"/>
          <p:cNvSpPr txBox="1"/>
          <p:nvPr/>
        </p:nvSpPr>
        <p:spPr>
          <a:xfrm>
            <a:off x="3464776" y="1405839"/>
            <a:ext cx="1374343" cy="146342"/>
          </a:xfrm>
          <a:prstGeom prst="rect">
            <a:avLst/>
          </a:prstGeom>
          <a:noFill/>
        </p:spPr>
        <p:txBody>
          <a:bodyPr wrap="square" lIns="0" rIns="0" tIns="0" bIns="0" anchor="t">
            <a:noAutofit/>
          </a:bodyPr>
          <a:lstStyle/>
          <a:p>
            <a:pPr algn="l">
              <a:lnSpc>
                <a:spcPct val="90000"/>
              </a:lnSpc>
            </a:pPr>
            <a:r>
              <a:rPr sz="800" b="1" lang="en-US">
                <a:solidFill>
                  <a:srgbClr val="9E9E9E"/>
                </a:solidFill>
                <a:latin typeface="Arial"/>
              </a:rPr>
              <a:t>TEXT</a:t>
            </a:r>
            <a:endParaRPr lang="en-US" sz="800"/>
          </a:p>
        </p:txBody>
      </p:sp>
      <p:sp>
        <p:nvSpPr>
          <p:cNvPr id="11" name="Text 2242"/>
          <p:cNvSpPr txBox="1"/>
          <p:nvPr/>
        </p:nvSpPr>
        <p:spPr>
          <a:xfrm>
            <a:off x="3464776" y="1609446"/>
            <a:ext cx="1425245" cy="254508"/>
          </a:xfrm>
          <a:prstGeom prst="rect">
            <a:avLst/>
          </a:prstGeom>
          <a:noFill/>
        </p:spPr>
        <p:txBody>
          <a:bodyPr wrap="square" lIns="0" rIns="0" tIns="0" bIns="0" anchor="t">
            <a:noAutofit/>
          </a:bodyPr>
          <a:lstStyle/>
          <a:p>
            <a:pPr algn="l">
              <a:lnSpc>
                <a:spcPct val="90000"/>
              </a:lnSpc>
            </a:pPr>
            <a:r>
              <a:rPr sz="1400" b="1" lang="en-US">
                <a:solidFill>
                  <a:srgbClr val="9E9E9E"/>
                </a:solidFill>
                <a:latin typeface="Arial"/>
              </a:rPr>
              <a:t>Planning</a:t>
            </a:r>
            <a:endParaRPr lang="en-US" sz="1400" b="1"/>
          </a:p>
        </p:txBody>
      </p:sp>
      <p:sp>
        <p:nvSpPr>
          <p:cNvPr id="12" name="ShapeInfo 2246"/>
          <p:cNvSpPr/>
          <p:nvPr/>
        </p:nvSpPr>
        <p:spPr>
          <a:xfrm>
            <a:off x="5017275" y="1558544"/>
            <a:ext cx="184518" cy="133617"/>
          </a:xfrm>
          <a:prstGeom prst="rightArrow">
            <a:avLst/>
          </a:prstGeom>
          <a:solidFill>
            <a:srgbClr val="C4C4C4"/>
          </a:solidFill>
          <a:ln>
            <a:noFill/>
          </a:ln>
        </p:spPr>
        <p:txBody>
          <a:bodyPr rtlCol="0" anchor="ctr"/>
          <a:lstStyle/>
          <a:p>
            <a:pPr algn="ctr"/>
          </a:p>
        </p:txBody>
      </p:sp>
      <p:sp>
        <p:nvSpPr>
          <p:cNvPr id="13" name="ShapeInfo 2250"/>
          <p:cNvSpPr/>
          <p:nvPr/>
        </p:nvSpPr>
        <p:spPr>
          <a:xfrm>
            <a:off x="5265420" y="1304036"/>
            <a:ext cx="1603400" cy="636270"/>
          </a:xfrm>
          <a:prstGeom prst="rect">
            <a:avLst/>
          </a:prstGeom>
          <a:solidFill>
            <a:srgbClr val="F8ECEE"/>
          </a:solidFill>
          <a:ln w="12700">
            <a:solidFill>
              <a:srgbClr val="AD132A"/>
            </a:solidFill>
          </a:ln>
        </p:spPr>
        <p:txBody>
          <a:bodyPr rtlCol="0" anchor="ctr"/>
          <a:lstStyle/>
          <a:p>
            <a:pPr algn="ctr"/>
          </a:p>
        </p:txBody>
      </p:sp>
      <p:sp>
        <p:nvSpPr>
          <p:cNvPr id="14" name="Text 2254"/>
          <p:cNvSpPr txBox="1"/>
          <p:nvPr/>
        </p:nvSpPr>
        <p:spPr>
          <a:xfrm>
            <a:off x="5373586" y="1405839"/>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TEXT</a:t>
            </a:r>
            <a:endParaRPr lang="en-US" sz="800"/>
          </a:p>
        </p:txBody>
      </p:sp>
      <p:sp>
        <p:nvSpPr>
          <p:cNvPr id="15" name="Text 2258"/>
          <p:cNvSpPr txBox="1"/>
          <p:nvPr/>
        </p:nvSpPr>
        <p:spPr>
          <a:xfrm>
            <a:off x="5373586" y="1609446"/>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Rich caption</a:t>
            </a:r>
            <a:endParaRPr lang="en-US" sz="1400" b="1"/>
          </a:p>
        </p:txBody>
      </p:sp>
      <p:sp>
        <p:nvSpPr>
          <p:cNvPr id="16" name="ShapeInfo 2262"/>
          <p:cNvSpPr/>
          <p:nvPr/>
        </p:nvSpPr>
        <p:spPr>
          <a:xfrm>
            <a:off x="6926085" y="1558544"/>
            <a:ext cx="184518" cy="133617"/>
          </a:xfrm>
          <a:prstGeom prst="rightArrow">
            <a:avLst/>
          </a:prstGeom>
          <a:solidFill>
            <a:srgbClr val="AD132A"/>
          </a:solidFill>
          <a:ln>
            <a:noFill/>
          </a:ln>
        </p:spPr>
        <p:txBody>
          <a:bodyPr rtlCol="0" anchor="ctr"/>
          <a:lstStyle/>
          <a:p>
            <a:pPr algn="ctr"/>
          </a:p>
        </p:txBody>
      </p:sp>
      <p:sp>
        <p:nvSpPr>
          <p:cNvPr id="17" name="ShapeInfo 2266"/>
          <p:cNvSpPr/>
          <p:nvPr/>
        </p:nvSpPr>
        <p:spPr>
          <a:xfrm>
            <a:off x="7174230" y="1304036"/>
            <a:ext cx="1603400" cy="636270"/>
          </a:xfrm>
          <a:prstGeom prst="rect">
            <a:avLst/>
          </a:prstGeom>
          <a:solidFill>
            <a:srgbClr val="F8ECEE"/>
          </a:solidFill>
          <a:ln w="12700">
            <a:solidFill>
              <a:srgbClr val="AD132A"/>
            </a:solidFill>
          </a:ln>
        </p:spPr>
        <p:txBody>
          <a:bodyPr rtlCol="0" anchor="ctr"/>
          <a:lstStyle/>
          <a:p>
            <a:pPr algn="ctr"/>
          </a:p>
        </p:txBody>
      </p:sp>
      <p:sp>
        <p:nvSpPr>
          <p:cNvPr id="18" name="Text 2270"/>
          <p:cNvSpPr txBox="1"/>
          <p:nvPr/>
        </p:nvSpPr>
        <p:spPr>
          <a:xfrm>
            <a:off x="7282396" y="1405839"/>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AUDIO</a:t>
            </a:r>
            <a:endParaRPr lang="en-US" sz="800"/>
          </a:p>
        </p:txBody>
      </p:sp>
      <p:sp>
        <p:nvSpPr>
          <p:cNvPr id="19" name="Text 2274"/>
          <p:cNvSpPr txBox="1"/>
          <p:nvPr/>
        </p:nvSpPr>
        <p:spPr>
          <a:xfrm>
            <a:off x="7282396" y="1609446"/>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Audio</a:t>
            </a:r>
            <a:endParaRPr lang="en-US" sz="1400" b="1"/>
          </a:p>
        </p:txBody>
      </p:sp>
      <p:sp>
        <p:nvSpPr>
          <p:cNvPr id="20" name="Text 2278"/>
          <p:cNvSpPr txBox="1"/>
          <p:nvPr/>
        </p:nvSpPr>
        <p:spPr>
          <a:xfrm>
            <a:off x="1447800" y="2252078"/>
            <a:ext cx="4899279" cy="190881"/>
          </a:xfrm>
          <a:prstGeom prst="rect">
            <a:avLst/>
          </a:prstGeom>
          <a:noFill/>
        </p:spPr>
        <p:txBody>
          <a:bodyPr wrap="square" lIns="0" rIns="0" tIns="0" bIns="0" anchor="t">
            <a:noAutofit/>
          </a:bodyPr>
          <a:lstStyle/>
          <a:p>
            <a:pPr algn="l">
              <a:lnSpc>
                <a:spcPct val="90000"/>
              </a:lnSpc>
            </a:pPr>
            <a:r>
              <a:rPr sz="850" b="1" lang="en-US">
                <a:solidFill>
                  <a:srgbClr val="AD132A"/>
                </a:solidFill>
                <a:latin typeface="Arial"/>
              </a:rPr>
              <a:t>RICH CAPTION</a:t>
            </a:r>
            <a:endParaRPr lang="en-US" sz="850"/>
          </a:p>
        </p:txBody>
      </p:sp>
      <p:sp>
        <p:nvSpPr>
          <p:cNvPr id="21" name="Text 2282"/>
          <p:cNvSpPr txBox="1"/>
          <p:nvPr/>
        </p:nvSpPr>
        <p:spPr>
          <a:xfrm>
            <a:off x="1447800" y="2544762"/>
            <a:ext cx="5026533" cy="1883359"/>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A </a:t>
            </a:r>
            <a:r>
              <a:rPr sz="1400" b="1" lang="en-US">
                <a:solidFill>
                  <a:srgbClr val="434343"/>
                </a:solidFill>
                <a:latin typeface="Arial"/>
              </a:rPr>
              <a:t>female voice</a:t>
            </a:r>
            <a:r>
              <a:rPr sz="1400" b="0" lang="en-US">
                <a:solidFill>
                  <a:srgbClr val="434343"/>
                </a:solidFill>
                <a:latin typeface="Arial"/>
              </a:rPr>
              <a:t> speaks in a calm, analytical tone: "I think we should add a soaring chorus after the bridge to lift the energy." </a:t>
            </a:r>
            <a:r>
              <a:rPr sz="1400" b="1" lang="en-US">
                <a:solidFill>
                  <a:srgbClr val="434343"/>
                </a:solidFill>
                <a:latin typeface="Arial"/>
              </a:rPr>
              <a:t>A male voice</a:t>
            </a:r>
            <a:r>
              <a:rPr sz="1400" b="0" lang="en-US">
                <a:solidFill>
                  <a:srgbClr val="434343"/>
                </a:solidFill>
                <a:latin typeface="Arial"/>
              </a:rPr>
              <a:t>, lower in pitch and slightly gravelly, then replies: "Maybe a gritty guitar riff before the verse will give it that edgy feel we need." Both speakers use standard American English in a quiet, acoustically dry setting.</a:t>
            </a:r>
            <a:endParaRPr lang="en-US" sz="1400"/>
          </a:p>
        </p:txBody>
      </p:sp>
      <p:sp>
        <p:nvSpPr>
          <p:cNvPr id="22" name="Text 2286"/>
          <p:cNvSpPr txBox="1"/>
          <p:nvPr/>
        </p:nvSpPr>
        <p:spPr>
          <a:xfrm>
            <a:off x="6805193" y="2519312"/>
            <a:ext cx="1972437" cy="394487"/>
          </a:xfrm>
          <a:prstGeom prst="rect">
            <a:avLst/>
          </a:prstGeom>
          <a:noFill/>
        </p:spPr>
        <p:txBody>
          <a:bodyPr wrap="square" lIns="0" rIns="0" tIns="0" bIns="0" anchor="t">
            <a:noAutofit/>
          </a:bodyPr>
          <a:lstStyle/>
          <a:p>
            <a:pPr algn="ctr">
              <a:lnSpc>
                <a:spcPct val="90000"/>
              </a:lnSpc>
            </a:pPr>
            <a:r>
              <a:rPr sz="1050" b="1" lang="en-US">
                <a:solidFill>
                  <a:srgbClr val="AD132A"/>
                </a:solidFill>
                <a:latin typeface="Arial"/>
              </a:rPr>
              <a:t>TWO-SPEAKER</a:t>
            </a:r>
            <a:endParaRPr lang="en-US" sz="1050"/>
          </a:p>
          <a:p>
            <a:pPr algn="ctr">
              <a:lnSpc>
                <a:spcPct val="90000"/>
              </a:lnSpc>
            </a:pPr>
            <a:r>
              <a:rPr sz="1050" b="1" lang="en-US">
                <a:solidFill>
                  <a:srgbClr val="AD132A"/>
                </a:solidFill>
                <a:latin typeface="Arial"/>
              </a:rPr>
              <a:t>DIALOGUE</a:t>
            </a:r>
            <a:endParaRPr lang="en-US" sz="1050"/>
          </a:p>
        </p:txBody>
      </p:sp>
      <p:sp>
        <p:nvSpPr>
          <p:cNvPr id="23" name="ShapeInfo 2290"/>
          <p:cNvSpPr/>
          <p:nvPr/>
        </p:nvSpPr>
        <p:spPr>
          <a:xfrm>
            <a:off x="6741566" y="2404783"/>
            <a:ext cx="8907" cy="1896085"/>
          </a:xfrm>
          <a:prstGeom prst="rect">
            <a:avLst/>
          </a:prstGeom>
          <a:solidFill>
            <a:srgbClr val="D9D9D9"/>
          </a:solidFill>
          <a:ln>
            <a:noFill/>
          </a:ln>
        </p:spPr>
        <p:txBody>
          <a:bodyPr rtlCol="0" anchor="ctr"/>
          <a:lstStyle/>
          <a:p>
            <a:pPr algn="ctr"/>
          </a:p>
        </p:txBody>
      </p:sp>
      <p:sp>
        <p:nvSpPr>
          <p:cNvPr id="24" name="Text 2302"/>
          <p:cNvSpPr txBox="1"/>
          <p:nvPr/>
        </p:nvSpPr>
        <p:spPr>
          <a:xfrm>
            <a:off x="7027888" y="3683686"/>
            <a:ext cx="1527048" cy="235420"/>
          </a:xfrm>
          <a:prstGeom prst="rect">
            <a:avLst/>
          </a:prstGeom>
          <a:noFill/>
        </p:spPr>
        <p:txBody>
          <a:bodyPr wrap="square" lIns="0" rIns="0" tIns="0" bIns="0" anchor="t">
            <a:noAutofit/>
          </a:bodyPr>
          <a:lstStyle/>
          <a:p>
            <a:pPr algn="ctr">
              <a:lnSpc>
                <a:spcPct val="90000"/>
              </a:lnSpc>
            </a:pPr>
            <a:r>
              <a:rPr sz="1150" b="1" lang="en-US">
                <a:solidFill>
                  <a:srgbClr val="AD132A"/>
                </a:solidFill>
                <a:latin typeface="Arial"/>
              </a:rPr>
              <a:t>PLAY  /  10.3 s</a:t>
            </a:r>
            <a:endParaRPr lang="en-US" sz="1150"/>
          </a:p>
        </p:txBody>
      </p:sp>
      <p:sp>
        <p:nvSpPr>
          <p:cNvPr id="25" name="Text 2306"/>
          <p:cNvSpPr txBox="1"/>
          <p:nvPr/>
        </p:nvSpPr>
        <p:spPr>
          <a:xfrm>
            <a:off x="1447800" y="4667250"/>
            <a:ext cx="6353175" cy="304800"/>
          </a:xfrm>
          <a:prstGeom prst="rect">
            <a:avLst/>
          </a:prstGeom>
          <a:noFill/>
        </p:spPr>
        <p:txBody>
          <a:bodyPr wrap="square" lIns="0" rIns="0" tIns="0" bIns="0" anchor="t">
            <a:noAutofit/>
          </a:bodyPr>
          <a:lstStyle/>
          <a:p>
            <a:pPr algn="l">
              <a:lnSpc>
                <a:spcPct val="90000"/>
              </a:lnSpc>
            </a:pPr>
            <a:r>
              <a:rPr sz="850" b="0" lang="en-US">
                <a:solidFill>
                  <a:srgbClr val="666666"/>
                </a:solidFill>
                <a:latin typeface="Arial"/>
              </a:rPr>
              <a:t>Caption condensed from the paired public demo; original audio embedded.</a:t>
            </a:r>
            <a:endParaRPr lang="en-US" sz="850" b="0">
              <a:solidFill>
                <a:srgbClr val="666666"/>
              </a:solidFill>
            </a:endParaRPr>
          </a:p>
        </p:txBody>
      </p:sp>
      <p:pic>
        <p:nvPicPr>
          <p:cNvPr id="28" name="Visible play button 1" descr="Embedded audio - complex"/>
          <p:cNvPicPr>
            <a:picLocks noChangeAspect="1"/>
          </p:cNvPicPr>
          <p:nvPr/>
        </p:nvPicPr>
        <p:blipFill>
          <a:blip r:embed="rId4"/>
          <a:stretch>
            <a:fillRect/>
          </a:stretch>
        </p:blipFill>
        <p:spPr>
          <a:xfrm>
            <a:off x="7536904" y="3047416"/>
            <a:ext cx="509016" cy="509016"/>
          </a:xfrm>
          <a:prstGeom prst="rect">
            <a:avLst/>
          </a:prstGeom>
        </p:spPr>
      </p:pic>
      <p:pic>
        <p:nvPicPr>
          <p:cNvPr id="26" name="Audio bagpiper-complex" descr="Embedded audio - complex">
            <a:hlinkClick action="ppaction://media"/>
          </p:cNvPr>
          <p:cNvPicPr>
            <a:picLocks noChangeAspect="1"/>
          </p:cNvPicPr>
          <p:nvPr>
            <a:audioFile r:link="rId3"/>
            <p:extLst>
              <p:ext uri="{DAA4B4D4-6D71-4841-9C94-3DE7FCFB9230}">
                <p14:media xmlns:p14="http://schemas.microsoft.com/office/powerpoint/2010/main" r:embed="rId2"/>
              </p:ext>
            </p:extLst>
          </p:nvPr>
        </p:nvPicPr>
        <p:blipFill>
          <a:blip r:embed="rId4"/>
          <a:stretch>
            <a:fillRect/>
          </a:stretch>
        </p:blipFill>
        <p:spPr>
          <a:xfrm>
            <a:off x="7536904" y="3047416"/>
            <a:ext cx="509016" cy="509016"/>
          </a:xfrm>
          <a:prstGeom prst="rect">
            <a:avLst/>
          </a:prstGeom>
        </p:spPr>
      </p:pic>
      <p:sp>
        <p:nvSpPr>
          <p:cNvPr id="27" name="Slide Number 8"/>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8</a:t>
            </a:fld>
            <a:endParaRPr sz="900" b="0">
              <a:solidFill>
                <a:srgbClr val="777777"/>
              </a:solidFill>
            </a:endParaRP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0320" fill="hold"/>
                                        <p:tgtEl>
                                          <p:spTgt spid="26"/>
                                        </p:tgtEl>
                                      </p:cBhvr>
                                    </p:cmd>
                                  </p:childTnLst>
                                </p:cTn>
                              </p:par>
                            </p:childTnLst>
                          </p:cTn>
                        </p:par>
                      </p:childTnLst>
                    </p:cTn>
                  </p:par>
                </p:childTnLst>
              </p:cTn>
              <p:nextCondLst>
                <p:cond evt="onClick" delay="0">
                  <p:tgtEl>
                    <p:spTgt spid="26"/>
                  </p:tgtEl>
                </p:cond>
              </p:nextCondLst>
            </p:seq>
            <p:audio>
              <p:cMediaNode vol="80000" numSld="1">
                <p:cTn id="7" fill="hold" display="0">
                  <p:stCondLst>
                    <p:cond delay="indefinite"/>
                  </p:stCondLst>
                  <p:endCondLst>
                    <p:cond evt="onStopAudio" delay="0">
                      <p:tgtEl>
                        <p:sldTgt/>
                      </p:tgtEl>
                    </p:cond>
                  </p:endCondLst>
                </p:cTn>
                <p:tgtEl>
                  <p:spTgt spid="26"/>
                </p:tgtEl>
              </p:cMediaNode>
            </p:audi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Synthesizing requests and planning</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3. Training data</a:t>
            </a:r>
          </a:p>
        </p:txBody>
      </p:sp>
      <p:sp>
        <p:nvSpPr>
          <p:cNvPr id="5" name="ShapeInfo 2324"/>
          <p:cNvSpPr/>
          <p:nvPr/>
        </p:nvSpPr>
        <p:spPr>
          <a:xfrm>
            <a:off x="1447800" y="1304036"/>
            <a:ext cx="1603400" cy="636270"/>
          </a:xfrm>
          <a:prstGeom prst="rect">
            <a:avLst/>
          </a:prstGeom>
          <a:solidFill>
            <a:srgbClr val="F8ECEE"/>
          </a:solidFill>
          <a:ln w="12700">
            <a:solidFill>
              <a:srgbClr val="AD132A"/>
            </a:solidFill>
          </a:ln>
        </p:spPr>
        <p:txBody>
          <a:bodyPr rtlCol="0" anchor="ctr"/>
          <a:lstStyle/>
          <a:p>
            <a:pPr algn="ctr"/>
          </a:p>
        </p:txBody>
      </p:sp>
      <p:sp>
        <p:nvSpPr>
          <p:cNvPr id="6" name="Text 2328"/>
          <p:cNvSpPr txBox="1"/>
          <p:nvPr/>
        </p:nvSpPr>
        <p:spPr>
          <a:xfrm>
            <a:off x="1555966" y="1405839"/>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TEXT</a:t>
            </a:r>
            <a:endParaRPr lang="en-US" sz="800"/>
          </a:p>
        </p:txBody>
      </p:sp>
      <p:sp>
        <p:nvSpPr>
          <p:cNvPr id="7" name="Text 2332"/>
          <p:cNvSpPr txBox="1"/>
          <p:nvPr/>
        </p:nvSpPr>
        <p:spPr>
          <a:xfrm>
            <a:off x="1555966" y="1609446"/>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User request</a:t>
            </a:r>
            <a:endParaRPr lang="en-US" sz="1400" b="1"/>
          </a:p>
        </p:txBody>
      </p:sp>
      <p:sp>
        <p:nvSpPr>
          <p:cNvPr id="8" name="ShapeInfo 2336"/>
          <p:cNvSpPr/>
          <p:nvPr/>
        </p:nvSpPr>
        <p:spPr>
          <a:xfrm>
            <a:off x="3356610" y="1304036"/>
            <a:ext cx="1603400" cy="636270"/>
          </a:xfrm>
          <a:prstGeom prst="rect">
            <a:avLst/>
          </a:prstGeom>
          <a:solidFill>
            <a:srgbClr val="F8ECEE"/>
          </a:solidFill>
          <a:ln w="12700">
            <a:solidFill>
              <a:srgbClr val="AD132A"/>
            </a:solidFill>
          </a:ln>
        </p:spPr>
        <p:txBody>
          <a:bodyPr rtlCol="0" anchor="ctr"/>
          <a:lstStyle/>
          <a:p>
            <a:pPr algn="ctr"/>
          </a:p>
        </p:txBody>
      </p:sp>
      <p:sp>
        <p:nvSpPr>
          <p:cNvPr id="9" name="Text 2340"/>
          <p:cNvSpPr txBox="1"/>
          <p:nvPr/>
        </p:nvSpPr>
        <p:spPr>
          <a:xfrm>
            <a:off x="3464776" y="1405839"/>
            <a:ext cx="1374343" cy="146342"/>
          </a:xfrm>
          <a:prstGeom prst="rect">
            <a:avLst/>
          </a:prstGeom>
          <a:noFill/>
        </p:spPr>
        <p:txBody>
          <a:bodyPr wrap="square" lIns="0" rIns="0" tIns="0" bIns="0" anchor="t">
            <a:noAutofit/>
          </a:bodyPr>
          <a:lstStyle/>
          <a:p>
            <a:pPr algn="l">
              <a:lnSpc>
                <a:spcPct val="90000"/>
              </a:lnSpc>
            </a:pPr>
            <a:r>
              <a:rPr sz="800" b="1" lang="en-US">
                <a:solidFill>
                  <a:srgbClr val="AD132A"/>
                </a:solidFill>
                <a:latin typeface="Arial"/>
              </a:rPr>
              <a:t>TEXT</a:t>
            </a:r>
            <a:endParaRPr lang="en-US" sz="800"/>
          </a:p>
        </p:txBody>
      </p:sp>
      <p:sp>
        <p:nvSpPr>
          <p:cNvPr id="10" name="Text 2344"/>
          <p:cNvSpPr txBox="1"/>
          <p:nvPr/>
        </p:nvSpPr>
        <p:spPr>
          <a:xfrm>
            <a:off x="3464776" y="1609446"/>
            <a:ext cx="1425245" cy="254508"/>
          </a:xfrm>
          <a:prstGeom prst="rect">
            <a:avLst/>
          </a:prstGeom>
          <a:noFill/>
        </p:spPr>
        <p:txBody>
          <a:bodyPr wrap="square" lIns="0" rIns="0" tIns="0" bIns="0" anchor="t">
            <a:noAutofit/>
          </a:bodyPr>
          <a:lstStyle/>
          <a:p>
            <a:pPr algn="l">
              <a:lnSpc>
                <a:spcPct val="90000"/>
              </a:lnSpc>
            </a:pPr>
            <a:r>
              <a:rPr sz="1400" b="1" lang="en-US">
                <a:solidFill>
                  <a:srgbClr val="434343"/>
                </a:solidFill>
                <a:latin typeface="Arial"/>
              </a:rPr>
              <a:t>Planning</a:t>
            </a:r>
            <a:endParaRPr lang="en-US" sz="1400" b="1"/>
          </a:p>
        </p:txBody>
      </p:sp>
      <p:sp>
        <p:nvSpPr>
          <p:cNvPr id="11" name="ShapeInfo 2348"/>
          <p:cNvSpPr/>
          <p:nvPr/>
        </p:nvSpPr>
        <p:spPr>
          <a:xfrm>
            <a:off x="5265420" y="1304036"/>
            <a:ext cx="1603400" cy="636270"/>
          </a:xfrm>
          <a:prstGeom prst="rect">
            <a:avLst/>
          </a:prstGeom>
          <a:solidFill>
            <a:srgbClr val="F2F2F2"/>
          </a:solidFill>
          <a:ln w="6350">
            <a:solidFill>
              <a:srgbClr val="D9D9D9"/>
            </a:solidFill>
          </a:ln>
        </p:spPr>
        <p:txBody>
          <a:bodyPr rtlCol="0" anchor="ctr"/>
          <a:lstStyle/>
          <a:p>
            <a:pPr algn="ctr"/>
          </a:p>
        </p:txBody>
      </p:sp>
      <p:sp>
        <p:nvSpPr>
          <p:cNvPr id="12" name="Text 2352"/>
          <p:cNvSpPr txBox="1"/>
          <p:nvPr/>
        </p:nvSpPr>
        <p:spPr>
          <a:xfrm>
            <a:off x="5373586" y="1405839"/>
            <a:ext cx="1374343" cy="146342"/>
          </a:xfrm>
          <a:prstGeom prst="rect">
            <a:avLst/>
          </a:prstGeom>
          <a:noFill/>
        </p:spPr>
        <p:txBody>
          <a:bodyPr wrap="square" lIns="0" rIns="0" tIns="0" bIns="0" anchor="t">
            <a:noAutofit/>
          </a:bodyPr>
          <a:lstStyle/>
          <a:p>
            <a:pPr algn="l">
              <a:lnSpc>
                <a:spcPct val="90000"/>
              </a:lnSpc>
            </a:pPr>
            <a:r>
              <a:rPr sz="800" b="1" lang="en-US">
                <a:solidFill>
                  <a:srgbClr val="9E9E9E"/>
                </a:solidFill>
                <a:latin typeface="Arial"/>
              </a:rPr>
              <a:t>TEXT</a:t>
            </a:r>
            <a:endParaRPr lang="en-US" sz="800"/>
          </a:p>
        </p:txBody>
      </p:sp>
      <p:sp>
        <p:nvSpPr>
          <p:cNvPr id="13" name="Text 2356"/>
          <p:cNvSpPr txBox="1"/>
          <p:nvPr/>
        </p:nvSpPr>
        <p:spPr>
          <a:xfrm>
            <a:off x="5373586" y="1609446"/>
            <a:ext cx="1425245" cy="254508"/>
          </a:xfrm>
          <a:prstGeom prst="rect">
            <a:avLst/>
          </a:prstGeom>
          <a:noFill/>
        </p:spPr>
        <p:txBody>
          <a:bodyPr wrap="square" lIns="0" rIns="0" tIns="0" bIns="0" anchor="t">
            <a:noAutofit/>
          </a:bodyPr>
          <a:lstStyle/>
          <a:p>
            <a:pPr algn="l">
              <a:lnSpc>
                <a:spcPct val="90000"/>
              </a:lnSpc>
            </a:pPr>
            <a:r>
              <a:rPr sz="1400" b="1" lang="en-US">
                <a:solidFill>
                  <a:srgbClr val="9E9E9E"/>
                </a:solidFill>
                <a:latin typeface="Arial"/>
              </a:rPr>
              <a:t>Rich caption</a:t>
            </a:r>
            <a:endParaRPr lang="en-US" sz="1400" b="1"/>
          </a:p>
        </p:txBody>
      </p:sp>
      <p:sp>
        <p:nvSpPr>
          <p:cNvPr id="14" name="ShapeInfo 2360"/>
          <p:cNvSpPr/>
          <p:nvPr/>
        </p:nvSpPr>
        <p:spPr>
          <a:xfrm>
            <a:off x="7174230" y="1304036"/>
            <a:ext cx="1603400" cy="636270"/>
          </a:xfrm>
          <a:prstGeom prst="rect">
            <a:avLst/>
          </a:prstGeom>
          <a:solidFill>
            <a:srgbClr val="F2F2F2"/>
          </a:solidFill>
          <a:ln w="6350">
            <a:solidFill>
              <a:srgbClr val="D9D9D9"/>
            </a:solidFill>
          </a:ln>
        </p:spPr>
        <p:txBody>
          <a:bodyPr rtlCol="0" anchor="ctr"/>
          <a:lstStyle/>
          <a:p>
            <a:pPr algn="ctr"/>
          </a:p>
        </p:txBody>
      </p:sp>
      <p:sp>
        <p:nvSpPr>
          <p:cNvPr id="15" name="Text 2364"/>
          <p:cNvSpPr txBox="1"/>
          <p:nvPr/>
        </p:nvSpPr>
        <p:spPr>
          <a:xfrm>
            <a:off x="7282396" y="1405839"/>
            <a:ext cx="1374343" cy="146342"/>
          </a:xfrm>
          <a:prstGeom prst="rect">
            <a:avLst/>
          </a:prstGeom>
          <a:noFill/>
        </p:spPr>
        <p:txBody>
          <a:bodyPr wrap="square" lIns="0" rIns="0" tIns="0" bIns="0" anchor="t">
            <a:noAutofit/>
          </a:bodyPr>
          <a:lstStyle/>
          <a:p>
            <a:pPr algn="l">
              <a:lnSpc>
                <a:spcPct val="90000"/>
              </a:lnSpc>
            </a:pPr>
            <a:r>
              <a:rPr sz="800" b="1" lang="en-US">
                <a:solidFill>
                  <a:srgbClr val="9E9E9E"/>
                </a:solidFill>
                <a:latin typeface="Arial"/>
              </a:rPr>
              <a:t>AUDIO</a:t>
            </a:r>
            <a:endParaRPr lang="en-US" sz="800"/>
          </a:p>
        </p:txBody>
      </p:sp>
      <p:sp>
        <p:nvSpPr>
          <p:cNvPr id="16" name="Text 2368"/>
          <p:cNvSpPr txBox="1"/>
          <p:nvPr/>
        </p:nvSpPr>
        <p:spPr>
          <a:xfrm>
            <a:off x="7282396" y="1609446"/>
            <a:ext cx="1425245" cy="254508"/>
          </a:xfrm>
          <a:prstGeom prst="rect">
            <a:avLst/>
          </a:prstGeom>
          <a:noFill/>
        </p:spPr>
        <p:txBody>
          <a:bodyPr wrap="square" lIns="0" rIns="0" tIns="0" bIns="0" anchor="t">
            <a:noAutofit/>
          </a:bodyPr>
          <a:lstStyle/>
          <a:p>
            <a:pPr algn="l">
              <a:lnSpc>
                <a:spcPct val="90000"/>
              </a:lnSpc>
            </a:pPr>
            <a:r>
              <a:rPr sz="1400" b="1" lang="en-US">
                <a:solidFill>
                  <a:srgbClr val="9E9E9E"/>
                </a:solidFill>
                <a:latin typeface="Arial"/>
              </a:rPr>
              <a:t>Audio</a:t>
            </a:r>
            <a:endParaRPr lang="en-US" sz="1400" b="1"/>
          </a:p>
        </p:txBody>
      </p:sp>
      <p:sp>
        <p:nvSpPr>
          <p:cNvPr id="17" name="ShapeInfo 2372"/>
          <p:cNvSpPr/>
          <p:nvPr/>
        </p:nvSpPr>
        <p:spPr>
          <a:xfrm>
            <a:off x="3108465" y="1558544"/>
            <a:ext cx="184518" cy="133617"/>
          </a:xfrm>
          <a:prstGeom prst="rightArrow">
            <a:avLst/>
          </a:prstGeom>
          <a:solidFill>
            <a:srgbClr val="AD132A"/>
          </a:solidFill>
          <a:ln>
            <a:noFill/>
          </a:ln>
        </p:spPr>
        <p:txBody>
          <a:bodyPr rtlCol="0" anchor="ctr"/>
          <a:lstStyle/>
          <a:p>
            <a:pPr algn="ctr"/>
          </a:p>
        </p:txBody>
      </p:sp>
      <p:sp>
        <p:nvSpPr>
          <p:cNvPr id="18" name="ShapeInfo 2376"/>
          <p:cNvSpPr/>
          <p:nvPr/>
        </p:nvSpPr>
        <p:spPr>
          <a:xfrm>
            <a:off x="5017275" y="1558544"/>
            <a:ext cx="184518" cy="133617"/>
          </a:xfrm>
          <a:prstGeom prst="leftArrow">
            <a:avLst/>
          </a:prstGeom>
          <a:solidFill>
            <a:srgbClr val="AD132A"/>
          </a:solidFill>
          <a:ln>
            <a:noFill/>
          </a:ln>
        </p:spPr>
        <p:txBody>
          <a:bodyPr rtlCol="0" anchor="ctr"/>
          <a:lstStyle/>
          <a:p>
            <a:pPr algn="ctr"/>
          </a:p>
        </p:txBody>
      </p:sp>
      <p:sp>
        <p:nvSpPr>
          <p:cNvPr id="19" name="ShapeInfo 2380"/>
          <p:cNvSpPr/>
          <p:nvPr/>
        </p:nvSpPr>
        <p:spPr>
          <a:xfrm>
            <a:off x="6926085" y="1558544"/>
            <a:ext cx="184518" cy="133617"/>
          </a:xfrm>
          <a:prstGeom prst="leftArrow">
            <a:avLst/>
          </a:prstGeom>
          <a:solidFill>
            <a:srgbClr val="C4C4C4"/>
          </a:solidFill>
          <a:ln>
            <a:noFill/>
          </a:ln>
        </p:spPr>
        <p:txBody>
          <a:bodyPr rtlCol="0" anchor="ctr"/>
          <a:lstStyle/>
          <a:p>
            <a:pPr algn="ctr"/>
          </a:p>
        </p:txBody>
      </p:sp>
      <p:sp>
        <p:nvSpPr>
          <p:cNvPr id="20" name="Text 2384"/>
          <p:cNvSpPr txBox="1"/>
          <p:nvPr/>
        </p:nvSpPr>
        <p:spPr>
          <a:xfrm>
            <a:off x="3891077" y="1055891"/>
            <a:ext cx="547192" cy="190881"/>
          </a:xfrm>
          <a:prstGeom prst="rect">
            <a:avLst/>
          </a:prstGeom>
          <a:noFill/>
        </p:spPr>
        <p:txBody>
          <a:bodyPr wrap="square" lIns="0" rIns="0" tIns="0" bIns="0" anchor="t">
            <a:noAutofit/>
          </a:bodyPr>
          <a:lstStyle/>
          <a:p>
            <a:pPr algn="ctr">
              <a:lnSpc>
                <a:spcPct val="90000"/>
              </a:lnSpc>
            </a:pPr>
            <a:r>
              <a:rPr sz="1050" b="1" lang="en-US">
                <a:solidFill>
                  <a:srgbClr val="AD132A"/>
                </a:solidFill>
                <a:latin typeface="Arial"/>
              </a:rPr>
              <a:t>2</a:t>
            </a:r>
            <a:endParaRPr lang="en-US" sz="1050"/>
          </a:p>
        </p:txBody>
      </p:sp>
      <p:sp>
        <p:nvSpPr>
          <p:cNvPr id="21" name="ShapeInfo 2388"/>
          <p:cNvSpPr/>
          <p:nvPr/>
        </p:nvSpPr>
        <p:spPr>
          <a:xfrm>
            <a:off x="6060758" y="1940306"/>
            <a:ext cx="12725" cy="483565"/>
          </a:xfrm>
          <a:prstGeom prst="rect">
            <a:avLst/>
          </a:prstGeom>
          <a:solidFill>
            <a:srgbClr val="AD132A"/>
          </a:solidFill>
          <a:ln>
            <a:noFill/>
          </a:ln>
        </p:spPr>
        <p:txBody>
          <a:bodyPr rtlCol="0" anchor="ctr"/>
          <a:lstStyle/>
          <a:p>
            <a:pPr algn="ctr"/>
          </a:p>
        </p:txBody>
      </p:sp>
      <p:sp>
        <p:nvSpPr>
          <p:cNvPr id="22" name="ShapeInfo 2392"/>
          <p:cNvSpPr/>
          <p:nvPr/>
        </p:nvSpPr>
        <p:spPr>
          <a:xfrm>
            <a:off x="2249500" y="2411146"/>
            <a:ext cx="3817620" cy="12725"/>
          </a:xfrm>
          <a:prstGeom prst="rect">
            <a:avLst/>
          </a:prstGeom>
          <a:solidFill>
            <a:srgbClr val="AD132A"/>
          </a:solidFill>
          <a:ln>
            <a:noFill/>
          </a:ln>
        </p:spPr>
        <p:txBody>
          <a:bodyPr rtlCol="0" anchor="ctr"/>
          <a:lstStyle/>
          <a:p>
            <a:pPr algn="ctr"/>
          </a:p>
        </p:txBody>
      </p:sp>
      <p:sp>
        <p:nvSpPr>
          <p:cNvPr id="23" name="ShapeInfo 2396"/>
          <p:cNvSpPr/>
          <p:nvPr/>
        </p:nvSpPr>
        <p:spPr>
          <a:xfrm>
            <a:off x="2243138" y="2023021"/>
            <a:ext cx="12725" cy="400850"/>
          </a:xfrm>
          <a:prstGeom prst="rect">
            <a:avLst/>
          </a:prstGeom>
          <a:solidFill>
            <a:srgbClr val="AD132A"/>
          </a:solidFill>
          <a:ln>
            <a:noFill/>
          </a:ln>
        </p:spPr>
        <p:txBody>
          <a:bodyPr rtlCol="0" anchor="ctr"/>
          <a:lstStyle/>
          <a:p>
            <a:pPr algn="ctr"/>
          </a:p>
        </p:txBody>
      </p:sp>
      <p:sp>
        <p:nvSpPr>
          <p:cNvPr id="3" name="ShapeInfo 2400"/>
          <p:cNvSpPr/>
          <p:nvPr/>
        </p:nvSpPr>
        <p:spPr>
          <a:xfrm>
            <a:off x="2185873" y="1940306"/>
            <a:ext cx="133617" cy="108166"/>
          </a:xfrm>
          <a:custGeom>
            <a:avLst/>
            <a:gdLst/>
            <a:ahLst/>
            <a:cxnLst/>
            <a:rect l="l" t="t" r="r" b="b"/>
            <a:pathLst>
              <a:path w="133617" h="108166">
                <a:moveTo>
                  <a:pt x="0" y="54083"/>
                </a:moveTo>
                <a:lnTo>
                  <a:pt x="66809" y="0"/>
                </a:lnTo>
                <a:lnTo>
                  <a:pt x="133617" y="54083"/>
                </a:lnTo>
                <a:lnTo>
                  <a:pt x="100213" y="54083"/>
                </a:lnTo>
                <a:lnTo>
                  <a:pt x="100213" y="108166"/>
                </a:lnTo>
                <a:lnTo>
                  <a:pt x="33404" y="108166"/>
                </a:lnTo>
                <a:lnTo>
                  <a:pt x="33404" y="54083"/>
                </a:lnTo>
                <a:close/>
              </a:path>
            </a:pathLst>
          </a:custGeom>
          <a:solidFill>
            <a:srgbClr val="AD132A"/>
          </a:solidFill>
          <a:ln>
            <a:noFill/>
          </a:ln>
        </p:spPr>
        <p:txBody>
          <a:bodyPr rtlCol="0" anchor="ctr"/>
          <a:lstStyle/>
          <a:p>
            <a:pPr algn="ctr"/>
          </a:p>
        </p:txBody>
      </p:sp>
      <p:sp>
        <p:nvSpPr>
          <p:cNvPr id="24" name="ShapeInfo 2404"/>
          <p:cNvSpPr/>
          <p:nvPr/>
        </p:nvSpPr>
        <p:spPr>
          <a:xfrm>
            <a:off x="3961066" y="2309343"/>
            <a:ext cx="388125" cy="222694"/>
          </a:xfrm>
          <a:prstGeom prst="rect">
            <a:avLst/>
          </a:prstGeom>
          <a:solidFill>
            <a:srgbClr val="FFFFFF"/>
          </a:solidFill>
          <a:ln>
            <a:noFill/>
          </a:ln>
        </p:spPr>
        <p:txBody>
          <a:bodyPr rtlCol="0" anchor="ctr"/>
          <a:lstStyle/>
          <a:p>
            <a:pPr algn="ctr"/>
          </a:p>
        </p:txBody>
      </p:sp>
      <p:sp>
        <p:nvSpPr>
          <p:cNvPr id="25" name="Text 2408"/>
          <p:cNvSpPr txBox="1"/>
          <p:nvPr/>
        </p:nvSpPr>
        <p:spPr>
          <a:xfrm>
            <a:off x="3961066" y="2315705"/>
            <a:ext cx="388125" cy="190881"/>
          </a:xfrm>
          <a:prstGeom prst="rect">
            <a:avLst/>
          </a:prstGeom>
          <a:noFill/>
        </p:spPr>
        <p:txBody>
          <a:bodyPr wrap="square" lIns="0" rIns="0" tIns="0" bIns="0" anchor="t">
            <a:noAutofit/>
          </a:bodyPr>
          <a:lstStyle/>
          <a:p>
            <a:pPr algn="ctr">
              <a:lnSpc>
                <a:spcPct val="90000"/>
              </a:lnSpc>
            </a:pPr>
            <a:r>
              <a:rPr sz="1050" b="1" lang="en-US">
                <a:solidFill>
                  <a:srgbClr val="AD132A"/>
                </a:solidFill>
                <a:latin typeface="Arial"/>
              </a:rPr>
              <a:t>1</a:t>
            </a:r>
            <a:endParaRPr lang="en-US" sz="1050"/>
          </a:p>
        </p:txBody>
      </p:sp>
      <p:sp>
        <p:nvSpPr>
          <p:cNvPr id="26" name="Text 2412"/>
          <p:cNvSpPr txBox="1"/>
          <p:nvPr/>
        </p:nvSpPr>
        <p:spPr>
          <a:xfrm>
            <a:off x="1447800" y="2901074"/>
            <a:ext cx="3499485" cy="311772"/>
          </a:xfrm>
          <a:prstGeom prst="rect">
            <a:avLst/>
          </a:prstGeom>
          <a:noFill/>
        </p:spPr>
        <p:txBody>
          <a:bodyPr wrap="square" lIns="0" rIns="0" tIns="0" bIns="0" anchor="t">
            <a:noAutofit/>
          </a:bodyPr>
          <a:lstStyle/>
          <a:p>
            <a:pPr algn="l">
              <a:lnSpc>
                <a:spcPct val="90000"/>
              </a:lnSpc>
            </a:pPr>
            <a:r>
              <a:rPr sz="1550" b="1" lang="en-US">
                <a:solidFill>
                  <a:srgbClr val="AD132A"/>
                </a:solidFill>
                <a:latin typeface="Arial"/>
              </a:rPr>
              <a:t>1   Synthesize the user request</a:t>
            </a:r>
            <a:endParaRPr lang="en-US" sz="1550"/>
          </a:p>
        </p:txBody>
      </p:sp>
      <p:sp>
        <p:nvSpPr>
          <p:cNvPr id="27" name="Text 2416"/>
          <p:cNvSpPr txBox="1"/>
          <p:nvPr/>
        </p:nvSpPr>
        <p:spPr>
          <a:xfrm>
            <a:off x="1447800" y="3327375"/>
            <a:ext cx="3499485" cy="254508"/>
          </a:xfrm>
          <a:prstGeom prst="rect">
            <a:avLst/>
          </a:prstGeom>
          <a:noFill/>
        </p:spPr>
        <p:txBody>
          <a:bodyPr wrap="square" lIns="0" rIns="0" tIns="0" bIns="0" anchor="t">
            <a:noAutofit/>
          </a:bodyPr>
          <a:lstStyle/>
          <a:p>
            <a:pPr algn="l">
              <a:lnSpc>
                <a:spcPct val="90000"/>
              </a:lnSpc>
            </a:pPr>
            <a:r>
              <a:rPr sz="1400" b="1" lang="en-US">
                <a:solidFill>
                  <a:srgbClr val="666666"/>
                </a:solidFill>
                <a:latin typeface="Arial"/>
              </a:rPr>
              <a:t>Rich caption</a:t>
            </a:r>
            <a:endParaRPr lang="en-US" sz="1400" b="1"/>
          </a:p>
        </p:txBody>
      </p:sp>
      <p:sp>
        <p:nvSpPr>
          <p:cNvPr id="28" name="Text 2420"/>
          <p:cNvSpPr txBox="1"/>
          <p:nvPr/>
        </p:nvSpPr>
        <p:spPr>
          <a:xfrm>
            <a:off x="1447800" y="3658235"/>
            <a:ext cx="3499485" cy="579006"/>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What could a user request</a:t>
            </a:r>
            <a:endParaRPr lang="en-US" sz="1400"/>
          </a:p>
          <a:p>
            <a:pPr algn="l">
              <a:lnSpc>
                <a:spcPct val="90000"/>
              </a:lnSpc>
            </a:pPr>
            <a:r>
              <a:rPr sz="1400" b="0" lang="en-US">
                <a:solidFill>
                  <a:srgbClr val="434343"/>
                </a:solidFill>
                <a:latin typeface="Arial"/>
              </a:rPr>
              <a:t>to obtain this audio?</a:t>
            </a:r>
            <a:endParaRPr lang="en-US" sz="1400"/>
          </a:p>
        </p:txBody>
      </p:sp>
      <p:sp>
        <p:nvSpPr>
          <p:cNvPr id="29" name="Text 2424"/>
          <p:cNvSpPr txBox="1"/>
          <p:nvPr/>
        </p:nvSpPr>
        <p:spPr>
          <a:xfrm>
            <a:off x="5418125" y="2901074"/>
            <a:ext cx="3359506" cy="311772"/>
          </a:xfrm>
          <a:prstGeom prst="rect">
            <a:avLst/>
          </a:prstGeom>
          <a:noFill/>
        </p:spPr>
        <p:txBody>
          <a:bodyPr wrap="square" lIns="0" rIns="0" tIns="0" bIns="0" anchor="t">
            <a:noAutofit/>
          </a:bodyPr>
          <a:lstStyle/>
          <a:p>
            <a:pPr algn="l">
              <a:lnSpc>
                <a:spcPct val="90000"/>
              </a:lnSpc>
            </a:pPr>
            <a:r>
              <a:rPr sz="1550" b="1" lang="en-US">
                <a:solidFill>
                  <a:srgbClr val="AD132A"/>
                </a:solidFill>
                <a:latin typeface="Arial"/>
              </a:rPr>
              <a:t>2   Synthesize the planning</a:t>
            </a:r>
            <a:endParaRPr lang="en-US" sz="1550"/>
          </a:p>
        </p:txBody>
      </p:sp>
      <p:sp>
        <p:nvSpPr>
          <p:cNvPr id="30" name="Text 2428"/>
          <p:cNvSpPr txBox="1"/>
          <p:nvPr/>
        </p:nvSpPr>
        <p:spPr>
          <a:xfrm>
            <a:off x="5418125" y="3327375"/>
            <a:ext cx="3359506" cy="254508"/>
          </a:xfrm>
          <a:prstGeom prst="rect">
            <a:avLst/>
          </a:prstGeom>
          <a:noFill/>
        </p:spPr>
        <p:txBody>
          <a:bodyPr wrap="square" lIns="0" rIns="0" tIns="0" bIns="0" anchor="t">
            <a:noAutofit/>
          </a:bodyPr>
          <a:lstStyle/>
          <a:p>
            <a:pPr algn="l">
              <a:lnSpc>
                <a:spcPct val="90000"/>
              </a:lnSpc>
            </a:pPr>
            <a:r>
              <a:rPr sz="1400" b="1" lang="en-US">
                <a:solidFill>
                  <a:srgbClr val="666666"/>
                </a:solidFill>
                <a:latin typeface="Arial"/>
              </a:rPr>
              <a:t>User request + rich caption</a:t>
            </a:r>
            <a:endParaRPr lang="en-US" sz="1400"/>
          </a:p>
        </p:txBody>
      </p:sp>
      <p:sp>
        <p:nvSpPr>
          <p:cNvPr id="31" name="Text 2432"/>
          <p:cNvSpPr txBox="1"/>
          <p:nvPr/>
        </p:nvSpPr>
        <p:spPr>
          <a:xfrm>
            <a:off x="5418125" y="3658235"/>
            <a:ext cx="3359506" cy="579006"/>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Write the plan that connects</a:t>
            </a:r>
            <a:endParaRPr lang="en-US" sz="1400"/>
          </a:p>
          <a:p>
            <a:pPr algn="l">
              <a:lnSpc>
                <a:spcPct val="90000"/>
              </a:lnSpc>
            </a:pPr>
            <a:r>
              <a:rPr sz="1400" b="0" lang="en-US">
                <a:solidFill>
                  <a:srgbClr val="434343"/>
                </a:solidFill>
                <a:latin typeface="Arial"/>
              </a:rPr>
              <a:t>the request to the caption.</a:t>
            </a:r>
            <a:endParaRPr lang="en-US" sz="1400"/>
          </a:p>
        </p:txBody>
      </p:sp>
      <p:sp>
        <p:nvSpPr>
          <p:cNvPr id="32" name="Text 2436"/>
          <p:cNvSpPr txBox="1"/>
          <p:nvPr/>
        </p:nvSpPr>
        <p:spPr>
          <a:xfrm>
            <a:off x="1447800" y="4667250"/>
            <a:ext cx="6353175" cy="304800"/>
          </a:xfrm>
          <a:prstGeom prst="rect">
            <a:avLst/>
          </a:prstGeom>
          <a:noFill/>
        </p:spPr>
        <p:txBody>
          <a:bodyPr wrap="square" lIns="0" rIns="0" tIns="0" bIns="0" anchor="t">
            <a:noAutofit/>
          </a:bodyPr>
          <a:lstStyle/>
          <a:p>
            <a:pPr algn="l">
              <a:lnSpc>
                <a:spcPct val="90000"/>
              </a:lnSpc>
            </a:pPr>
            <a:r>
              <a:rPr sz="850" b="0" lang="en-US">
                <a:solidFill>
                  <a:srgbClr val="666666"/>
                </a:solidFill>
                <a:latin typeface="Arial"/>
              </a:rPr>
              <a:t>Gray: existing audio and caption. Red: synthesized text. Fine-tuning learns the forward sequence.</a:t>
            </a:r>
            <a:endParaRPr lang="en-US" sz="850" b="0">
              <a:solidFill>
                <a:srgbClr val="666666"/>
              </a:solidFill>
            </a:endParaRPr>
          </a:p>
        </p:txBody>
      </p:sp>
      <p:sp>
        <p:nvSpPr>
          <p:cNvPr id="33" name="Slide Number 9"/>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9</a:t>
            </a:fld>
            <a:endParaRPr sz="900" b="0">
              <a:solidFill>
                <a:srgbClr val="77777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Six types of training samples</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3. Training data</a:t>
            </a:r>
          </a:p>
        </p:txBody>
      </p:sp>
      <p:sp>
        <p:nvSpPr>
          <p:cNvPr id="5" name="ShapeInfo 2452"/>
          <p:cNvSpPr/>
          <p:nvPr/>
        </p:nvSpPr>
        <p:spPr>
          <a:xfrm>
            <a:off x="1447800" y="1208596"/>
            <a:ext cx="2341474" cy="1533411"/>
          </a:xfrm>
          <a:prstGeom prst="rect">
            <a:avLst/>
          </a:prstGeom>
          <a:solidFill>
            <a:srgbClr val="FFFFFF"/>
          </a:solidFill>
          <a:ln w="9525">
            <a:solidFill>
              <a:srgbClr val="D9D9D9"/>
            </a:solidFill>
          </a:ln>
        </p:spPr>
        <p:txBody>
          <a:bodyPr rtlCol="0" anchor="ctr"/>
          <a:lstStyle/>
          <a:p>
            <a:pPr algn="ctr"/>
          </a:p>
        </p:txBody>
      </p:sp>
      <p:sp>
        <p:nvSpPr>
          <p:cNvPr id="6" name="ShapeInfo 2456"/>
          <p:cNvSpPr/>
          <p:nvPr/>
        </p:nvSpPr>
        <p:spPr>
          <a:xfrm>
            <a:off x="1447800" y="1208596"/>
            <a:ext cx="31814" cy="1533411"/>
          </a:xfrm>
          <a:prstGeom prst="rect">
            <a:avLst/>
          </a:prstGeom>
          <a:solidFill>
            <a:srgbClr val="AD132A"/>
          </a:solidFill>
          <a:ln>
            <a:noFill/>
          </a:ln>
        </p:spPr>
        <p:txBody>
          <a:bodyPr rtlCol="0" anchor="ctr"/>
          <a:lstStyle/>
          <a:p>
            <a:pPr algn="ctr"/>
          </a:p>
        </p:txBody>
      </p:sp>
      <p:sp>
        <p:nvSpPr>
          <p:cNvPr id="7" name="Text 2460"/>
          <p:cNvSpPr txBox="1"/>
          <p:nvPr/>
        </p:nvSpPr>
        <p:spPr>
          <a:xfrm>
            <a:off x="1562100" y="1314450"/>
            <a:ext cx="1752600" cy="266700"/>
          </a:xfrm>
          <a:prstGeom prst="rect">
            <a:avLst/>
          </a:prstGeom>
          <a:noFill/>
        </p:spPr>
        <p:txBody>
          <a:bodyPr wrap="square" lIns="0" rIns="0" tIns="0" bIns="0" anchor="t">
            <a:noAutofit/>
          </a:bodyPr>
          <a:lstStyle/>
          <a:p>
            <a:pPr algn="l">
              <a:lnSpc>
                <a:spcPct val="90000"/>
              </a:lnSpc>
            </a:pPr>
            <a:r>
              <a:rPr sz="1200" b="1" lang="en-US">
                <a:solidFill>
                  <a:srgbClr val="AD132A"/>
                </a:solidFill>
                <a:latin typeface="Arial"/>
              </a:rPr>
              <a:t>Classical TTS</a:t>
            </a:r>
            <a:endParaRPr lang="en-US" sz="1200" b="1"/>
          </a:p>
        </p:txBody>
      </p:sp>
      <p:sp>
        <p:nvSpPr>
          <p:cNvPr id="8" name="Text 2464"/>
          <p:cNvSpPr txBox="1"/>
          <p:nvPr/>
        </p:nvSpPr>
        <p:spPr>
          <a:xfrm>
            <a:off x="1562100" y="1657350"/>
            <a:ext cx="2114550" cy="295275"/>
          </a:xfrm>
          <a:prstGeom prst="rect">
            <a:avLst/>
          </a:prstGeom>
          <a:noFill/>
        </p:spPr>
        <p:txBody>
          <a:bodyPr wrap="square" lIns="0" rIns="0" tIns="0" bIns="0" anchor="t">
            <a:noAutofit/>
          </a:bodyPr>
          <a:lstStyle/>
          <a:p>
            <a:pPr algn="l">
              <a:lnSpc>
                <a:spcPct val="90000"/>
              </a:lnSpc>
            </a:pPr>
            <a:r>
              <a:rPr sz="950" b="0" lang="en-US">
                <a:solidFill>
                  <a:srgbClr val="666666"/>
                </a:solidFill>
                <a:latin typeface="Arial"/>
              </a:rPr>
              <a:t>Plain voice</a:t>
            </a:r>
            <a:endParaRPr lang="en-US" sz="950"/>
          </a:p>
        </p:txBody>
      </p:sp>
      <p:sp>
        <p:nvSpPr>
          <p:cNvPr id="9" name="Text 2476"/>
          <p:cNvSpPr txBox="1"/>
          <p:nvPr/>
        </p:nvSpPr>
        <p:spPr>
          <a:xfrm>
            <a:off x="3305175" y="1628775"/>
            <a:ext cx="409575" cy="161925"/>
          </a:xfrm>
          <a:prstGeom prst="rect">
            <a:avLst/>
          </a:prstGeom>
          <a:noFill/>
        </p:spPr>
        <p:txBody>
          <a:bodyPr wrap="square" lIns="0" rIns="0" tIns="0" bIns="0" anchor="t">
            <a:noAutofit/>
          </a:bodyPr>
          <a:lstStyle/>
          <a:p>
            <a:pPr algn="ctr">
              <a:lnSpc>
                <a:spcPct val="90000"/>
              </a:lnSpc>
            </a:pPr>
            <a:r>
              <a:rPr sz="850" b="0" lang="en-US">
                <a:solidFill>
                  <a:srgbClr val="AD132A"/>
                </a:solidFill>
                <a:latin typeface="Arial"/>
              </a:rPr>
              <a:t>2.2 s</a:t>
            </a:r>
            <a:endParaRPr lang="en-US" sz="850" b="0"/>
          </a:p>
        </p:txBody>
      </p:sp>
      <p:sp>
        <p:nvSpPr>
          <p:cNvPr id="10" name="Text 2480"/>
          <p:cNvSpPr txBox="1"/>
          <p:nvPr/>
        </p:nvSpPr>
        <p:spPr>
          <a:xfrm>
            <a:off x="1562100" y="2019300"/>
            <a:ext cx="2105025" cy="704850"/>
          </a:xfrm>
          <a:prstGeom prst="rect">
            <a:avLst/>
          </a:prstGeom>
          <a:noFill/>
        </p:spPr>
        <p:txBody>
          <a:bodyPr wrap="square" lIns="0" rIns="0" tIns="0" bIns="0" anchor="t">
            <a:noAutofit/>
          </a:bodyPr>
          <a:lstStyle/>
          <a:p>
            <a:pPr>
              <a:buNone/>
            </a:pPr>
            <a:r>
              <a:rPr sz="1100" b="0" lang="en-US">
                <a:solidFill>
                  <a:srgbClr val="333333"/>
                </a:solidFill>
                <a:latin typeface="Arial"/>
              </a:rPr>
              <a:t>"A rich farm is rare in this sandy waste."</a:t>
            </a:r>
          </a:p>
        </p:txBody>
      </p:sp>
      <p:sp>
        <p:nvSpPr>
          <p:cNvPr id="11" name="ShapeInfo 2484"/>
          <p:cNvSpPr/>
          <p:nvPr/>
        </p:nvSpPr>
        <p:spPr>
          <a:xfrm>
            <a:off x="3941978" y="1208596"/>
            <a:ext cx="2341474" cy="1533411"/>
          </a:xfrm>
          <a:prstGeom prst="rect">
            <a:avLst/>
          </a:prstGeom>
          <a:solidFill>
            <a:srgbClr val="FFFFFF"/>
          </a:solidFill>
          <a:ln w="9525">
            <a:solidFill>
              <a:srgbClr val="D9D9D9"/>
            </a:solidFill>
          </a:ln>
        </p:spPr>
        <p:txBody>
          <a:bodyPr rtlCol="0" anchor="ctr"/>
          <a:lstStyle/>
          <a:p>
            <a:pPr algn="ctr"/>
          </a:p>
        </p:txBody>
      </p:sp>
      <p:sp>
        <p:nvSpPr>
          <p:cNvPr id="12" name="ShapeInfo 2488"/>
          <p:cNvSpPr/>
          <p:nvPr/>
        </p:nvSpPr>
        <p:spPr>
          <a:xfrm>
            <a:off x="3941978" y="1208596"/>
            <a:ext cx="31814" cy="1533411"/>
          </a:xfrm>
          <a:prstGeom prst="rect">
            <a:avLst/>
          </a:prstGeom>
          <a:solidFill>
            <a:srgbClr val="AD132A"/>
          </a:solidFill>
          <a:ln>
            <a:noFill/>
          </a:ln>
        </p:spPr>
        <p:txBody>
          <a:bodyPr rtlCol="0" anchor="ctr"/>
          <a:lstStyle/>
          <a:p>
            <a:pPr algn="ctr"/>
          </a:p>
        </p:txBody>
      </p:sp>
      <p:sp>
        <p:nvSpPr>
          <p:cNvPr id="13" name="Text 2492"/>
          <p:cNvSpPr txBox="1"/>
          <p:nvPr/>
        </p:nvSpPr>
        <p:spPr>
          <a:xfrm>
            <a:off x="4056698" y="1314450"/>
            <a:ext cx="1752600" cy="266700"/>
          </a:xfrm>
          <a:prstGeom prst="rect">
            <a:avLst/>
          </a:prstGeom>
          <a:noFill/>
        </p:spPr>
        <p:txBody>
          <a:bodyPr wrap="square" lIns="0" rIns="0" tIns="0" bIns="0" anchor="t">
            <a:noAutofit/>
          </a:bodyPr>
          <a:lstStyle/>
          <a:p>
            <a:pPr algn="l">
              <a:lnSpc>
                <a:spcPct val="90000"/>
              </a:lnSpc>
            </a:pPr>
            <a:r>
              <a:rPr sz="1200" b="1" lang="en-US">
                <a:solidFill>
                  <a:srgbClr val="AD132A"/>
                </a:solidFill>
                <a:latin typeface="Arial"/>
              </a:rPr>
              <a:t>Multi-talker</a:t>
            </a:r>
            <a:endParaRPr lang="en-US" sz="1200" b="1"/>
          </a:p>
        </p:txBody>
      </p:sp>
      <p:sp>
        <p:nvSpPr>
          <p:cNvPr id="14" name="Text 2496"/>
          <p:cNvSpPr txBox="1"/>
          <p:nvPr/>
        </p:nvSpPr>
        <p:spPr>
          <a:xfrm>
            <a:off x="4056698" y="1657350"/>
            <a:ext cx="2114550" cy="295275"/>
          </a:xfrm>
          <a:prstGeom prst="rect">
            <a:avLst/>
          </a:prstGeom>
          <a:noFill/>
        </p:spPr>
        <p:txBody>
          <a:bodyPr wrap="square" lIns="0" rIns="0" tIns="0" bIns="0" anchor="t">
            <a:noAutofit/>
          </a:bodyPr>
          <a:lstStyle/>
          <a:p>
            <a:pPr algn="l">
              <a:lnSpc>
                <a:spcPct val="90000"/>
              </a:lnSpc>
            </a:pPr>
            <a:r>
              <a:rPr sz="950" b="0" lang="en-US">
                <a:solidFill>
                  <a:srgbClr val="666666"/>
                </a:solidFill>
                <a:latin typeface="Arial"/>
              </a:rPr>
              <a:t>Warm, bored / sharp, grateful</a:t>
            </a:r>
            <a:endParaRPr lang="en-US" sz="950"/>
          </a:p>
        </p:txBody>
      </p:sp>
      <p:sp>
        <p:nvSpPr>
          <p:cNvPr id="15" name="Text 2508"/>
          <p:cNvSpPr txBox="1"/>
          <p:nvPr/>
        </p:nvSpPr>
        <p:spPr>
          <a:xfrm>
            <a:off x="5799772" y="1628775"/>
            <a:ext cx="409575" cy="161925"/>
          </a:xfrm>
          <a:prstGeom prst="rect">
            <a:avLst/>
          </a:prstGeom>
          <a:noFill/>
        </p:spPr>
        <p:txBody>
          <a:bodyPr wrap="square" lIns="0" rIns="0" tIns="0" bIns="0" anchor="t">
            <a:noAutofit/>
          </a:bodyPr>
          <a:lstStyle/>
          <a:p>
            <a:pPr algn="ctr">
              <a:lnSpc>
                <a:spcPct val="90000"/>
              </a:lnSpc>
            </a:pPr>
            <a:r>
              <a:rPr sz="850" b="0" lang="en-US">
                <a:solidFill>
                  <a:srgbClr val="AD132A"/>
                </a:solidFill>
                <a:latin typeface="Arial"/>
              </a:rPr>
              <a:t>7.4 s</a:t>
            </a:r>
            <a:endParaRPr lang="en-US" sz="850" b="0"/>
          </a:p>
        </p:txBody>
      </p:sp>
      <p:sp>
        <p:nvSpPr>
          <p:cNvPr id="16" name="Text 2512"/>
          <p:cNvSpPr txBox="1"/>
          <p:nvPr/>
        </p:nvSpPr>
        <p:spPr>
          <a:xfrm>
            <a:off x="4056698" y="2019300"/>
            <a:ext cx="2105025" cy="704850"/>
          </a:xfrm>
          <a:prstGeom prst="rect">
            <a:avLst/>
          </a:prstGeom>
          <a:noFill/>
        </p:spPr>
        <p:txBody>
          <a:bodyPr wrap="square" lIns="0" rIns="0" tIns="0" bIns="0" anchor="t">
            <a:noAutofit/>
          </a:bodyPr>
          <a:lstStyle/>
          <a:p>
            <a:pPr>
              <a:buNone/>
            </a:pPr>
            <a:r>
              <a:rPr sz="1100" b="0" lang="en-US">
                <a:solidFill>
                  <a:srgbClr val="333333"/>
                </a:solidFill>
                <a:latin typeface="Arial"/>
              </a:rPr>
              <a:t>Adult: "Oh, really? You think that's funny, huh?"</a:t>
            </a:r>
          </a:p>
          <a:p>
            <a:pPr>
              <a:buNone/>
            </a:pPr>
            <a:r>
              <a:rPr sz="1100" b="0" lang="en-US">
                <a:solidFill>
                  <a:srgbClr val="333333"/>
                </a:solidFill>
                <a:latin typeface="Arial"/>
              </a:rPr>
              <a:t>Teen: "Thanks for the joke, sis, it actually made me smile."</a:t>
            </a:r>
          </a:p>
        </p:txBody>
      </p:sp>
      <p:sp>
        <p:nvSpPr>
          <p:cNvPr id="17" name="ShapeInfo 2516"/>
          <p:cNvSpPr/>
          <p:nvPr/>
        </p:nvSpPr>
        <p:spPr>
          <a:xfrm>
            <a:off x="6436157" y="1208596"/>
            <a:ext cx="2341474" cy="1533411"/>
          </a:xfrm>
          <a:prstGeom prst="rect">
            <a:avLst/>
          </a:prstGeom>
          <a:solidFill>
            <a:srgbClr val="FFFFFF"/>
          </a:solidFill>
          <a:ln w="9525">
            <a:solidFill>
              <a:srgbClr val="D9D9D9"/>
            </a:solidFill>
          </a:ln>
        </p:spPr>
        <p:txBody>
          <a:bodyPr rtlCol="0" anchor="ctr"/>
          <a:lstStyle/>
          <a:p>
            <a:pPr algn="ctr"/>
          </a:p>
        </p:txBody>
      </p:sp>
      <p:sp>
        <p:nvSpPr>
          <p:cNvPr id="18" name="ShapeInfo 2520"/>
          <p:cNvSpPr/>
          <p:nvPr/>
        </p:nvSpPr>
        <p:spPr>
          <a:xfrm>
            <a:off x="6436157" y="1208596"/>
            <a:ext cx="31814" cy="1533411"/>
          </a:xfrm>
          <a:prstGeom prst="rect">
            <a:avLst/>
          </a:prstGeom>
          <a:solidFill>
            <a:srgbClr val="AD132A"/>
          </a:solidFill>
          <a:ln>
            <a:noFill/>
          </a:ln>
        </p:spPr>
        <p:txBody>
          <a:bodyPr rtlCol="0" anchor="ctr"/>
          <a:lstStyle/>
          <a:p>
            <a:pPr algn="ctr"/>
          </a:p>
        </p:txBody>
      </p:sp>
      <p:sp>
        <p:nvSpPr>
          <p:cNvPr id="19" name="Text 2524"/>
          <p:cNvSpPr txBox="1"/>
          <p:nvPr/>
        </p:nvSpPr>
        <p:spPr>
          <a:xfrm>
            <a:off x="6550342" y="1314450"/>
            <a:ext cx="1752600" cy="266700"/>
          </a:xfrm>
          <a:prstGeom prst="rect">
            <a:avLst/>
          </a:prstGeom>
          <a:noFill/>
        </p:spPr>
        <p:txBody>
          <a:bodyPr wrap="square" lIns="0" rIns="0" tIns="0" bIns="0" anchor="t">
            <a:noAutofit/>
          </a:bodyPr>
          <a:lstStyle/>
          <a:p>
            <a:pPr algn="l">
              <a:lnSpc>
                <a:spcPct val="90000"/>
              </a:lnSpc>
            </a:pPr>
            <a:r>
              <a:rPr sz="1200" b="1" lang="en-US">
                <a:solidFill>
                  <a:srgbClr val="AD132A"/>
                </a:solidFill>
                <a:latin typeface="Arial"/>
              </a:rPr>
              <a:t>Intent-to-speech</a:t>
            </a:r>
            <a:endParaRPr lang="en-US" sz="1200" b="1"/>
          </a:p>
        </p:txBody>
      </p:sp>
      <p:sp>
        <p:nvSpPr>
          <p:cNvPr id="20" name="Text 2528"/>
          <p:cNvSpPr txBox="1"/>
          <p:nvPr/>
        </p:nvSpPr>
        <p:spPr>
          <a:xfrm>
            <a:off x="6550342" y="1657350"/>
            <a:ext cx="2114550" cy="295275"/>
          </a:xfrm>
          <a:prstGeom prst="rect">
            <a:avLst/>
          </a:prstGeom>
          <a:noFill/>
        </p:spPr>
        <p:txBody>
          <a:bodyPr wrap="square" lIns="0" rIns="0" tIns="0" bIns="0" anchor="t">
            <a:noAutofit/>
          </a:bodyPr>
          <a:lstStyle/>
          <a:p>
            <a:pPr algn="l">
              <a:lnSpc>
                <a:spcPct val="90000"/>
              </a:lnSpc>
            </a:pPr>
            <a:r>
              <a:rPr sz="950" b="0" lang="en-US">
                <a:solidFill>
                  <a:srgbClr val="666666"/>
                </a:solidFill>
                <a:latin typeface="Arial"/>
              </a:rPr>
              <a:t>Goal; model chooses the words</a:t>
            </a:r>
            <a:endParaRPr lang="en-US" sz="950"/>
          </a:p>
        </p:txBody>
      </p:sp>
      <p:sp>
        <p:nvSpPr>
          <p:cNvPr id="21" name="Text 2540"/>
          <p:cNvSpPr txBox="1"/>
          <p:nvPr/>
        </p:nvSpPr>
        <p:spPr>
          <a:xfrm>
            <a:off x="8293418" y="1628775"/>
            <a:ext cx="409575" cy="161925"/>
          </a:xfrm>
          <a:prstGeom prst="rect">
            <a:avLst/>
          </a:prstGeom>
          <a:noFill/>
        </p:spPr>
        <p:txBody>
          <a:bodyPr wrap="square" lIns="0" rIns="0" tIns="0" bIns="0" anchor="t">
            <a:noAutofit/>
          </a:bodyPr>
          <a:lstStyle/>
          <a:p>
            <a:pPr algn="ctr">
              <a:lnSpc>
                <a:spcPct val="90000"/>
              </a:lnSpc>
            </a:pPr>
            <a:r>
              <a:rPr sz="850" b="0" lang="en-US">
                <a:solidFill>
                  <a:srgbClr val="AD132A"/>
                </a:solidFill>
                <a:latin typeface="Arial"/>
              </a:rPr>
              <a:t>3.3 s</a:t>
            </a:r>
            <a:endParaRPr lang="en-US" sz="850" b="0"/>
          </a:p>
        </p:txBody>
      </p:sp>
      <p:sp>
        <p:nvSpPr>
          <p:cNvPr id="22" name="Text 2544"/>
          <p:cNvSpPr txBox="1"/>
          <p:nvPr/>
        </p:nvSpPr>
        <p:spPr>
          <a:xfrm>
            <a:off x="6550342" y="2019300"/>
            <a:ext cx="2105025" cy="704850"/>
          </a:xfrm>
          <a:prstGeom prst="rect">
            <a:avLst/>
          </a:prstGeom>
          <a:noFill/>
        </p:spPr>
        <p:txBody>
          <a:bodyPr wrap="square" lIns="0" rIns="0" tIns="0" bIns="0" anchor="t">
            <a:noAutofit/>
          </a:bodyPr>
          <a:lstStyle/>
          <a:p>
            <a:pPr>
              <a:buNone/>
            </a:pPr>
            <a:r>
              <a:rPr sz="1100" b="0" lang="en-US">
                <a:solidFill>
                  <a:srgbClr val="333333"/>
                </a:solidFill>
                <a:latin typeface="Arial"/>
              </a:rPr>
              <a:t>"I'm trying to convey some bad news gently to a large audience, using a calm and composed tone."</a:t>
            </a:r>
          </a:p>
        </p:txBody>
      </p:sp>
      <p:sp>
        <p:nvSpPr>
          <p:cNvPr id="23" name="ShapeInfo 2548"/>
          <p:cNvSpPr/>
          <p:nvPr/>
        </p:nvSpPr>
        <p:spPr>
          <a:xfrm>
            <a:off x="1447800" y="2818359"/>
            <a:ext cx="2341474" cy="1533411"/>
          </a:xfrm>
          <a:prstGeom prst="rect">
            <a:avLst/>
          </a:prstGeom>
          <a:solidFill>
            <a:srgbClr val="FFFFFF"/>
          </a:solidFill>
          <a:ln w="9525">
            <a:solidFill>
              <a:srgbClr val="D9D9D9"/>
            </a:solidFill>
          </a:ln>
        </p:spPr>
        <p:txBody>
          <a:bodyPr rtlCol="0" anchor="ctr"/>
          <a:lstStyle/>
          <a:p>
            <a:pPr algn="ctr"/>
          </a:p>
        </p:txBody>
      </p:sp>
      <p:sp>
        <p:nvSpPr>
          <p:cNvPr id="24" name="ShapeInfo 2552"/>
          <p:cNvSpPr/>
          <p:nvPr/>
        </p:nvSpPr>
        <p:spPr>
          <a:xfrm>
            <a:off x="1447800" y="2818359"/>
            <a:ext cx="31814" cy="1533411"/>
          </a:xfrm>
          <a:prstGeom prst="rect">
            <a:avLst/>
          </a:prstGeom>
          <a:solidFill>
            <a:srgbClr val="AD132A"/>
          </a:solidFill>
          <a:ln>
            <a:noFill/>
          </a:ln>
        </p:spPr>
        <p:txBody>
          <a:bodyPr rtlCol="0" anchor="ctr"/>
          <a:lstStyle/>
          <a:p>
            <a:pPr algn="ctr"/>
          </a:p>
        </p:txBody>
      </p:sp>
      <p:sp>
        <p:nvSpPr>
          <p:cNvPr id="25" name="Text 2556"/>
          <p:cNvSpPr txBox="1"/>
          <p:nvPr/>
        </p:nvSpPr>
        <p:spPr>
          <a:xfrm>
            <a:off x="1562100" y="2924175"/>
            <a:ext cx="1752600" cy="266700"/>
          </a:xfrm>
          <a:prstGeom prst="rect">
            <a:avLst/>
          </a:prstGeom>
          <a:noFill/>
        </p:spPr>
        <p:txBody>
          <a:bodyPr wrap="square" lIns="0" rIns="0" tIns="0" bIns="0" anchor="t">
            <a:noAutofit/>
          </a:bodyPr>
          <a:lstStyle/>
          <a:p>
            <a:pPr algn="l">
              <a:lnSpc>
                <a:spcPct val="90000"/>
              </a:lnSpc>
            </a:pPr>
            <a:r>
              <a:rPr sz="1200" b="1" lang="en-US">
                <a:solidFill>
                  <a:srgbClr val="AD132A"/>
                </a:solidFill>
                <a:latin typeface="Arial"/>
              </a:rPr>
              <a:t>Role-play</a:t>
            </a:r>
            <a:endParaRPr lang="en-US" sz="1200" b="1"/>
          </a:p>
        </p:txBody>
      </p:sp>
      <p:sp>
        <p:nvSpPr>
          <p:cNvPr id="26" name="Text 2560"/>
          <p:cNvSpPr txBox="1"/>
          <p:nvPr/>
        </p:nvSpPr>
        <p:spPr>
          <a:xfrm>
            <a:off x="1562100" y="3267075"/>
            <a:ext cx="2114550" cy="295275"/>
          </a:xfrm>
          <a:prstGeom prst="rect">
            <a:avLst/>
          </a:prstGeom>
          <a:noFill/>
        </p:spPr>
        <p:txBody>
          <a:bodyPr wrap="square" lIns="0" rIns="0" tIns="0" bIns="0" anchor="t">
            <a:noAutofit/>
          </a:bodyPr>
          <a:lstStyle/>
          <a:p>
            <a:pPr algn="l">
              <a:lnSpc>
                <a:spcPct val="90000"/>
              </a:lnSpc>
            </a:pPr>
            <a:r>
              <a:rPr sz="950" b="0" lang="en-US">
                <a:solidFill>
                  <a:srgbClr val="666666"/>
                </a:solidFill>
                <a:latin typeface="Arial"/>
              </a:rPr>
              <a:t>An 1860s beekeeper whispers</a:t>
            </a:r>
            <a:endParaRPr lang="en-US" sz="950"/>
          </a:p>
        </p:txBody>
      </p:sp>
      <p:sp>
        <p:nvSpPr>
          <p:cNvPr id="27" name="Text 2572"/>
          <p:cNvSpPr txBox="1"/>
          <p:nvPr/>
        </p:nvSpPr>
        <p:spPr>
          <a:xfrm>
            <a:off x="3305175" y="3238500"/>
            <a:ext cx="409575" cy="161925"/>
          </a:xfrm>
          <a:prstGeom prst="rect">
            <a:avLst/>
          </a:prstGeom>
          <a:noFill/>
        </p:spPr>
        <p:txBody>
          <a:bodyPr wrap="square" lIns="0" rIns="0" tIns="0" bIns="0" anchor="t">
            <a:noAutofit/>
          </a:bodyPr>
          <a:lstStyle/>
          <a:p>
            <a:pPr algn="ctr">
              <a:lnSpc>
                <a:spcPct val="90000"/>
              </a:lnSpc>
            </a:pPr>
            <a:r>
              <a:rPr sz="850" b="0" lang="en-US">
                <a:solidFill>
                  <a:srgbClr val="AD132A"/>
                </a:solidFill>
                <a:latin typeface="Arial"/>
              </a:rPr>
              <a:t>4.0 s</a:t>
            </a:r>
            <a:endParaRPr lang="en-US" sz="850" b="0"/>
          </a:p>
        </p:txBody>
      </p:sp>
      <p:sp>
        <p:nvSpPr>
          <p:cNvPr id="28" name="Text 2576"/>
          <p:cNvSpPr txBox="1"/>
          <p:nvPr/>
        </p:nvSpPr>
        <p:spPr>
          <a:xfrm>
            <a:off x="1562100" y="3629025"/>
            <a:ext cx="2105025" cy="704850"/>
          </a:xfrm>
          <a:prstGeom prst="rect">
            <a:avLst/>
          </a:prstGeom>
          <a:noFill/>
        </p:spPr>
        <p:txBody>
          <a:bodyPr wrap="square" lIns="0" rIns="0" tIns="0" bIns="0" anchor="t">
            <a:noAutofit/>
          </a:bodyPr>
          <a:lstStyle/>
          <a:p>
            <a:pPr>
              <a:buNone/>
            </a:pPr>
            <a:r>
              <a:rPr sz="1100" b="0" lang="en-US">
                <a:solidFill>
                  <a:srgbClr val="333333"/>
                </a:solidFill>
                <a:latin typeface="Arial"/>
              </a:rPr>
              <a:t>"Stay away from the hives tonight, the smoke betrays a hidden danger."</a:t>
            </a:r>
          </a:p>
        </p:txBody>
      </p:sp>
      <p:sp>
        <p:nvSpPr>
          <p:cNvPr id="29" name="ShapeInfo 2580"/>
          <p:cNvSpPr/>
          <p:nvPr/>
        </p:nvSpPr>
        <p:spPr>
          <a:xfrm>
            <a:off x="3941978" y="2818359"/>
            <a:ext cx="2341474" cy="1533411"/>
          </a:xfrm>
          <a:prstGeom prst="rect">
            <a:avLst/>
          </a:prstGeom>
          <a:solidFill>
            <a:srgbClr val="FFFFFF"/>
          </a:solidFill>
          <a:ln w="9525">
            <a:solidFill>
              <a:srgbClr val="D9D9D9"/>
            </a:solidFill>
          </a:ln>
        </p:spPr>
        <p:txBody>
          <a:bodyPr rtlCol="0" anchor="ctr"/>
          <a:lstStyle/>
          <a:p>
            <a:pPr algn="ctr"/>
          </a:p>
        </p:txBody>
      </p:sp>
      <p:sp>
        <p:nvSpPr>
          <p:cNvPr id="30" name="ShapeInfo 2584"/>
          <p:cNvSpPr/>
          <p:nvPr/>
        </p:nvSpPr>
        <p:spPr>
          <a:xfrm>
            <a:off x="3941978" y="2818359"/>
            <a:ext cx="31814" cy="1533411"/>
          </a:xfrm>
          <a:prstGeom prst="rect">
            <a:avLst/>
          </a:prstGeom>
          <a:solidFill>
            <a:srgbClr val="AD132A"/>
          </a:solidFill>
          <a:ln>
            <a:noFill/>
          </a:ln>
        </p:spPr>
        <p:txBody>
          <a:bodyPr rtlCol="0" anchor="ctr"/>
          <a:lstStyle/>
          <a:p>
            <a:pPr algn="ctr"/>
          </a:p>
        </p:txBody>
      </p:sp>
      <p:sp>
        <p:nvSpPr>
          <p:cNvPr id="31" name="Text 2588"/>
          <p:cNvSpPr txBox="1"/>
          <p:nvPr/>
        </p:nvSpPr>
        <p:spPr>
          <a:xfrm>
            <a:off x="4056698" y="2924175"/>
            <a:ext cx="1752600" cy="266700"/>
          </a:xfrm>
          <a:prstGeom prst="rect">
            <a:avLst/>
          </a:prstGeom>
          <a:noFill/>
        </p:spPr>
        <p:txBody>
          <a:bodyPr wrap="square" lIns="0" rIns="0" tIns="0" bIns="0" anchor="t">
            <a:noAutofit/>
          </a:bodyPr>
          <a:lstStyle/>
          <a:p>
            <a:pPr algn="l">
              <a:lnSpc>
                <a:spcPct val="90000"/>
              </a:lnSpc>
            </a:pPr>
            <a:r>
              <a:rPr sz="1200" b="1" lang="en-US">
                <a:solidFill>
                  <a:srgbClr val="AD132A"/>
                </a:solidFill>
                <a:latin typeface="Arial"/>
              </a:rPr>
              <a:t>Singing</a:t>
            </a:r>
            <a:endParaRPr lang="en-US" sz="1200" b="1"/>
          </a:p>
        </p:txBody>
      </p:sp>
      <p:sp>
        <p:nvSpPr>
          <p:cNvPr id="32" name="Text 2592"/>
          <p:cNvSpPr txBox="1"/>
          <p:nvPr/>
        </p:nvSpPr>
        <p:spPr>
          <a:xfrm>
            <a:off x="4056698" y="3267075"/>
            <a:ext cx="2114550" cy="295275"/>
          </a:xfrm>
          <a:prstGeom prst="rect">
            <a:avLst/>
          </a:prstGeom>
          <a:noFill/>
        </p:spPr>
        <p:txBody>
          <a:bodyPr wrap="square" lIns="0" rIns="0" tIns="0" bIns="0" anchor="t">
            <a:noAutofit/>
          </a:bodyPr>
          <a:lstStyle/>
          <a:p>
            <a:pPr algn="l">
              <a:lnSpc>
                <a:spcPct val="90000"/>
              </a:lnSpc>
            </a:pPr>
            <a:r>
              <a:rPr sz="950" b="0" lang="en-US">
                <a:solidFill>
                  <a:srgbClr val="666666"/>
                </a:solidFill>
                <a:latin typeface="Arial"/>
              </a:rPr>
              <a:t>Tender punk; staccato phrasing</a:t>
            </a:r>
            <a:endParaRPr lang="en-US" sz="950"/>
          </a:p>
        </p:txBody>
      </p:sp>
      <p:sp>
        <p:nvSpPr>
          <p:cNvPr id="33" name="Text 2604"/>
          <p:cNvSpPr txBox="1"/>
          <p:nvPr/>
        </p:nvSpPr>
        <p:spPr>
          <a:xfrm>
            <a:off x="5799772" y="3238500"/>
            <a:ext cx="409575" cy="161925"/>
          </a:xfrm>
          <a:prstGeom prst="rect">
            <a:avLst/>
          </a:prstGeom>
          <a:noFill/>
        </p:spPr>
        <p:txBody>
          <a:bodyPr wrap="square" lIns="0" rIns="0" tIns="0" bIns="0" anchor="t">
            <a:noAutofit/>
          </a:bodyPr>
          <a:lstStyle/>
          <a:p>
            <a:pPr algn="ctr">
              <a:lnSpc>
                <a:spcPct val="90000"/>
              </a:lnSpc>
            </a:pPr>
            <a:r>
              <a:rPr sz="850" b="0" lang="en-US">
                <a:solidFill>
                  <a:srgbClr val="AD132A"/>
                </a:solidFill>
                <a:latin typeface="Arial"/>
              </a:rPr>
              <a:t>8.5 s</a:t>
            </a:r>
            <a:endParaRPr lang="en-US" sz="850" b="0"/>
          </a:p>
        </p:txBody>
      </p:sp>
      <p:sp>
        <p:nvSpPr>
          <p:cNvPr id="34" name="Text 2608"/>
          <p:cNvSpPr txBox="1"/>
          <p:nvPr/>
        </p:nvSpPr>
        <p:spPr>
          <a:xfrm>
            <a:off x="4056698" y="3629025"/>
            <a:ext cx="2105025" cy="704850"/>
          </a:xfrm>
          <a:prstGeom prst="rect">
            <a:avLst/>
          </a:prstGeom>
          <a:noFill/>
        </p:spPr>
        <p:txBody>
          <a:bodyPr wrap="square" lIns="0" rIns="0" tIns="0" bIns="0" anchor="t">
            <a:noAutofit/>
          </a:bodyPr>
          <a:lstStyle/>
          <a:p>
            <a:pPr>
              <a:buNone/>
            </a:pPr>
            <a:r>
              <a:rPr sz="1100" b="0" lang="en-US">
                <a:solidFill>
                  <a:srgbClr val="333333"/>
                </a:solidFill>
                <a:latin typeface="Arial"/>
              </a:rPr>
              <a:t>"Your reckless heart beats like a broken drum, but I still love the bruised rhythm of your midnight sighs."</a:t>
            </a:r>
          </a:p>
        </p:txBody>
      </p:sp>
      <p:sp>
        <p:nvSpPr>
          <p:cNvPr id="35" name="ShapeInfo 2612"/>
          <p:cNvSpPr/>
          <p:nvPr/>
        </p:nvSpPr>
        <p:spPr>
          <a:xfrm>
            <a:off x="6436157" y="2818359"/>
            <a:ext cx="2341474" cy="1533411"/>
          </a:xfrm>
          <a:prstGeom prst="rect">
            <a:avLst/>
          </a:prstGeom>
          <a:solidFill>
            <a:srgbClr val="FFFFFF"/>
          </a:solidFill>
          <a:ln w="9525">
            <a:solidFill>
              <a:srgbClr val="D9D9D9"/>
            </a:solidFill>
          </a:ln>
        </p:spPr>
        <p:txBody>
          <a:bodyPr rtlCol="0" anchor="ctr"/>
          <a:lstStyle/>
          <a:p>
            <a:pPr algn="ctr"/>
          </a:p>
        </p:txBody>
      </p:sp>
      <p:sp>
        <p:nvSpPr>
          <p:cNvPr id="36" name="ShapeInfo 2616"/>
          <p:cNvSpPr/>
          <p:nvPr/>
        </p:nvSpPr>
        <p:spPr>
          <a:xfrm>
            <a:off x="6436157" y="2818359"/>
            <a:ext cx="31814" cy="1533411"/>
          </a:xfrm>
          <a:prstGeom prst="rect">
            <a:avLst/>
          </a:prstGeom>
          <a:solidFill>
            <a:srgbClr val="AD132A"/>
          </a:solidFill>
          <a:ln>
            <a:noFill/>
          </a:ln>
        </p:spPr>
        <p:txBody>
          <a:bodyPr rtlCol="0" anchor="ctr"/>
          <a:lstStyle/>
          <a:p>
            <a:pPr algn="ctr"/>
          </a:p>
        </p:txBody>
      </p:sp>
      <p:sp>
        <p:nvSpPr>
          <p:cNvPr id="37" name="Text 2620"/>
          <p:cNvSpPr txBox="1"/>
          <p:nvPr/>
        </p:nvSpPr>
        <p:spPr>
          <a:xfrm>
            <a:off x="6550342" y="2924175"/>
            <a:ext cx="1752600" cy="266700"/>
          </a:xfrm>
          <a:prstGeom prst="rect">
            <a:avLst/>
          </a:prstGeom>
          <a:noFill/>
        </p:spPr>
        <p:txBody>
          <a:bodyPr wrap="square" lIns="0" rIns="0" tIns="0" bIns="0" anchor="t">
            <a:noAutofit/>
          </a:bodyPr>
          <a:lstStyle/>
          <a:p>
            <a:pPr algn="l">
              <a:lnSpc>
                <a:spcPct val="90000"/>
              </a:lnSpc>
            </a:pPr>
            <a:r>
              <a:rPr sz="1200" b="1" lang="en-US">
                <a:solidFill>
                  <a:srgbClr val="AD132A"/>
                </a:solidFill>
                <a:latin typeface="Arial"/>
              </a:rPr>
              <a:t>General-purpose</a:t>
            </a:r>
            <a:endParaRPr lang="en-US" sz="1200" b="1"/>
          </a:p>
        </p:txBody>
      </p:sp>
      <p:sp>
        <p:nvSpPr>
          <p:cNvPr id="38" name="Text 2624"/>
          <p:cNvSpPr txBox="1"/>
          <p:nvPr/>
        </p:nvSpPr>
        <p:spPr>
          <a:xfrm>
            <a:off x="6550342" y="3267075"/>
            <a:ext cx="2114550" cy="295275"/>
          </a:xfrm>
          <a:prstGeom prst="rect">
            <a:avLst/>
          </a:prstGeom>
          <a:noFill/>
        </p:spPr>
        <p:txBody>
          <a:bodyPr wrap="square" lIns="0" rIns="0" tIns="0" bIns="0" anchor="t">
            <a:noAutofit/>
          </a:bodyPr>
          <a:lstStyle/>
          <a:p>
            <a:pPr algn="l">
              <a:lnSpc>
                <a:spcPct val="90000"/>
              </a:lnSpc>
            </a:pPr>
            <a:r>
              <a:rPr sz="950" b="0" lang="en-US">
                <a:solidFill>
                  <a:srgbClr val="666666"/>
                </a:solidFill>
                <a:latin typeface="Arial"/>
              </a:rPr>
              <a:t>Transform the spoken content</a:t>
            </a:r>
            <a:endParaRPr lang="en-US" sz="950"/>
          </a:p>
        </p:txBody>
      </p:sp>
      <p:sp>
        <p:nvSpPr>
          <p:cNvPr id="39" name="Text 2636"/>
          <p:cNvSpPr txBox="1"/>
          <p:nvPr/>
        </p:nvSpPr>
        <p:spPr>
          <a:xfrm>
            <a:off x="8293418" y="3238500"/>
            <a:ext cx="409575" cy="161925"/>
          </a:xfrm>
          <a:prstGeom prst="rect">
            <a:avLst/>
          </a:prstGeom>
          <a:noFill/>
        </p:spPr>
        <p:txBody>
          <a:bodyPr wrap="square" lIns="0" rIns="0" tIns="0" bIns="0" anchor="t">
            <a:noAutofit/>
          </a:bodyPr>
          <a:lstStyle/>
          <a:p>
            <a:pPr algn="ctr">
              <a:lnSpc>
                <a:spcPct val="90000"/>
              </a:lnSpc>
            </a:pPr>
            <a:r>
              <a:rPr sz="850" b="0" lang="en-US">
                <a:solidFill>
                  <a:srgbClr val="AD132A"/>
                </a:solidFill>
                <a:latin typeface="Arial"/>
              </a:rPr>
              <a:t>3.1 s</a:t>
            </a:r>
            <a:endParaRPr lang="en-US" sz="850" b="0"/>
          </a:p>
        </p:txBody>
      </p:sp>
      <p:sp>
        <p:nvSpPr>
          <p:cNvPr id="40" name="Text 2640"/>
          <p:cNvSpPr txBox="1"/>
          <p:nvPr/>
        </p:nvSpPr>
        <p:spPr>
          <a:xfrm>
            <a:off x="6550342" y="3629025"/>
            <a:ext cx="2105025" cy="704850"/>
          </a:xfrm>
          <a:prstGeom prst="rect">
            <a:avLst/>
          </a:prstGeom>
          <a:noFill/>
        </p:spPr>
        <p:txBody>
          <a:bodyPr wrap="square" lIns="0" rIns="0" tIns="0" bIns="0" anchor="t">
            <a:noAutofit/>
          </a:bodyPr>
          <a:lstStyle/>
          <a:p>
            <a:pPr>
              <a:buNone/>
            </a:pPr>
            <a:r>
              <a:rPr sz="1100" b="0" lang="en-US">
                <a:solidFill>
                  <a:srgbClr val="333333"/>
                </a:solidFill>
                <a:latin typeface="Arial"/>
              </a:rPr>
              <a:t>"Can you read one two three in the reverse order? Make a short speech clip."</a:t>
            </a:r>
          </a:p>
        </p:txBody>
      </p:sp>
      <p:sp>
        <p:nvSpPr>
          <p:cNvPr id="41" name="Text 2644"/>
          <p:cNvSpPr txBox="1"/>
          <p:nvPr/>
        </p:nvSpPr>
        <p:spPr>
          <a:xfrm>
            <a:off x="1447800" y="4667250"/>
            <a:ext cx="6353175" cy="304800"/>
          </a:xfrm>
          <a:prstGeom prst="rect">
            <a:avLst/>
          </a:prstGeom>
          <a:noFill/>
        </p:spPr>
        <p:txBody>
          <a:bodyPr wrap="square" lIns="0" rIns="0" tIns="0" bIns="0" anchor="t">
            <a:noAutofit/>
          </a:bodyPr>
          <a:lstStyle/>
          <a:p>
            <a:pPr algn="l">
              <a:lnSpc>
                <a:spcPct val="90000"/>
              </a:lnSpc>
            </a:pPr>
            <a:r>
              <a:rPr sz="850" b="0" lang="en-US">
                <a:solidFill>
                  <a:srgbClr val="666666"/>
                </a:solidFill>
                <a:latin typeface="Arial"/>
              </a:rPr>
              <a:t>Public demos illustrating the six training categories. Requests condensed; quoted speech retained.</a:t>
            </a:r>
            <a:endParaRPr lang="en-US" sz="850" b="0">
              <a:solidFill>
                <a:srgbClr val="666666"/>
              </a:solidFill>
            </a:endParaRPr>
          </a:p>
        </p:txBody>
      </p:sp>
      <p:pic>
        <p:nvPicPr>
          <p:cNvPr id="49" name="Visible play button 1" descr="Embedded audio - classical"/>
          <p:cNvPicPr>
            <a:picLocks noChangeAspect="1"/>
          </p:cNvPicPr>
          <p:nvPr/>
        </p:nvPicPr>
        <p:blipFill>
          <a:blip r:embed="rId4"/>
          <a:stretch>
            <a:fillRect/>
          </a:stretch>
        </p:blipFill>
        <p:spPr>
          <a:xfrm>
            <a:off x="3362325" y="1304925"/>
            <a:ext cx="304800" cy="304800"/>
          </a:xfrm>
          <a:prstGeom prst="rect">
            <a:avLst/>
          </a:prstGeom>
        </p:spPr>
      </p:pic>
      <p:pic>
        <p:nvPicPr>
          <p:cNvPr id="42" name="Audio bagpiper-classical" descr="Embedded audio - classical">
            <a:hlinkClick action="ppaction://media"/>
          </p:cNvPr>
          <p:cNvPicPr>
            <a:picLocks noChangeAspect="1"/>
          </p:cNvPicPr>
          <p:nvPr>
            <a:audioFile r:link="rId3"/>
            <p:extLst>
              <p:ext uri="{DAA4B4D4-6D71-4841-9C94-3DE7FCFB9230}">
                <p14:media xmlns:p14="http://schemas.microsoft.com/office/powerpoint/2010/main" r:embed="rId2"/>
              </p:ext>
            </p:extLst>
          </p:nvPr>
        </p:nvPicPr>
        <p:blipFill>
          <a:blip r:embed="rId4"/>
          <a:stretch>
            <a:fillRect/>
          </a:stretch>
        </p:blipFill>
        <p:spPr>
          <a:xfrm>
            <a:off x="3362325" y="1304925"/>
            <a:ext cx="304800" cy="304800"/>
          </a:xfrm>
          <a:prstGeom prst="rect">
            <a:avLst/>
          </a:prstGeom>
        </p:spPr>
      </p:pic>
      <p:pic>
        <p:nvPicPr>
          <p:cNvPr id="50" name="Visible play button 2" descr="Embedded audio - multi"/>
          <p:cNvPicPr>
            <a:picLocks noChangeAspect="1"/>
          </p:cNvPicPr>
          <p:nvPr/>
        </p:nvPicPr>
        <p:blipFill>
          <a:blip r:embed="rId4"/>
          <a:stretch>
            <a:fillRect/>
          </a:stretch>
        </p:blipFill>
        <p:spPr>
          <a:xfrm>
            <a:off x="5856922" y="1304925"/>
            <a:ext cx="304800" cy="304800"/>
          </a:xfrm>
          <a:prstGeom prst="rect">
            <a:avLst/>
          </a:prstGeom>
        </p:spPr>
      </p:pic>
      <p:pic>
        <p:nvPicPr>
          <p:cNvPr id="43" name="Audio bagpiper-multi" descr="Embedded audio - multi">
            <a:hlinkClick action="ppaction://media"/>
          </p:cNvPr>
          <p:cNvPicPr>
            <a:picLocks noChangeAspect="1"/>
          </p:cNvPicPr>
          <p:nvPr>
            <a:audioFile r:link="rId6"/>
            <p:extLst>
              <p:ext uri="{DAA4B4D4-6D71-4841-9C94-3DE7FCFB9230}">
                <p14:media xmlns:p14="http://schemas.microsoft.com/office/powerpoint/2010/main" r:embed="rId5"/>
              </p:ext>
            </p:extLst>
          </p:nvPr>
        </p:nvPicPr>
        <p:blipFill>
          <a:blip r:embed="rId4"/>
          <a:stretch>
            <a:fillRect/>
          </a:stretch>
        </p:blipFill>
        <p:spPr>
          <a:xfrm>
            <a:off x="5856922" y="1304925"/>
            <a:ext cx="304800" cy="304800"/>
          </a:xfrm>
          <a:prstGeom prst="rect">
            <a:avLst/>
          </a:prstGeom>
        </p:spPr>
      </p:pic>
      <p:pic>
        <p:nvPicPr>
          <p:cNvPr id="51" name="Visible play button 3" descr="Embedded audio - intent_six"/>
          <p:cNvPicPr>
            <a:picLocks noChangeAspect="1"/>
          </p:cNvPicPr>
          <p:nvPr/>
        </p:nvPicPr>
        <p:blipFill>
          <a:blip r:embed="rId4"/>
          <a:stretch>
            <a:fillRect/>
          </a:stretch>
        </p:blipFill>
        <p:spPr>
          <a:xfrm>
            <a:off x="8350568" y="1304925"/>
            <a:ext cx="304800" cy="304800"/>
          </a:xfrm>
          <a:prstGeom prst="rect">
            <a:avLst/>
          </a:prstGeom>
        </p:spPr>
      </p:pic>
      <p:pic>
        <p:nvPicPr>
          <p:cNvPr id="44" name="Audio bagpiper-intent_six" descr="Embedded audio - intent_six">
            <a:hlinkClick action="ppaction://media"/>
          </p:cNvPr>
          <p:cNvPicPr>
            <a:picLocks noChangeAspect="1"/>
          </p:cNvPicPr>
          <p:nvPr>
            <a:audioFile r:link="rId8"/>
            <p:extLst>
              <p:ext uri="{DAA4B4D4-6D71-4841-9C94-3DE7FCFB9230}">
                <p14:media xmlns:p14="http://schemas.microsoft.com/office/powerpoint/2010/main" r:embed="rId7"/>
              </p:ext>
            </p:extLst>
          </p:nvPr>
        </p:nvPicPr>
        <p:blipFill>
          <a:blip r:embed="rId4"/>
          <a:stretch>
            <a:fillRect/>
          </a:stretch>
        </p:blipFill>
        <p:spPr>
          <a:xfrm>
            <a:off x="8350568" y="1304925"/>
            <a:ext cx="304800" cy="304800"/>
          </a:xfrm>
          <a:prstGeom prst="rect">
            <a:avLst/>
          </a:prstGeom>
        </p:spPr>
      </p:pic>
      <p:pic>
        <p:nvPicPr>
          <p:cNvPr id="52" name="Visible play button 4" descr="Embedded audio - role"/>
          <p:cNvPicPr>
            <a:picLocks noChangeAspect="1"/>
          </p:cNvPicPr>
          <p:nvPr/>
        </p:nvPicPr>
        <p:blipFill>
          <a:blip r:embed="rId4"/>
          <a:stretch>
            <a:fillRect/>
          </a:stretch>
        </p:blipFill>
        <p:spPr>
          <a:xfrm>
            <a:off x="3362325" y="2914650"/>
            <a:ext cx="304800" cy="304800"/>
          </a:xfrm>
          <a:prstGeom prst="rect">
            <a:avLst/>
          </a:prstGeom>
        </p:spPr>
      </p:pic>
      <p:pic>
        <p:nvPicPr>
          <p:cNvPr id="45" name="Audio bagpiper-role" descr="Embedded audio - role">
            <a:hlinkClick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4"/>
          <a:stretch>
            <a:fillRect/>
          </a:stretch>
        </p:blipFill>
        <p:spPr>
          <a:xfrm>
            <a:off x="3362325" y="2914650"/>
            <a:ext cx="304800" cy="304800"/>
          </a:xfrm>
          <a:prstGeom prst="rect">
            <a:avLst/>
          </a:prstGeom>
        </p:spPr>
      </p:pic>
      <p:pic>
        <p:nvPicPr>
          <p:cNvPr id="53" name="Visible play button 5" descr="Embedded audio - singing"/>
          <p:cNvPicPr>
            <a:picLocks noChangeAspect="1"/>
          </p:cNvPicPr>
          <p:nvPr/>
        </p:nvPicPr>
        <p:blipFill>
          <a:blip r:embed="rId4"/>
          <a:stretch>
            <a:fillRect/>
          </a:stretch>
        </p:blipFill>
        <p:spPr>
          <a:xfrm>
            <a:off x="5856922" y="2914650"/>
            <a:ext cx="304800" cy="304800"/>
          </a:xfrm>
          <a:prstGeom prst="rect">
            <a:avLst/>
          </a:prstGeom>
        </p:spPr>
      </p:pic>
      <p:pic>
        <p:nvPicPr>
          <p:cNvPr id="46" name="Audio bagpiper-singing" descr="Embedded audio - singing">
            <a:hlinkClick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4"/>
          <a:stretch>
            <a:fillRect/>
          </a:stretch>
        </p:blipFill>
        <p:spPr>
          <a:xfrm>
            <a:off x="5856922" y="2914650"/>
            <a:ext cx="304800" cy="304800"/>
          </a:xfrm>
          <a:prstGeom prst="rect">
            <a:avLst/>
          </a:prstGeom>
        </p:spPr>
      </p:pic>
      <p:pic>
        <p:nvPicPr>
          <p:cNvPr id="54" name="Visible play button 6" descr="Embedded audio - general"/>
          <p:cNvPicPr>
            <a:picLocks noChangeAspect="1"/>
          </p:cNvPicPr>
          <p:nvPr/>
        </p:nvPicPr>
        <p:blipFill>
          <a:blip r:embed="rId4"/>
          <a:stretch>
            <a:fillRect/>
          </a:stretch>
        </p:blipFill>
        <p:spPr>
          <a:xfrm>
            <a:off x="8350568" y="2914650"/>
            <a:ext cx="304800" cy="304800"/>
          </a:xfrm>
          <a:prstGeom prst="rect">
            <a:avLst/>
          </a:prstGeom>
        </p:spPr>
      </p:pic>
      <p:pic>
        <p:nvPicPr>
          <p:cNvPr id="47" name="Audio bagpiper-general" descr="Embedded audio - general">
            <a:hlinkClick action="ppaction://media"/>
          </p:cNvPr>
          <p:cNvPicPr>
            <a:picLocks noChangeAspect="1"/>
          </p:cNvPicPr>
          <p:nvPr>
            <a:audioFile r:link="rId14"/>
            <p:extLst>
              <p:ext uri="{DAA4B4D4-6D71-4841-9C94-3DE7FCFB9230}">
                <p14:media xmlns:p14="http://schemas.microsoft.com/office/powerpoint/2010/main" r:embed="rId13"/>
              </p:ext>
            </p:extLst>
          </p:nvPr>
        </p:nvPicPr>
        <p:blipFill>
          <a:blip r:embed="rId4"/>
          <a:stretch>
            <a:fillRect/>
          </a:stretch>
        </p:blipFill>
        <p:spPr>
          <a:xfrm>
            <a:off x="8350568" y="2914650"/>
            <a:ext cx="304800" cy="304800"/>
          </a:xfrm>
          <a:prstGeom prst="rect">
            <a:avLst/>
          </a:prstGeom>
        </p:spPr>
      </p:pic>
      <p:sp>
        <p:nvSpPr>
          <p:cNvPr id="48" name="Slide Number 10"/>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10</a:t>
            </a:fld>
            <a:endParaRPr sz="900" b="0">
              <a:solidFill>
                <a:srgbClr val="777777"/>
              </a:solidFill>
            </a:endParaRP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160" fill="hold"/>
                                        <p:tgtEl>
                                          <p:spTgt spid="42"/>
                                        </p:tgtEl>
                                      </p:cBhvr>
                                    </p:cmd>
                                  </p:childTnLst>
                                </p:cTn>
                              </p:par>
                            </p:childTnLst>
                          </p:cTn>
                        </p:par>
                      </p:childTnLst>
                    </p:cTn>
                  </p:par>
                </p:childTnLst>
              </p:cTn>
              <p:nextCondLst>
                <p:cond evt="onClick" delay="0">
                  <p:tgtEl>
                    <p:spTgt spid="42"/>
                  </p:tgtEl>
                </p:cond>
              </p:nextCondLst>
            </p:seq>
            <p:seq concurrent="1" nextAc="seek">
              <p:cTn id="8" restart="whenNotActive" fill="hold" evtFilter="cancelBubble" nodeType="interactiveSeq">
                <p:stCondLst>
                  <p:cond evt="onClick" delay="0">
                    <p:tgtEl>
                      <p:spTgt spid="4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7440" fill="hold"/>
                                        <p:tgtEl>
                                          <p:spTgt spid="43"/>
                                        </p:tgtEl>
                                      </p:cBhvr>
                                    </p:cmd>
                                  </p:childTnLst>
                                </p:cTn>
                              </p:par>
                            </p:childTnLst>
                          </p:cTn>
                        </p:par>
                      </p:childTnLst>
                    </p:cTn>
                  </p:par>
                </p:childTnLst>
              </p:cTn>
              <p:nextCondLst>
                <p:cond evt="onClick" delay="0">
                  <p:tgtEl>
                    <p:spTgt spid="43"/>
                  </p:tgtEl>
                </p:cond>
              </p:nextCondLst>
            </p:seq>
            <p:seq concurrent="1" nextAc="seek">
              <p:cTn id="14" restart="whenNotActive" fill="hold" evtFilter="cancelBubble" nodeType="interactiveSeq">
                <p:stCondLst>
                  <p:cond evt="onClick" delay="0">
                    <p:tgtEl>
                      <p:spTgt spid="44"/>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3300" fill="hold"/>
                                        <p:tgtEl>
                                          <p:spTgt spid="44"/>
                                        </p:tgtEl>
                                      </p:cBhvr>
                                    </p:cmd>
                                  </p:childTnLst>
                                </p:cTn>
                              </p:par>
                            </p:childTnLst>
                          </p:cTn>
                        </p:par>
                      </p:childTnLst>
                    </p:cTn>
                  </p:par>
                </p:childTnLst>
              </p:cTn>
              <p:nextCondLst>
                <p:cond evt="onClick" delay="0">
                  <p:tgtEl>
                    <p:spTgt spid="44"/>
                  </p:tgtEl>
                </p:cond>
              </p:nextCondLst>
            </p:seq>
            <p:seq concurrent="1" nextAc="seek">
              <p:cTn id="20" restart="whenNotActive" fill="hold" evtFilter="cancelBubble" nodeType="interactiveSeq">
                <p:stCondLst>
                  <p:cond evt="onClick" delay="0">
                    <p:tgtEl>
                      <p:spTgt spid="45"/>
                    </p:tgtEl>
                  </p:cond>
                </p:stCondLst>
                <p:endSync evt="end" delay="0">
                  <p:rtn val="all"/>
                </p:endSync>
                <p:childTnLst>
                  <p:par>
                    <p:cTn id="21" fill="hold">
                      <p:stCondLst>
                        <p:cond delay="0"/>
                      </p:stCondLst>
                      <p:childTnLst>
                        <p:par>
                          <p:cTn id="22" fill="hold">
                            <p:stCondLst>
                              <p:cond delay="0"/>
                            </p:stCondLst>
                            <p:childTnLst>
                              <p:par>
                                <p:cTn id="23" presetID="1" presetClass="mediacall" presetSubtype="0" fill="hold" nodeType="clickEffect">
                                  <p:stCondLst>
                                    <p:cond delay="0"/>
                                  </p:stCondLst>
                                  <p:childTnLst>
                                    <p:cmd type="call" cmd="playFrom(0.0)">
                                      <p:cBhvr>
                                        <p:cTn id="24" dur="4000" fill="hold"/>
                                        <p:tgtEl>
                                          <p:spTgt spid="45"/>
                                        </p:tgtEl>
                                      </p:cBhvr>
                                    </p:cmd>
                                  </p:childTnLst>
                                </p:cTn>
                              </p:par>
                            </p:childTnLst>
                          </p:cTn>
                        </p:par>
                      </p:childTnLst>
                    </p:cTn>
                  </p:par>
                </p:childTnLst>
              </p:cTn>
              <p:nextCondLst>
                <p:cond evt="onClick" delay="0">
                  <p:tgtEl>
                    <p:spTgt spid="45"/>
                  </p:tgtEl>
                </p:cond>
              </p:nextCondLst>
            </p:seq>
            <p:seq concurrent="1" nextAc="seek">
              <p:cTn id="26" restart="whenNotActive" fill="hold" evtFilter="cancelBubble" nodeType="interactiveSeq">
                <p:stCondLst>
                  <p:cond evt="onClick" delay="0">
                    <p:tgtEl>
                      <p:spTgt spid="46"/>
                    </p:tgtEl>
                  </p:cond>
                </p:stCondLst>
                <p:endSync evt="end" delay="0">
                  <p:rtn val="all"/>
                </p:endSync>
                <p:childTnLst>
                  <p:par>
                    <p:cTn id="27" fill="hold">
                      <p:stCondLst>
                        <p:cond delay="0"/>
                      </p:stCondLst>
                      <p:childTnLst>
                        <p:par>
                          <p:cTn id="28" fill="hold">
                            <p:stCondLst>
                              <p:cond delay="0"/>
                            </p:stCondLst>
                            <p:childTnLst>
                              <p:par>
                                <p:cTn id="29" presetID="1" presetClass="mediacall" presetSubtype="0" fill="hold" nodeType="clickEffect">
                                  <p:stCondLst>
                                    <p:cond delay="0"/>
                                  </p:stCondLst>
                                  <p:childTnLst>
                                    <p:cmd type="call" cmd="playFrom(0.0)">
                                      <p:cBhvr>
                                        <p:cTn id="30" dur="8480" fill="hold"/>
                                        <p:tgtEl>
                                          <p:spTgt spid="46"/>
                                        </p:tgtEl>
                                      </p:cBhvr>
                                    </p:cmd>
                                  </p:childTnLst>
                                </p:cTn>
                              </p:par>
                            </p:childTnLst>
                          </p:cTn>
                        </p:par>
                      </p:childTnLst>
                    </p:cTn>
                  </p:par>
                </p:childTnLst>
              </p:cTn>
              <p:nextCondLst>
                <p:cond evt="onClick" delay="0">
                  <p:tgtEl>
                    <p:spTgt spid="46"/>
                  </p:tgtEl>
                </p:cond>
              </p:nextCondLst>
            </p:seq>
            <p:seq concurrent="1" nextAc="seek">
              <p:cTn id="32" restart="whenNotActive" fill="hold" evtFilter="cancelBubble" nodeType="interactiveSeq">
                <p:stCondLst>
                  <p:cond evt="onClick" delay="0">
                    <p:tgtEl>
                      <p:spTgt spid="47"/>
                    </p:tgtEl>
                  </p:cond>
                </p:stCondLst>
                <p:endSync evt="end" delay="0">
                  <p:rtn val="all"/>
                </p:endSync>
                <p:childTnLst>
                  <p:par>
                    <p:cTn id="33" fill="hold">
                      <p:stCondLst>
                        <p:cond delay="0"/>
                      </p:stCondLst>
                      <p:childTnLst>
                        <p:par>
                          <p:cTn id="34" fill="hold">
                            <p:stCondLst>
                              <p:cond delay="0"/>
                            </p:stCondLst>
                            <p:childTnLst>
                              <p:par>
                                <p:cTn id="35" presetID="1" presetClass="mediacall" presetSubtype="0" fill="hold" nodeType="clickEffect">
                                  <p:stCondLst>
                                    <p:cond delay="0"/>
                                  </p:stCondLst>
                                  <p:childTnLst>
                                    <p:cmd type="call" cmd="playFrom(0.0)">
                                      <p:cBhvr>
                                        <p:cTn id="36" dur="3120" fill="hold"/>
                                        <p:tgtEl>
                                          <p:spTgt spid="47"/>
                                        </p:tgtEl>
                                      </p:cBhvr>
                                    </p:cmd>
                                  </p:childTnLst>
                                </p:cTn>
                              </p:par>
                            </p:childTnLst>
                          </p:cTn>
                        </p:par>
                      </p:childTnLst>
                    </p:cTn>
                  </p:par>
                </p:childTnLst>
              </p:cTn>
              <p:nextCondLst>
                <p:cond evt="onClick" delay="0">
                  <p:tgtEl>
                    <p:spTgt spid="47"/>
                  </p:tgtEl>
                </p:cond>
              </p:nextCondLst>
            </p:seq>
            <p:audio>
              <p:cMediaNode vol="80000" numSld="1">
                <p:cTn id="7" fill="hold" display="0">
                  <p:stCondLst>
                    <p:cond delay="indefinite"/>
                  </p:stCondLst>
                  <p:endCondLst>
                    <p:cond evt="onStopAudio" delay="0">
                      <p:tgtEl>
                        <p:sldTgt/>
                      </p:tgtEl>
                    </p:cond>
                  </p:endCondLst>
                </p:cTn>
                <p:tgtEl>
                  <p:spTgt spid="42"/>
                </p:tgtEl>
              </p:cMediaNode>
            </p:audio>
            <p:audio>
              <p:cMediaNode vol="80000" numSld="1">
                <p:cTn id="13" fill="hold" display="0">
                  <p:stCondLst>
                    <p:cond delay="indefinite"/>
                  </p:stCondLst>
                  <p:endCondLst>
                    <p:cond evt="onStopAudio" delay="0">
                      <p:tgtEl>
                        <p:sldTgt/>
                      </p:tgtEl>
                    </p:cond>
                  </p:endCondLst>
                </p:cTn>
                <p:tgtEl>
                  <p:spTgt spid="43"/>
                </p:tgtEl>
              </p:cMediaNode>
            </p:audio>
            <p:audio>
              <p:cMediaNode vol="80000" numSld="1">
                <p:cTn id="19" fill="hold" display="0">
                  <p:stCondLst>
                    <p:cond delay="indefinite"/>
                  </p:stCondLst>
                  <p:endCondLst>
                    <p:cond evt="onStopAudio" delay="0">
                      <p:tgtEl>
                        <p:sldTgt/>
                      </p:tgtEl>
                    </p:cond>
                  </p:endCondLst>
                </p:cTn>
                <p:tgtEl>
                  <p:spTgt spid="44"/>
                </p:tgtEl>
              </p:cMediaNode>
            </p:audio>
            <p:audio>
              <p:cMediaNode vol="80000" numSld="1">
                <p:cTn id="25" fill="hold" display="0">
                  <p:stCondLst>
                    <p:cond delay="indefinite"/>
                  </p:stCondLst>
                  <p:endCondLst>
                    <p:cond evt="onStopAudio" delay="0">
                      <p:tgtEl>
                        <p:sldTgt/>
                      </p:tgtEl>
                    </p:cond>
                  </p:endCondLst>
                </p:cTn>
                <p:tgtEl>
                  <p:spTgt spid="45"/>
                </p:tgtEl>
              </p:cMediaNode>
            </p:audio>
            <p:audio>
              <p:cMediaNode vol="80000" numSld="1">
                <p:cTn id="31" fill="hold" display="0">
                  <p:stCondLst>
                    <p:cond delay="indefinite"/>
                  </p:stCondLst>
                  <p:endCondLst>
                    <p:cond evt="onStopAudio" delay="0">
                      <p:tgtEl>
                        <p:sldTgt/>
                      </p:tgtEl>
                    </p:cond>
                  </p:endCondLst>
                </p:cTn>
                <p:tgtEl>
                  <p:spTgt spid="46"/>
                </p:tgtEl>
              </p:cMediaNode>
            </p:audio>
            <p:audio>
              <p:cMediaNode vol="80000" numSld="1">
                <p:cTn id="37" fill="hold" display="0">
                  <p:stCondLst>
                    <p:cond delay="indefinite"/>
                  </p:stCondLst>
                  <p:endCondLst>
                    <p:cond evt="onStopAudio" delay="0">
                      <p:tgtEl>
                        <p:sldTgt/>
                      </p:tgtEl>
                    </p:cond>
                  </p:endCondLst>
                </p:cTn>
                <p:tgtEl>
                  <p:spTgt spid="47"/>
                </p:tgtEl>
              </p:cMediaNode>
            </p:audi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Training mixture across applications</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3. Training data</a:t>
            </a:r>
          </a:p>
        </p:txBody>
      </p:sp>
      <p:graphicFrame>
        <p:nvGraphicFramePr>
          <p:cNvPr id="5" name="Chart training mixture"/>
          <p:cNvGraphicFramePr>
            <a:graphicFrameLocks noGrp="1"/>
          </p:cNvGraphicFramePr>
          <p:nvPr/>
        </p:nvGraphicFramePr>
        <p:xfrm>
          <a:off x="1447800" y="1314450"/>
          <a:ext cx="5191125" cy="2971800"/>
        </p:xfrm>
        <a:graphic>
          <a:graphicData uri="http://schemas.openxmlformats.org/drawingml/2006/chart">
            <c:chart xmlns:c="http://schemas.openxmlformats.org/drawingml/2006/chart" r:id="rId2"/>
          </a:graphicData>
        </a:graphic>
      </p:graphicFrame>
      <p:sp>
        <p:nvSpPr>
          <p:cNvPr id="6" name="Text 2675"/>
          <p:cNvSpPr txBox="1"/>
          <p:nvPr/>
        </p:nvSpPr>
        <p:spPr>
          <a:xfrm>
            <a:off x="7008800" y="1374026"/>
            <a:ext cx="1768831" cy="547192"/>
          </a:xfrm>
          <a:prstGeom prst="rect">
            <a:avLst/>
          </a:prstGeom>
          <a:noFill/>
        </p:spPr>
        <p:txBody>
          <a:bodyPr wrap="square" lIns="0" rIns="0" tIns="0" bIns="0" anchor="t">
            <a:noAutofit/>
          </a:bodyPr>
          <a:lstStyle/>
          <a:p>
            <a:pPr algn="l">
              <a:lnSpc>
                <a:spcPct val="90000"/>
              </a:lnSpc>
            </a:pPr>
            <a:r>
              <a:rPr sz="3350" b="1" lang="en-US">
                <a:solidFill>
                  <a:srgbClr val="AD132A"/>
                </a:solidFill>
                <a:latin typeface="Arial"/>
              </a:rPr>
              <a:t>738k</a:t>
            </a:r>
            <a:endParaRPr lang="en-US" sz="3350"/>
          </a:p>
        </p:txBody>
      </p:sp>
      <p:sp>
        <p:nvSpPr>
          <p:cNvPr id="7" name="Text 2679"/>
          <p:cNvSpPr txBox="1"/>
          <p:nvPr/>
        </p:nvSpPr>
        <p:spPr>
          <a:xfrm>
            <a:off x="7008800" y="1978482"/>
            <a:ext cx="1768831" cy="248145"/>
          </a:xfrm>
          <a:prstGeom prst="rect">
            <a:avLst/>
          </a:prstGeom>
          <a:noFill/>
        </p:spPr>
        <p:txBody>
          <a:bodyPr wrap="square" lIns="0" rIns="0" tIns="0" bIns="0" anchor="t">
            <a:noAutofit/>
          </a:bodyPr>
          <a:lstStyle/>
          <a:p>
            <a:pPr algn="l">
              <a:lnSpc>
                <a:spcPct val="90000"/>
              </a:lnSpc>
            </a:pPr>
            <a:r>
              <a:rPr sz="1200" b="0" lang="en-US">
                <a:solidFill>
                  <a:srgbClr val="666666"/>
                </a:solidFill>
                <a:latin typeface="Arial"/>
              </a:rPr>
              <a:t>training examples</a:t>
            </a:r>
            <a:endParaRPr lang="en-US" sz="1200"/>
          </a:p>
        </p:txBody>
      </p:sp>
      <p:cxnSp>
        <p:nvCxnSpPr>
          <p:cNvPr id="8" name="ShapeInfo 2683"/>
          <p:cNvCxnSpPr/>
          <p:nvPr/>
        </p:nvCxnSpPr>
        <p:spPr>
          <a:xfrm>
            <a:off x="7008800" y="2392058"/>
            <a:ext cx="1768830" cy="0"/>
          </a:xfrm>
          <a:prstGeom prst="line">
            <a:avLst/>
          </a:prstGeom>
          <a:ln w="9525">
            <a:solidFill>
              <a:srgbClr val="D9D9D9"/>
            </a:solidFill>
          </a:ln>
        </p:spPr>
      </p:cxnSp>
      <p:sp>
        <p:nvSpPr>
          <p:cNvPr id="9" name="Text 2687"/>
          <p:cNvSpPr txBox="1"/>
          <p:nvPr/>
        </p:nvSpPr>
        <p:spPr>
          <a:xfrm>
            <a:off x="7008800" y="2665654"/>
            <a:ext cx="1768831" cy="547192"/>
          </a:xfrm>
          <a:prstGeom prst="rect">
            <a:avLst/>
          </a:prstGeom>
          <a:noFill/>
        </p:spPr>
        <p:txBody>
          <a:bodyPr wrap="square" lIns="0" rIns="0" tIns="0" bIns="0" anchor="t">
            <a:noAutofit/>
          </a:bodyPr>
          <a:lstStyle/>
          <a:p>
            <a:pPr algn="l">
              <a:lnSpc>
                <a:spcPct val="90000"/>
              </a:lnSpc>
            </a:pPr>
            <a:r>
              <a:rPr sz="3350" b="1" lang="en-US">
                <a:solidFill>
                  <a:srgbClr val="AD132A"/>
                </a:solidFill>
                <a:latin typeface="Arial"/>
              </a:rPr>
              <a:t>6</a:t>
            </a:r>
            <a:endParaRPr lang="en-US" sz="3350"/>
          </a:p>
        </p:txBody>
      </p:sp>
      <p:sp>
        <p:nvSpPr>
          <p:cNvPr id="10" name="Text 2691"/>
          <p:cNvSpPr txBox="1"/>
          <p:nvPr/>
        </p:nvSpPr>
        <p:spPr>
          <a:xfrm>
            <a:off x="7008800" y="3270110"/>
            <a:ext cx="1768831" cy="248145"/>
          </a:xfrm>
          <a:prstGeom prst="rect">
            <a:avLst/>
          </a:prstGeom>
          <a:noFill/>
        </p:spPr>
        <p:txBody>
          <a:bodyPr wrap="square" lIns="0" rIns="0" tIns="0" bIns="0" anchor="t">
            <a:noAutofit/>
          </a:bodyPr>
          <a:lstStyle/>
          <a:p>
            <a:pPr algn="l">
              <a:lnSpc>
                <a:spcPct val="90000"/>
              </a:lnSpc>
            </a:pPr>
            <a:r>
              <a:rPr sz="1200" b="0" lang="en-US">
                <a:solidFill>
                  <a:srgbClr val="666666"/>
                </a:solidFill>
                <a:latin typeface="Arial"/>
              </a:rPr>
              <a:t>application types</a:t>
            </a:r>
            <a:endParaRPr lang="en-US" sz="1200"/>
          </a:p>
        </p:txBody>
      </p:sp>
      <p:sp>
        <p:nvSpPr>
          <p:cNvPr id="11" name="Text 2695"/>
          <p:cNvSpPr txBox="1"/>
          <p:nvPr/>
        </p:nvSpPr>
        <p:spPr>
          <a:xfrm>
            <a:off x="1447800" y="4667250"/>
            <a:ext cx="6353175" cy="304800"/>
          </a:xfrm>
          <a:prstGeom prst="rect">
            <a:avLst/>
          </a:prstGeom>
          <a:noFill/>
        </p:spPr>
        <p:txBody>
          <a:bodyPr wrap="square" lIns="0" rIns="0" tIns="0" bIns="0" anchor="t">
            <a:noAutofit/>
          </a:bodyPr>
          <a:lstStyle/>
          <a:p>
            <a:pPr algn="l">
              <a:lnSpc>
                <a:spcPct val="90000"/>
              </a:lnSpc>
            </a:pPr>
            <a:r>
              <a:rPr sz="850" b="0" lang="en-US">
                <a:solidFill>
                  <a:srgbClr val="666666"/>
                </a:solidFill>
                <a:latin typeface="Arial"/>
              </a:rPr>
              <a:t>Retained examples in thousands. Counts sum to 738.2k at the precision shown. Source: Figure 4.</a:t>
            </a:r>
            <a:endParaRPr lang="en-US" sz="850" b="0">
              <a:solidFill>
                <a:srgbClr val="666666"/>
              </a:solidFill>
            </a:endParaRPr>
          </a:p>
        </p:txBody>
      </p:sp>
      <p:sp>
        <p:nvSpPr>
          <p:cNvPr id="12" name="Slide Number 11"/>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11</a:t>
            </a:fld>
            <a:endParaRPr sz="900" b="0">
              <a:solidFill>
                <a:srgbClr val="777777"/>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Training and inference setup</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4. Experiments</a:t>
            </a:r>
          </a:p>
        </p:txBody>
      </p:sp>
      <p:sp>
        <p:nvSpPr>
          <p:cNvPr id="5" name="Text 2711"/>
          <p:cNvSpPr txBox="1"/>
          <p:nvPr/>
        </p:nvSpPr>
        <p:spPr>
          <a:xfrm>
            <a:off x="1447800" y="1316761"/>
            <a:ext cx="7329830" cy="197244"/>
          </a:xfrm>
          <a:prstGeom prst="rect">
            <a:avLst/>
          </a:prstGeom>
          <a:noFill/>
        </p:spPr>
        <p:txBody>
          <a:bodyPr wrap="square" lIns="0" rIns="0" tIns="0" bIns="0" anchor="t">
            <a:noAutofit/>
          </a:bodyPr>
          <a:lstStyle/>
          <a:p>
            <a:pPr algn="l">
              <a:lnSpc>
                <a:spcPct val="90000"/>
              </a:lnSpc>
            </a:pPr>
            <a:r>
              <a:rPr sz="1000" b="1" lang="en-US">
                <a:solidFill>
                  <a:srgbClr val="666666"/>
                </a:solidFill>
                <a:latin typeface="Arial"/>
              </a:rPr>
              <a:t>STARTING CHECKPOINT</a:t>
            </a:r>
            <a:endParaRPr lang="en-US" sz="1000"/>
          </a:p>
        </p:txBody>
      </p:sp>
      <p:sp>
        <p:nvSpPr>
          <p:cNvPr id="6" name="Text 2715"/>
          <p:cNvSpPr txBox="1"/>
          <p:nvPr/>
        </p:nvSpPr>
        <p:spPr>
          <a:xfrm>
            <a:off x="1447800" y="1641259"/>
            <a:ext cx="7329830" cy="356311"/>
          </a:xfrm>
          <a:prstGeom prst="rect">
            <a:avLst/>
          </a:prstGeom>
          <a:noFill/>
        </p:spPr>
        <p:txBody>
          <a:bodyPr wrap="square" lIns="0" rIns="0" tIns="0" bIns="0" anchor="t">
            <a:noAutofit/>
          </a:bodyPr>
          <a:lstStyle/>
          <a:p>
            <a:pPr algn="l">
              <a:lnSpc>
                <a:spcPct val="90000"/>
              </a:lnSpc>
            </a:pPr>
            <a:r>
              <a:rPr sz="1750" b="1" lang="en-US">
                <a:solidFill>
                  <a:srgbClr val="434343"/>
                </a:solidFill>
                <a:latin typeface="Arial"/>
              </a:rPr>
              <a:t>Bagpiper-Base: Qwen3-8B-Base and X-Codec</a:t>
            </a:r>
            <a:endParaRPr lang="en-US" sz="1750"/>
          </a:p>
        </p:txBody>
      </p:sp>
      <p:sp>
        <p:nvSpPr>
          <p:cNvPr id="7" name="Text 2719"/>
          <p:cNvSpPr txBox="1"/>
          <p:nvPr/>
        </p:nvSpPr>
        <p:spPr>
          <a:xfrm>
            <a:off x="1447800" y="2061197"/>
            <a:ext cx="7329830" cy="318135"/>
          </a:xfrm>
          <a:prstGeom prst="rect">
            <a:avLst/>
          </a:prstGeom>
          <a:noFill/>
        </p:spPr>
        <p:txBody>
          <a:bodyPr wrap="square" lIns="0" rIns="0" tIns="0" bIns="0" anchor="t">
            <a:noAutofit/>
          </a:bodyPr>
          <a:lstStyle/>
          <a:p>
            <a:pPr algn="l">
              <a:lnSpc>
                <a:spcPct val="90000"/>
              </a:lnSpc>
            </a:pPr>
            <a:r>
              <a:rPr sz="1350" b="0" lang="en-US">
                <a:solidFill>
                  <a:srgbClr val="666666"/>
                </a:solidFill>
                <a:latin typeface="Arial"/>
              </a:rPr>
              <a:t>600B pretraining tokens across audio-caption and text modeling</a:t>
            </a:r>
            <a:endParaRPr lang="en-US" sz="1350"/>
          </a:p>
        </p:txBody>
      </p:sp>
      <p:cxnSp>
        <p:nvCxnSpPr>
          <p:cNvPr id="8" name="ShapeInfo 2723"/>
          <p:cNvCxnSpPr/>
          <p:nvPr/>
        </p:nvCxnSpPr>
        <p:spPr>
          <a:xfrm>
            <a:off x="1447800" y="2519312"/>
            <a:ext cx="7329830" cy="0"/>
          </a:xfrm>
          <a:prstGeom prst="line">
            <a:avLst/>
          </a:prstGeom>
          <a:ln w="9525">
            <a:solidFill>
              <a:srgbClr val="D9D9D9"/>
            </a:solidFill>
          </a:ln>
        </p:spPr>
      </p:cxnSp>
      <p:sp>
        <p:nvSpPr>
          <p:cNvPr id="9" name="Text 2727"/>
          <p:cNvSpPr txBox="1"/>
          <p:nvPr/>
        </p:nvSpPr>
        <p:spPr>
          <a:xfrm>
            <a:off x="1447800" y="2716555"/>
            <a:ext cx="2188769" cy="267233"/>
          </a:xfrm>
          <a:prstGeom prst="rect">
            <a:avLst/>
          </a:prstGeom>
          <a:noFill/>
        </p:spPr>
        <p:txBody>
          <a:bodyPr wrap="square" lIns="0" rIns="0" tIns="0" bIns="0" anchor="t">
            <a:noAutofit/>
          </a:bodyPr>
          <a:lstStyle/>
          <a:p>
            <a:pPr algn="l">
              <a:lnSpc>
                <a:spcPct val="90000"/>
              </a:lnSpc>
            </a:pPr>
            <a:r>
              <a:rPr sz="1350" b="1" lang="en-US">
                <a:solidFill>
                  <a:srgbClr val="AD132A"/>
                </a:solidFill>
                <a:latin typeface="Arial"/>
              </a:rPr>
              <a:t>Fine-tuning</a:t>
            </a:r>
            <a:endParaRPr lang="en-US" sz="1350"/>
          </a:p>
        </p:txBody>
      </p:sp>
      <p:sp>
        <p:nvSpPr>
          <p:cNvPr id="10" name="Text 2731"/>
          <p:cNvSpPr txBox="1"/>
          <p:nvPr/>
        </p:nvSpPr>
        <p:spPr>
          <a:xfrm>
            <a:off x="3922890" y="2716555"/>
            <a:ext cx="4854740" cy="286322"/>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2 epochs, learning rate 1e-5</a:t>
            </a:r>
            <a:endParaRPr lang="en-US" sz="1400"/>
          </a:p>
        </p:txBody>
      </p:sp>
      <p:sp>
        <p:nvSpPr>
          <p:cNvPr id="11" name="Text 2735"/>
          <p:cNvSpPr txBox="1"/>
          <p:nvPr/>
        </p:nvSpPr>
        <p:spPr>
          <a:xfrm>
            <a:off x="1447800" y="3085592"/>
            <a:ext cx="2188769" cy="267233"/>
          </a:xfrm>
          <a:prstGeom prst="rect">
            <a:avLst/>
          </a:prstGeom>
          <a:noFill/>
        </p:spPr>
        <p:txBody>
          <a:bodyPr wrap="square" lIns="0" rIns="0" tIns="0" bIns="0" anchor="t">
            <a:noAutofit/>
          </a:bodyPr>
          <a:lstStyle/>
          <a:p>
            <a:pPr algn="l">
              <a:lnSpc>
                <a:spcPct val="90000"/>
              </a:lnSpc>
            </a:pPr>
            <a:r>
              <a:rPr sz="1350" b="1" lang="en-US">
                <a:solidFill>
                  <a:srgbClr val="AD132A"/>
                </a:solidFill>
                <a:latin typeface="Arial"/>
              </a:rPr>
              <a:t>Global batch</a:t>
            </a:r>
            <a:endParaRPr lang="en-US" sz="1350"/>
          </a:p>
        </p:txBody>
      </p:sp>
      <p:sp>
        <p:nvSpPr>
          <p:cNvPr id="12" name="Text 2739"/>
          <p:cNvSpPr txBox="1"/>
          <p:nvPr/>
        </p:nvSpPr>
        <p:spPr>
          <a:xfrm>
            <a:off x="3922890" y="3085592"/>
            <a:ext cx="4854740" cy="286322"/>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160k tokens</a:t>
            </a:r>
            <a:endParaRPr lang="en-US" sz="1400"/>
          </a:p>
        </p:txBody>
      </p:sp>
      <p:sp>
        <p:nvSpPr>
          <p:cNvPr id="13" name="Text 2743"/>
          <p:cNvSpPr txBox="1"/>
          <p:nvPr/>
        </p:nvSpPr>
        <p:spPr>
          <a:xfrm>
            <a:off x="1447800" y="3454629"/>
            <a:ext cx="2188769" cy="267233"/>
          </a:xfrm>
          <a:prstGeom prst="rect">
            <a:avLst/>
          </a:prstGeom>
          <a:noFill/>
        </p:spPr>
        <p:txBody>
          <a:bodyPr wrap="square" lIns="0" rIns="0" tIns="0" bIns="0" anchor="t">
            <a:noAutofit/>
          </a:bodyPr>
          <a:lstStyle/>
          <a:p>
            <a:pPr algn="l">
              <a:lnSpc>
                <a:spcPct val="90000"/>
              </a:lnSpc>
            </a:pPr>
            <a:r>
              <a:rPr sz="1350" b="1" lang="en-US">
                <a:solidFill>
                  <a:srgbClr val="AD132A"/>
                </a:solidFill>
                <a:latin typeface="Arial"/>
              </a:rPr>
              <a:t>Compute</a:t>
            </a:r>
            <a:endParaRPr lang="en-US" sz="1350"/>
          </a:p>
        </p:txBody>
      </p:sp>
      <p:sp>
        <p:nvSpPr>
          <p:cNvPr id="14" name="Text 2747"/>
          <p:cNvSpPr txBox="1"/>
          <p:nvPr/>
        </p:nvSpPr>
        <p:spPr>
          <a:xfrm>
            <a:off x="3922890" y="3454629"/>
            <a:ext cx="4854740" cy="286322"/>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16 hours on 8 H100 GPUs</a:t>
            </a:r>
            <a:endParaRPr lang="en-US" sz="1400"/>
          </a:p>
        </p:txBody>
      </p:sp>
      <p:sp>
        <p:nvSpPr>
          <p:cNvPr id="15" name="Text 2751"/>
          <p:cNvSpPr txBox="1"/>
          <p:nvPr/>
        </p:nvSpPr>
        <p:spPr>
          <a:xfrm>
            <a:off x="1447800" y="3823665"/>
            <a:ext cx="2188769" cy="267233"/>
          </a:xfrm>
          <a:prstGeom prst="rect">
            <a:avLst/>
          </a:prstGeom>
          <a:noFill/>
        </p:spPr>
        <p:txBody>
          <a:bodyPr wrap="square" lIns="0" rIns="0" tIns="0" bIns="0" anchor="t">
            <a:noAutofit/>
          </a:bodyPr>
          <a:lstStyle/>
          <a:p>
            <a:pPr algn="l">
              <a:lnSpc>
                <a:spcPct val="90000"/>
              </a:lnSpc>
            </a:pPr>
            <a:r>
              <a:rPr sz="1350" b="1" lang="en-US">
                <a:solidFill>
                  <a:srgbClr val="AD132A"/>
                </a:solidFill>
                <a:latin typeface="Arial"/>
              </a:rPr>
              <a:t>Generation guidance</a:t>
            </a:r>
            <a:endParaRPr lang="en-US" sz="1350"/>
          </a:p>
        </p:txBody>
      </p:sp>
      <p:sp>
        <p:nvSpPr>
          <p:cNvPr id="16" name="Text 2755"/>
          <p:cNvSpPr txBox="1"/>
          <p:nvPr/>
        </p:nvSpPr>
        <p:spPr>
          <a:xfrm>
            <a:off x="3922890" y="3823665"/>
            <a:ext cx="4854740" cy="286322"/>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Classifier-free guidance scale 3</a:t>
            </a:r>
            <a:endParaRPr lang="en-US" sz="1400"/>
          </a:p>
        </p:txBody>
      </p:sp>
      <p:sp>
        <p:nvSpPr>
          <p:cNvPr id="17" name="Text 2759"/>
          <p:cNvSpPr txBox="1"/>
          <p:nvPr/>
        </p:nvSpPr>
        <p:spPr>
          <a:xfrm>
            <a:off x="1447800" y="4667250"/>
            <a:ext cx="6353175" cy="304800"/>
          </a:xfrm>
          <a:prstGeom prst="rect">
            <a:avLst/>
          </a:prstGeom>
          <a:noFill/>
        </p:spPr>
        <p:txBody>
          <a:bodyPr wrap="square" lIns="0" rIns="0" tIns="0" bIns="0" anchor="t">
            <a:noAutofit/>
          </a:bodyPr>
          <a:lstStyle/>
          <a:p>
            <a:pPr algn="l">
              <a:lnSpc>
                <a:spcPct val="90000"/>
              </a:lnSpc>
            </a:pPr>
            <a:r>
              <a:rPr sz="850" b="0" lang="en-US">
                <a:solidFill>
                  <a:srgbClr val="666666"/>
                </a:solidFill>
                <a:latin typeface="Arial"/>
              </a:rPr>
              <a:t>Compute covers fine-tuning only. The classifier-free guidance scale is used at inference.</a:t>
            </a:r>
            <a:endParaRPr lang="en-US" sz="850" b="0">
              <a:solidFill>
                <a:srgbClr val="666666"/>
              </a:solidFill>
            </a:endParaRPr>
          </a:p>
        </p:txBody>
      </p:sp>
      <p:sp>
        <p:nvSpPr>
          <p:cNvPr id="18" name="Slide Number 12"/>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12</a:t>
            </a:fld>
            <a:endParaRPr sz="900" b="0">
              <a:solidFill>
                <a:srgbClr val="777777"/>
              </a:solidFill>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Experimental design</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4. Experiments</a:t>
            </a:r>
          </a:p>
        </p:txBody>
      </p:sp>
      <p:sp>
        <p:nvSpPr>
          <p:cNvPr id="5" name="Text 2775"/>
          <p:cNvSpPr txBox="1"/>
          <p:nvPr/>
        </p:nvSpPr>
        <p:spPr>
          <a:xfrm>
            <a:off x="1447800" y="1265860"/>
            <a:ext cx="1527048" cy="222694"/>
          </a:xfrm>
          <a:prstGeom prst="rect">
            <a:avLst/>
          </a:prstGeom>
          <a:noFill/>
        </p:spPr>
        <p:txBody>
          <a:bodyPr wrap="square" lIns="0" rIns="0" tIns="0" bIns="0" anchor="t">
            <a:noAutofit/>
          </a:bodyPr>
          <a:lstStyle/>
          <a:p>
            <a:pPr algn="l">
              <a:lnSpc>
                <a:spcPct val="90000"/>
              </a:lnSpc>
            </a:pPr>
            <a:r>
              <a:rPr sz="1000" b="1" lang="en-US">
                <a:solidFill>
                  <a:srgbClr val="AD132A"/>
                </a:solidFill>
                <a:latin typeface="Arial"/>
              </a:rPr>
              <a:t>SETTING</a:t>
            </a:r>
            <a:endParaRPr lang="en-US" sz="1000"/>
          </a:p>
        </p:txBody>
      </p:sp>
      <p:sp>
        <p:nvSpPr>
          <p:cNvPr id="6" name="Text 2779"/>
          <p:cNvSpPr txBox="1"/>
          <p:nvPr/>
        </p:nvSpPr>
        <p:spPr>
          <a:xfrm>
            <a:off x="3267532" y="1265860"/>
            <a:ext cx="2863215" cy="222694"/>
          </a:xfrm>
          <a:prstGeom prst="rect">
            <a:avLst/>
          </a:prstGeom>
          <a:noFill/>
        </p:spPr>
        <p:txBody>
          <a:bodyPr wrap="square" lIns="0" rIns="0" tIns="0" bIns="0" anchor="t">
            <a:noAutofit/>
          </a:bodyPr>
          <a:lstStyle/>
          <a:p>
            <a:pPr algn="l">
              <a:lnSpc>
                <a:spcPct val="90000"/>
              </a:lnSpc>
            </a:pPr>
            <a:r>
              <a:rPr sz="1000" b="1" lang="en-US">
                <a:solidFill>
                  <a:srgbClr val="AD132A"/>
                </a:solidFill>
                <a:latin typeface="Arial"/>
              </a:rPr>
              <a:t>TEST DATA</a:t>
            </a:r>
            <a:endParaRPr lang="en-US" sz="1000"/>
          </a:p>
        </p:txBody>
      </p:sp>
      <p:sp>
        <p:nvSpPr>
          <p:cNvPr id="7" name="Text 2783"/>
          <p:cNvSpPr txBox="1"/>
          <p:nvPr/>
        </p:nvSpPr>
        <p:spPr>
          <a:xfrm>
            <a:off x="6448882" y="1265860"/>
            <a:ext cx="2328748" cy="222694"/>
          </a:xfrm>
          <a:prstGeom prst="rect">
            <a:avLst/>
          </a:prstGeom>
          <a:noFill/>
        </p:spPr>
        <p:txBody>
          <a:bodyPr wrap="square" lIns="0" rIns="0" tIns="0" bIns="0" anchor="t">
            <a:noAutofit/>
          </a:bodyPr>
          <a:lstStyle/>
          <a:p>
            <a:pPr algn="l">
              <a:lnSpc>
                <a:spcPct val="90000"/>
              </a:lnSpc>
            </a:pPr>
            <a:r>
              <a:rPr sz="1000" b="1" lang="en-US">
                <a:solidFill>
                  <a:srgbClr val="AD132A"/>
                </a:solidFill>
                <a:latin typeface="Arial"/>
              </a:rPr>
              <a:t>READOUT</a:t>
            </a:r>
            <a:endParaRPr lang="en-US" sz="1000"/>
          </a:p>
        </p:txBody>
      </p:sp>
      <p:cxnSp>
        <p:nvCxnSpPr>
          <p:cNvPr id="8" name="ShapeInfo 2787"/>
          <p:cNvCxnSpPr/>
          <p:nvPr/>
        </p:nvCxnSpPr>
        <p:spPr>
          <a:xfrm>
            <a:off x="1447800" y="1539456"/>
            <a:ext cx="7329830" cy="0"/>
          </a:xfrm>
          <a:prstGeom prst="line">
            <a:avLst/>
          </a:prstGeom>
          <a:ln w="9525">
            <a:solidFill>
              <a:srgbClr val="D9D9D9"/>
            </a:solidFill>
          </a:ln>
        </p:spPr>
      </p:cxnSp>
      <p:sp>
        <p:nvSpPr>
          <p:cNvPr id="9" name="Text 2791"/>
          <p:cNvSpPr txBox="1"/>
          <p:nvPr/>
        </p:nvSpPr>
        <p:spPr>
          <a:xfrm>
            <a:off x="1447800" y="1730337"/>
            <a:ext cx="1603400" cy="413576"/>
          </a:xfrm>
          <a:prstGeom prst="rect">
            <a:avLst/>
          </a:prstGeom>
          <a:noFill/>
        </p:spPr>
        <p:txBody>
          <a:bodyPr wrap="square" lIns="0" rIns="0" tIns="0" bIns="0" anchor="t">
            <a:noAutofit/>
          </a:bodyPr>
          <a:lstStyle/>
          <a:p>
            <a:pPr algn="l">
              <a:lnSpc>
                <a:spcPct val="90000"/>
              </a:lnSpc>
            </a:pPr>
            <a:r>
              <a:rPr sz="1250" b="1" lang="en-US">
                <a:solidFill>
                  <a:srgbClr val="434343"/>
                </a:solidFill>
                <a:latin typeface="Arial"/>
              </a:rPr>
              <a:t>Classical TTS</a:t>
            </a:r>
            <a:endParaRPr lang="en-US" sz="1250"/>
          </a:p>
        </p:txBody>
      </p:sp>
      <p:sp>
        <p:nvSpPr>
          <p:cNvPr id="10" name="Text 2795"/>
          <p:cNvSpPr txBox="1"/>
          <p:nvPr/>
        </p:nvSpPr>
        <p:spPr>
          <a:xfrm>
            <a:off x="3267532" y="1730337"/>
            <a:ext cx="2977744" cy="413576"/>
          </a:xfrm>
          <a:prstGeom prst="rect">
            <a:avLst/>
          </a:prstGeom>
          <a:noFill/>
        </p:spPr>
        <p:txBody>
          <a:bodyPr wrap="square" lIns="0" rIns="0" tIns="0" bIns="0" anchor="t">
            <a:noAutofit/>
          </a:bodyPr>
          <a:lstStyle/>
          <a:p>
            <a:pPr algn="l">
              <a:lnSpc>
                <a:spcPct val="90000"/>
              </a:lnSpc>
            </a:pPr>
            <a:r>
              <a:rPr sz="1250" b="0" lang="en-US">
                <a:solidFill>
                  <a:srgbClr val="666666"/>
                </a:solidFill>
                <a:latin typeface="Arial"/>
              </a:rPr>
              <a:t>Seed-TTS-Eval (English)</a:t>
            </a:r>
            <a:endParaRPr lang="en-US" sz="1250"/>
          </a:p>
        </p:txBody>
      </p:sp>
      <p:sp>
        <p:nvSpPr>
          <p:cNvPr id="11" name="Text 2799"/>
          <p:cNvSpPr txBox="1"/>
          <p:nvPr/>
        </p:nvSpPr>
        <p:spPr>
          <a:xfrm>
            <a:off x="6448882" y="1730337"/>
            <a:ext cx="2328748" cy="413576"/>
          </a:xfrm>
          <a:prstGeom prst="rect">
            <a:avLst/>
          </a:prstGeom>
          <a:noFill/>
        </p:spPr>
        <p:txBody>
          <a:bodyPr wrap="square" lIns="0" rIns="0" tIns="0" bIns="0" anchor="t">
            <a:noAutofit/>
          </a:bodyPr>
          <a:lstStyle/>
          <a:p>
            <a:pPr algn="l">
              <a:lnSpc>
                <a:spcPct val="90000"/>
              </a:lnSpc>
            </a:pPr>
            <a:r>
              <a:rPr sz="1250" b="0" lang="en-US">
                <a:solidFill>
                  <a:srgbClr val="666666"/>
                </a:solidFill>
                <a:latin typeface="Arial"/>
              </a:rPr>
              <a:t>WER</a:t>
            </a:r>
            <a:endParaRPr lang="en-US" sz="1250"/>
          </a:p>
        </p:txBody>
      </p:sp>
      <p:cxnSp>
        <p:nvCxnSpPr>
          <p:cNvPr id="12" name="ShapeInfo 2803"/>
          <p:cNvCxnSpPr/>
          <p:nvPr/>
        </p:nvCxnSpPr>
        <p:spPr>
          <a:xfrm>
            <a:off x="1447800" y="2124824"/>
            <a:ext cx="7329830" cy="0"/>
          </a:xfrm>
          <a:prstGeom prst="line">
            <a:avLst/>
          </a:prstGeom>
          <a:ln w="9525">
            <a:solidFill>
              <a:srgbClr val="D9D9D9"/>
            </a:solidFill>
          </a:ln>
        </p:spPr>
      </p:cxnSp>
      <p:sp>
        <p:nvSpPr>
          <p:cNvPr id="13" name="Text 2807"/>
          <p:cNvSpPr txBox="1"/>
          <p:nvPr/>
        </p:nvSpPr>
        <p:spPr>
          <a:xfrm>
            <a:off x="1447800" y="2258441"/>
            <a:ext cx="1603400" cy="413576"/>
          </a:xfrm>
          <a:prstGeom prst="rect">
            <a:avLst/>
          </a:prstGeom>
          <a:noFill/>
        </p:spPr>
        <p:txBody>
          <a:bodyPr wrap="square" lIns="0" rIns="0" tIns="0" bIns="0" anchor="t">
            <a:noAutofit/>
          </a:bodyPr>
          <a:lstStyle/>
          <a:p>
            <a:pPr algn="l">
              <a:lnSpc>
                <a:spcPct val="90000"/>
              </a:lnSpc>
            </a:pPr>
            <a:r>
              <a:rPr sz="1250" b="1" lang="en-US">
                <a:solidFill>
                  <a:srgbClr val="434343"/>
                </a:solidFill>
                <a:latin typeface="Arial"/>
              </a:rPr>
              <a:t>Advanced tasks</a:t>
            </a:r>
            <a:endParaRPr lang="en-US" sz="1250"/>
          </a:p>
        </p:txBody>
      </p:sp>
      <p:sp>
        <p:nvSpPr>
          <p:cNvPr id="14" name="Text 2811"/>
          <p:cNvSpPr txBox="1"/>
          <p:nvPr/>
        </p:nvSpPr>
        <p:spPr>
          <a:xfrm>
            <a:off x="3267532" y="2258441"/>
            <a:ext cx="2977744" cy="413576"/>
          </a:xfrm>
          <a:prstGeom prst="rect">
            <a:avLst/>
          </a:prstGeom>
          <a:noFill/>
        </p:spPr>
        <p:txBody>
          <a:bodyPr wrap="square" lIns="0" rIns="0" tIns="0" bIns="0" anchor="t">
            <a:noAutofit/>
          </a:bodyPr>
          <a:lstStyle/>
          <a:p>
            <a:pPr algn="l">
              <a:lnSpc>
                <a:spcPct val="90000"/>
              </a:lnSpc>
            </a:pPr>
            <a:r>
              <a:rPr sz="1250" b="0" lang="en-US">
                <a:solidFill>
                  <a:srgbClr val="666666"/>
                </a:solidFill>
                <a:latin typeface="Arial"/>
              </a:rPr>
              <a:t>300 generated requests per task</a:t>
            </a:r>
            <a:endParaRPr lang="en-US" sz="1250"/>
          </a:p>
        </p:txBody>
      </p:sp>
      <p:sp>
        <p:nvSpPr>
          <p:cNvPr id="15" name="Text 2815"/>
          <p:cNvSpPr txBox="1"/>
          <p:nvPr/>
        </p:nvSpPr>
        <p:spPr>
          <a:xfrm>
            <a:off x="6448882" y="2258441"/>
            <a:ext cx="2328748" cy="413576"/>
          </a:xfrm>
          <a:prstGeom prst="rect">
            <a:avLst/>
          </a:prstGeom>
          <a:noFill/>
        </p:spPr>
        <p:txBody>
          <a:bodyPr wrap="square" lIns="0" rIns="0" tIns="0" bIns="0" anchor="t">
            <a:noAutofit/>
          </a:bodyPr>
          <a:lstStyle/>
          <a:p>
            <a:pPr algn="l">
              <a:lnSpc>
                <a:spcPct val="90000"/>
              </a:lnSpc>
            </a:pPr>
            <a:r>
              <a:rPr sz="1250" b="0" lang="en-US">
                <a:solidFill>
                  <a:srgbClr val="666666"/>
                </a:solidFill>
                <a:latin typeface="Arial"/>
              </a:rPr>
              <a:t>WER + LLM fulfillment</a:t>
            </a:r>
            <a:endParaRPr lang="en-US" sz="1250"/>
          </a:p>
        </p:txBody>
      </p:sp>
      <p:cxnSp>
        <p:nvCxnSpPr>
          <p:cNvPr id="16" name="ShapeInfo 2819"/>
          <p:cNvCxnSpPr/>
          <p:nvPr/>
        </p:nvCxnSpPr>
        <p:spPr>
          <a:xfrm>
            <a:off x="1447800" y="2652928"/>
            <a:ext cx="7329830" cy="0"/>
          </a:xfrm>
          <a:prstGeom prst="line">
            <a:avLst/>
          </a:prstGeom>
          <a:ln w="9525">
            <a:solidFill>
              <a:srgbClr val="D9D9D9"/>
            </a:solidFill>
          </a:ln>
        </p:spPr>
      </p:cxnSp>
      <p:sp>
        <p:nvSpPr>
          <p:cNvPr id="17" name="Text 2823"/>
          <p:cNvSpPr txBox="1"/>
          <p:nvPr/>
        </p:nvSpPr>
        <p:spPr>
          <a:xfrm>
            <a:off x="1447800" y="2786545"/>
            <a:ext cx="1603400" cy="413576"/>
          </a:xfrm>
          <a:prstGeom prst="rect">
            <a:avLst/>
          </a:prstGeom>
          <a:noFill/>
        </p:spPr>
        <p:txBody>
          <a:bodyPr wrap="square" lIns="0" rIns="0" tIns="0" bIns="0" anchor="t">
            <a:noAutofit/>
          </a:bodyPr>
          <a:lstStyle/>
          <a:p>
            <a:pPr algn="l">
              <a:lnSpc>
                <a:spcPct val="90000"/>
              </a:lnSpc>
            </a:pPr>
            <a:r>
              <a:rPr sz="1250" b="1" lang="en-US">
                <a:solidFill>
                  <a:srgbClr val="434343"/>
                </a:solidFill>
                <a:latin typeface="Arial"/>
              </a:rPr>
              <a:t>Human study</a:t>
            </a:r>
            <a:endParaRPr lang="en-US" sz="1250"/>
          </a:p>
        </p:txBody>
      </p:sp>
      <p:sp>
        <p:nvSpPr>
          <p:cNvPr id="18" name="Text 2827"/>
          <p:cNvSpPr txBox="1"/>
          <p:nvPr/>
        </p:nvSpPr>
        <p:spPr>
          <a:xfrm>
            <a:off x="3267532" y="2786545"/>
            <a:ext cx="2977744" cy="413576"/>
          </a:xfrm>
          <a:prstGeom prst="rect">
            <a:avLst/>
          </a:prstGeom>
          <a:noFill/>
        </p:spPr>
        <p:txBody>
          <a:bodyPr wrap="square" lIns="0" rIns="0" tIns="0" bIns="0" anchor="t">
            <a:noAutofit/>
          </a:bodyPr>
          <a:lstStyle/>
          <a:p>
            <a:pPr algn="l">
              <a:lnSpc>
                <a:spcPct val="90000"/>
              </a:lnSpc>
            </a:pPr>
            <a:r>
              <a:rPr sz="1250" b="0" lang="en-US">
                <a:solidFill>
                  <a:srgbClr val="666666"/>
                </a:solidFill>
                <a:latin typeface="Arial"/>
              </a:rPr>
              <a:t>10 per task; at least 3 raters</a:t>
            </a:r>
            <a:endParaRPr lang="en-US" sz="1250"/>
          </a:p>
        </p:txBody>
      </p:sp>
      <p:sp>
        <p:nvSpPr>
          <p:cNvPr id="19" name="Text 2831"/>
          <p:cNvSpPr txBox="1"/>
          <p:nvPr/>
        </p:nvSpPr>
        <p:spPr>
          <a:xfrm>
            <a:off x="6448882" y="2786545"/>
            <a:ext cx="2328748" cy="413576"/>
          </a:xfrm>
          <a:prstGeom prst="rect">
            <a:avLst/>
          </a:prstGeom>
          <a:noFill/>
        </p:spPr>
        <p:txBody>
          <a:bodyPr wrap="square" lIns="0" rIns="0" tIns="0" bIns="0" anchor="t">
            <a:noAutofit/>
          </a:bodyPr>
          <a:lstStyle/>
          <a:p>
            <a:pPr algn="l">
              <a:lnSpc>
                <a:spcPct val="90000"/>
              </a:lnSpc>
            </a:pPr>
            <a:r>
              <a:rPr sz="1250" b="0" lang="en-US">
                <a:solidFill>
                  <a:srgbClr val="666666"/>
                </a:solidFill>
                <a:latin typeface="Arial"/>
              </a:rPr>
              <a:t>Ratings on a 1-5 scale</a:t>
            </a:r>
            <a:endParaRPr lang="en-US" sz="1250"/>
          </a:p>
        </p:txBody>
      </p:sp>
      <p:cxnSp>
        <p:nvCxnSpPr>
          <p:cNvPr id="20" name="ShapeInfo 2835"/>
          <p:cNvCxnSpPr/>
          <p:nvPr/>
        </p:nvCxnSpPr>
        <p:spPr>
          <a:xfrm>
            <a:off x="1447800" y="3181033"/>
            <a:ext cx="7329830" cy="0"/>
          </a:xfrm>
          <a:prstGeom prst="line">
            <a:avLst/>
          </a:prstGeom>
          <a:ln w="9525">
            <a:solidFill>
              <a:srgbClr val="D9D9D9"/>
            </a:solidFill>
          </a:ln>
        </p:spPr>
      </p:cxnSp>
      <p:sp>
        <p:nvSpPr>
          <p:cNvPr id="21" name="Text 2839"/>
          <p:cNvSpPr txBox="1"/>
          <p:nvPr/>
        </p:nvSpPr>
        <p:spPr>
          <a:xfrm>
            <a:off x="1447800" y="3314649"/>
            <a:ext cx="1603400" cy="413576"/>
          </a:xfrm>
          <a:prstGeom prst="rect">
            <a:avLst/>
          </a:prstGeom>
          <a:noFill/>
        </p:spPr>
        <p:txBody>
          <a:bodyPr wrap="square" lIns="0" rIns="0" tIns="0" bIns="0" anchor="t">
            <a:noAutofit/>
          </a:bodyPr>
          <a:lstStyle/>
          <a:p>
            <a:pPr algn="l">
              <a:lnSpc>
                <a:spcPct val="90000"/>
              </a:lnSpc>
            </a:pPr>
            <a:r>
              <a:rPr sz="1250" b="1" lang="en-US">
                <a:solidFill>
                  <a:srgbClr val="434343"/>
                </a:solidFill>
                <a:latin typeface="Arial"/>
              </a:rPr>
              <a:t>General-purpose</a:t>
            </a:r>
            <a:endParaRPr lang="en-US" sz="1250"/>
          </a:p>
        </p:txBody>
      </p:sp>
      <p:sp>
        <p:nvSpPr>
          <p:cNvPr id="22" name="Text 2843"/>
          <p:cNvSpPr txBox="1"/>
          <p:nvPr/>
        </p:nvSpPr>
        <p:spPr>
          <a:xfrm>
            <a:off x="3267532" y="3314649"/>
            <a:ext cx="2977744" cy="413576"/>
          </a:xfrm>
          <a:prstGeom prst="rect">
            <a:avLst/>
          </a:prstGeom>
          <a:noFill/>
        </p:spPr>
        <p:txBody>
          <a:bodyPr wrap="square" lIns="0" rIns="0" tIns="0" bIns="0" anchor="t">
            <a:noAutofit/>
          </a:bodyPr>
          <a:lstStyle/>
          <a:p>
            <a:pPr algn="l">
              <a:lnSpc>
                <a:spcPct val="90000"/>
              </a:lnSpc>
            </a:pPr>
            <a:r>
              <a:rPr sz="1250" b="0" lang="en-US">
                <a:solidFill>
                  <a:srgbClr val="666666"/>
                </a:solidFill>
                <a:latin typeface="Arial"/>
              </a:rPr>
              <a:t>Hand-written requests</a:t>
            </a:r>
            <a:endParaRPr lang="en-US" sz="1250"/>
          </a:p>
        </p:txBody>
      </p:sp>
      <p:sp>
        <p:nvSpPr>
          <p:cNvPr id="23" name="Text 2847"/>
          <p:cNvSpPr txBox="1"/>
          <p:nvPr/>
        </p:nvSpPr>
        <p:spPr>
          <a:xfrm>
            <a:off x="6448882" y="3314649"/>
            <a:ext cx="2328748" cy="413576"/>
          </a:xfrm>
          <a:prstGeom prst="rect">
            <a:avLst/>
          </a:prstGeom>
          <a:noFill/>
        </p:spPr>
        <p:txBody>
          <a:bodyPr wrap="square" lIns="0" rIns="0" tIns="0" bIns="0" anchor="t">
            <a:noAutofit/>
          </a:bodyPr>
          <a:lstStyle/>
          <a:p>
            <a:pPr algn="l">
              <a:lnSpc>
                <a:spcPct val="90000"/>
              </a:lnSpc>
            </a:pPr>
            <a:r>
              <a:rPr sz="1250" b="0" lang="en-US">
                <a:solidFill>
                  <a:srgbClr val="666666"/>
                </a:solidFill>
                <a:latin typeface="Arial"/>
              </a:rPr>
              <a:t>Qualitative examples</a:t>
            </a:r>
            <a:endParaRPr lang="en-US" sz="1250"/>
          </a:p>
        </p:txBody>
      </p:sp>
      <p:sp>
        <p:nvSpPr>
          <p:cNvPr id="24" name="Text 2851"/>
          <p:cNvSpPr txBox="1"/>
          <p:nvPr/>
        </p:nvSpPr>
        <p:spPr>
          <a:xfrm>
            <a:off x="1447800" y="3970007"/>
            <a:ext cx="7329830" cy="311772"/>
          </a:xfrm>
          <a:prstGeom prst="rect">
            <a:avLst/>
          </a:prstGeom>
          <a:noFill/>
        </p:spPr>
        <p:txBody>
          <a:bodyPr wrap="square" lIns="0" rIns="0" tIns="0" bIns="0" anchor="t">
            <a:noAutofit/>
          </a:bodyPr>
          <a:lstStyle/>
          <a:p>
            <a:pPr algn="l">
              <a:lnSpc>
                <a:spcPct val="90000"/>
              </a:lnSpc>
            </a:pPr>
            <a:r>
              <a:rPr sz="1250" b="0" lang="en-US">
                <a:solidFill>
                  <a:srgbClr val="434343"/>
                </a:solidFill>
                <a:latin typeface="Arial"/>
              </a:rPr>
              <a:t>Test requests use GPT-OSS-120B, separate from training-data simulation</a:t>
            </a:r>
            <a:endParaRPr lang="en-US" sz="1250"/>
          </a:p>
        </p:txBody>
      </p:sp>
      <p:sp>
        <p:nvSpPr>
          <p:cNvPr id="25" name="Text 2855"/>
          <p:cNvSpPr txBox="1"/>
          <p:nvPr/>
        </p:nvSpPr>
        <p:spPr>
          <a:xfrm>
            <a:off x="1447800" y="4667250"/>
            <a:ext cx="6353175" cy="304800"/>
          </a:xfrm>
          <a:prstGeom prst="rect">
            <a:avLst/>
          </a:prstGeom>
          <a:noFill/>
        </p:spPr>
        <p:txBody>
          <a:bodyPr wrap="square" lIns="0" rIns="0" tIns="0" bIns="0" anchor="t">
            <a:noAutofit/>
          </a:bodyPr>
          <a:lstStyle/>
          <a:p>
            <a:pPr algn="l">
              <a:lnSpc>
                <a:spcPct val="90000"/>
              </a:lnSpc>
            </a:pPr>
            <a:r>
              <a:rPr sz="850" b="0" lang="en-US">
                <a:solidFill>
                  <a:srgbClr val="666666"/>
                </a:solidFill>
                <a:latin typeface="Arial"/>
              </a:rPr>
              <a:t>LLM judge: Gemini-3-Flash, 1-5 scale. Human samples include Gemini-based filtering.</a:t>
            </a:r>
            <a:endParaRPr lang="en-US" sz="850" b="0">
              <a:solidFill>
                <a:srgbClr val="666666"/>
              </a:solidFill>
            </a:endParaRPr>
          </a:p>
        </p:txBody>
      </p:sp>
      <p:sp>
        <p:nvSpPr>
          <p:cNvPr id="26" name="Slide Number 13"/>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13</a:t>
            </a:fld>
            <a:endParaRPr sz="900" b="0">
              <a:solidFill>
                <a:srgbClr val="777777"/>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Classical TTS: competitive intelligibility</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4. Experiments</a:t>
            </a:r>
          </a:p>
        </p:txBody>
      </p:sp>
      <p:sp>
        <p:nvSpPr>
          <p:cNvPr id="5" name="Text 2871"/>
          <p:cNvSpPr txBox="1"/>
          <p:nvPr/>
        </p:nvSpPr>
        <p:spPr>
          <a:xfrm>
            <a:off x="1447800" y="1704886"/>
            <a:ext cx="2290572" cy="712622"/>
          </a:xfrm>
          <a:prstGeom prst="rect">
            <a:avLst/>
          </a:prstGeom>
          <a:noFill/>
        </p:spPr>
        <p:txBody>
          <a:bodyPr wrap="square" lIns="0" rIns="0" tIns="0" bIns="0" anchor="t">
            <a:noAutofit/>
          </a:bodyPr>
          <a:lstStyle/>
          <a:p>
            <a:pPr algn="l">
              <a:lnSpc>
                <a:spcPct val="90000"/>
              </a:lnSpc>
            </a:pPr>
            <a:r>
              <a:rPr sz="4400" b="1" lang="en-US">
                <a:solidFill>
                  <a:srgbClr val="AD132A"/>
                </a:solidFill>
                <a:latin typeface="Arial"/>
              </a:rPr>
              <a:t>1.7%</a:t>
            </a:r>
            <a:endParaRPr lang="en-US" sz="4400"/>
          </a:p>
        </p:txBody>
      </p:sp>
      <p:sp>
        <p:nvSpPr>
          <p:cNvPr id="6" name="Text 2875"/>
          <p:cNvSpPr txBox="1"/>
          <p:nvPr/>
        </p:nvSpPr>
        <p:spPr>
          <a:xfrm>
            <a:off x="1447800" y="2500224"/>
            <a:ext cx="1972437" cy="330860"/>
          </a:xfrm>
          <a:prstGeom prst="rect">
            <a:avLst/>
          </a:prstGeom>
          <a:noFill/>
        </p:spPr>
        <p:txBody>
          <a:bodyPr wrap="square" lIns="0" rIns="0" tIns="0" bIns="0" anchor="t">
            <a:noAutofit/>
          </a:bodyPr>
          <a:lstStyle/>
          <a:p>
            <a:pPr algn="l">
              <a:lnSpc>
                <a:spcPct val="90000"/>
              </a:lnSpc>
            </a:pPr>
            <a:r>
              <a:rPr sz="1450" b="1" lang="en-US">
                <a:solidFill>
                  <a:srgbClr val="434343"/>
                </a:solidFill>
                <a:latin typeface="Arial"/>
              </a:rPr>
              <a:t>Bagpiper-TTS WER</a:t>
            </a:r>
            <a:endParaRPr lang="en-US" sz="1450"/>
          </a:p>
        </p:txBody>
      </p:sp>
      <p:sp>
        <p:nvSpPr>
          <p:cNvPr id="3" name="ShapeInfo 2879"/>
          <p:cNvSpPr/>
          <p:nvPr/>
        </p:nvSpPr>
        <p:spPr>
          <a:xfrm>
            <a:off x="3314700" y="2519362"/>
            <a:ext cx="146685" cy="197168"/>
          </a:xfrm>
          <a:custGeom>
            <a:avLst/>
            <a:gdLst/>
            <a:ahLst/>
            <a:cxnLst/>
            <a:rect l="l" t="t" r="r" b="b"/>
            <a:pathLst>
              <a:path w="146342" h="197244">
                <a:moveTo>
                  <a:pt x="0" y="124073"/>
                </a:moveTo>
                <a:lnTo>
                  <a:pt x="36586" y="124073"/>
                </a:lnTo>
                <a:lnTo>
                  <a:pt x="36586" y="0"/>
                </a:lnTo>
                <a:lnTo>
                  <a:pt x="109756" y="0"/>
                </a:lnTo>
                <a:lnTo>
                  <a:pt x="109756" y="124073"/>
                </a:lnTo>
                <a:lnTo>
                  <a:pt x="146342" y="124073"/>
                </a:lnTo>
                <a:lnTo>
                  <a:pt x="73171" y="197244"/>
                </a:lnTo>
                <a:close/>
              </a:path>
            </a:pathLst>
          </a:custGeom>
          <a:solidFill>
            <a:srgbClr val="AD132A"/>
          </a:solidFill>
          <a:ln>
            <a:noFill/>
          </a:ln>
        </p:spPr>
        <p:txBody>
          <a:bodyPr rtlCol="0" anchor="ctr"/>
          <a:lstStyle/>
          <a:p>
            <a:pPr algn="ctr"/>
          </a:p>
        </p:txBody>
      </p:sp>
      <p:sp>
        <p:nvSpPr>
          <p:cNvPr id="7" name="Text 2883"/>
          <p:cNvSpPr txBox="1"/>
          <p:nvPr/>
        </p:nvSpPr>
        <p:spPr>
          <a:xfrm>
            <a:off x="1447800" y="3079229"/>
            <a:ext cx="2462365" cy="559918"/>
          </a:xfrm>
          <a:prstGeom prst="rect">
            <a:avLst/>
          </a:prstGeom>
          <a:noFill/>
        </p:spPr>
        <p:txBody>
          <a:bodyPr wrap="square" lIns="0" rIns="0" tIns="0" bIns="0" anchor="t">
            <a:noAutofit/>
          </a:bodyPr>
          <a:lstStyle/>
          <a:p>
            <a:pPr algn="l">
              <a:lnSpc>
                <a:spcPct val="90000"/>
              </a:lnSpc>
            </a:pPr>
            <a:r>
              <a:rPr sz="1350" b="0" lang="en-US">
                <a:solidFill>
                  <a:srgbClr val="666666"/>
                </a:solidFill>
                <a:latin typeface="Arial"/>
              </a:rPr>
              <a:t>Seed-TTS-Eval (English)</a:t>
            </a:r>
            <a:endParaRPr lang="en-US" sz="1350"/>
          </a:p>
        </p:txBody>
      </p:sp>
      <p:graphicFrame>
        <p:nvGraphicFramePr>
          <p:cNvPr id="8" name="Chart Seed-TTS-Eval WER"/>
          <p:cNvGraphicFramePr>
            <a:graphicFrameLocks noGrp="1"/>
          </p:cNvGraphicFramePr>
          <p:nvPr/>
        </p:nvGraphicFramePr>
        <p:xfrm>
          <a:off x="4057650" y="1495425"/>
          <a:ext cx="4714875" cy="2552700"/>
        </p:xfrm>
        <a:graphic>
          <a:graphicData uri="http://schemas.openxmlformats.org/drawingml/2006/chart">
            <c:chart xmlns:c="http://schemas.openxmlformats.org/drawingml/2006/chart" r:id="rId2"/>
          </a:graphicData>
        </a:graphic>
      </p:graphicFrame>
      <p:sp>
        <p:nvSpPr>
          <p:cNvPr id="9" name="Text 2890"/>
          <p:cNvSpPr txBox="1"/>
          <p:nvPr/>
        </p:nvSpPr>
        <p:spPr>
          <a:xfrm>
            <a:off x="1447800" y="4667250"/>
            <a:ext cx="6353175" cy="304800"/>
          </a:xfrm>
          <a:prstGeom prst="rect">
            <a:avLst/>
          </a:prstGeom>
          <a:noFill/>
        </p:spPr>
        <p:txBody>
          <a:bodyPr wrap="square" lIns="0" rIns="0" tIns="0" bIns="0" anchor="t">
            <a:noAutofit/>
          </a:bodyPr>
          <a:lstStyle/>
          <a:p>
            <a:pPr algn="l">
              <a:lnSpc>
                <a:spcPct val="90000"/>
              </a:lnSpc>
            </a:pPr>
            <a:r>
              <a:rPr sz="850" b="0" lang="en-US">
                <a:solidFill>
                  <a:srgbClr val="666666"/>
                </a:solidFill>
                <a:latin typeface="Arial"/>
              </a:rPr>
              <a:t>Qwen3-TTS has the lowest WER in this comparison. Source: Table 1.</a:t>
            </a:r>
            <a:endParaRPr lang="en-US" sz="850" b="0">
              <a:solidFill>
                <a:srgbClr val="666666"/>
              </a:solidFill>
            </a:endParaRPr>
          </a:p>
        </p:txBody>
      </p:sp>
      <p:sp>
        <p:nvSpPr>
          <p:cNvPr id="10" name="Slide Number 14"/>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14</a:t>
            </a:fld>
            <a:endParaRPr sz="900" b="0">
              <a:solidFill>
                <a:srgbClr val="777777"/>
              </a:solidFill>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Advanced tasks: automated and human scores</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4. Experiments</a:t>
            </a:r>
          </a:p>
        </p:txBody>
      </p:sp>
      <p:sp>
        <p:nvSpPr>
          <p:cNvPr id="5" name="ShapeInfo 2906"/>
          <p:cNvSpPr/>
          <p:nvPr/>
        </p:nvSpPr>
        <p:spPr>
          <a:xfrm>
            <a:off x="1447800" y="1200150"/>
            <a:ext cx="123825" cy="123825"/>
          </a:xfrm>
          <a:prstGeom prst="rect">
            <a:avLst/>
          </a:prstGeom>
          <a:solidFill>
            <a:srgbClr val="C4C4C4"/>
          </a:solidFill>
          <a:ln>
            <a:noFill/>
          </a:ln>
        </p:spPr>
        <p:txBody>
          <a:bodyPr rtlCol="0" anchor="ctr"/>
          <a:lstStyle/>
          <a:p>
            <a:pPr algn="ctr"/>
          </a:p>
        </p:txBody>
      </p:sp>
      <p:sp>
        <p:nvSpPr>
          <p:cNvPr id="6" name="Text 2910"/>
          <p:cNvSpPr txBox="1"/>
          <p:nvPr/>
        </p:nvSpPr>
        <p:spPr>
          <a:xfrm>
            <a:off x="1638300" y="1190625"/>
            <a:ext cx="4476750" cy="285750"/>
          </a:xfrm>
          <a:prstGeom prst="rect">
            <a:avLst/>
          </a:prstGeom>
          <a:noFill/>
        </p:spPr>
        <p:txBody>
          <a:bodyPr wrap="square" lIns="0" rIns="0" tIns="0" bIns="0" anchor="t">
            <a:noAutofit/>
          </a:bodyPr>
          <a:lstStyle/>
          <a:p>
            <a:pPr algn="l">
              <a:lnSpc>
                <a:spcPct val="90000"/>
              </a:lnSpc>
            </a:pPr>
            <a:r>
              <a:rPr sz="1000" b="0" lang="en-US">
                <a:solidFill>
                  <a:srgbClr val="666666"/>
                </a:solidFill>
                <a:latin typeface="Arial"/>
              </a:rPr>
              <a:t>Specialist: VibeVoice (multi-talker), YuE (singing)</a:t>
            </a:r>
            <a:endParaRPr lang="en-US" sz="1000"/>
          </a:p>
        </p:txBody>
      </p:sp>
      <p:sp>
        <p:nvSpPr>
          <p:cNvPr id="7" name="ShapeInfo 2914"/>
          <p:cNvSpPr/>
          <p:nvPr/>
        </p:nvSpPr>
        <p:spPr>
          <a:xfrm>
            <a:off x="6724650" y="1200150"/>
            <a:ext cx="123825" cy="123825"/>
          </a:xfrm>
          <a:prstGeom prst="rect">
            <a:avLst/>
          </a:prstGeom>
          <a:solidFill>
            <a:srgbClr val="AD132A"/>
          </a:solidFill>
          <a:ln>
            <a:noFill/>
          </a:ln>
        </p:spPr>
        <p:txBody>
          <a:bodyPr rtlCol="0" anchor="ctr"/>
          <a:lstStyle/>
          <a:p>
            <a:pPr algn="ctr"/>
          </a:p>
        </p:txBody>
      </p:sp>
      <p:sp>
        <p:nvSpPr>
          <p:cNvPr id="8" name="Text 2918"/>
          <p:cNvSpPr txBox="1"/>
          <p:nvPr/>
        </p:nvSpPr>
        <p:spPr>
          <a:xfrm>
            <a:off x="6915150" y="1190625"/>
            <a:ext cx="1847850" cy="285750"/>
          </a:xfrm>
          <a:prstGeom prst="rect">
            <a:avLst/>
          </a:prstGeom>
          <a:noFill/>
        </p:spPr>
        <p:txBody>
          <a:bodyPr wrap="square" lIns="0" rIns="0" tIns="0" bIns="0" anchor="t">
            <a:noAutofit/>
          </a:bodyPr>
          <a:lstStyle/>
          <a:p>
            <a:pPr algn="l">
              <a:lnSpc>
                <a:spcPct val="90000"/>
              </a:lnSpc>
            </a:pPr>
            <a:r>
              <a:rPr sz="1000" b="1" lang="en-US">
                <a:solidFill>
                  <a:srgbClr val="AD132A"/>
                </a:solidFill>
                <a:latin typeface="Arial"/>
              </a:rPr>
              <a:t>Bagpiper-TTS</a:t>
            </a:r>
            <a:endParaRPr lang="en-US" sz="1000"/>
          </a:p>
        </p:txBody>
      </p:sp>
      <p:sp>
        <p:nvSpPr>
          <p:cNvPr id="9" name="Text 2922"/>
          <p:cNvSpPr txBox="1"/>
          <p:nvPr/>
        </p:nvSpPr>
        <p:spPr>
          <a:xfrm>
            <a:off x="1447800" y="1606804"/>
            <a:ext cx="2093328" cy="225552"/>
          </a:xfrm>
          <a:prstGeom prst="rect">
            <a:avLst/>
          </a:prstGeom>
          <a:noFill/>
        </p:spPr>
        <p:txBody>
          <a:bodyPr wrap="square" lIns="0" rIns="0" tIns="0" bIns="0" anchor="t">
            <a:noAutofit/>
          </a:bodyPr>
          <a:lstStyle/>
          <a:p>
            <a:pPr algn="l">
              <a:lnSpc>
                <a:spcPct val="90000"/>
              </a:lnSpc>
            </a:pPr>
            <a:r>
              <a:rPr sz="1200" b="1" lang="en-US">
                <a:solidFill>
                  <a:srgbClr val="434343"/>
                </a:solidFill>
                <a:latin typeface="Arial"/>
              </a:rPr>
              <a:t>WER (%)</a:t>
            </a:r>
            <a:endParaRPr lang="en-US" sz="1200"/>
          </a:p>
        </p:txBody>
      </p:sp>
      <p:sp>
        <p:nvSpPr>
          <p:cNvPr id="3" name="ShapeInfo 2926"/>
          <p:cNvSpPr/>
          <p:nvPr/>
        </p:nvSpPr>
        <p:spPr>
          <a:xfrm>
            <a:off x="2266950" y="1612582"/>
            <a:ext cx="133350" cy="170498"/>
          </a:xfrm>
          <a:custGeom>
            <a:avLst/>
            <a:gdLst/>
            <a:ahLst/>
            <a:cxnLst/>
            <a:rect l="l" t="t" r="r" b="b"/>
            <a:pathLst>
              <a:path w="133617" h="170688">
                <a:moveTo>
                  <a:pt x="0" y="106680"/>
                </a:moveTo>
                <a:lnTo>
                  <a:pt x="33404" y="106680"/>
                </a:lnTo>
                <a:lnTo>
                  <a:pt x="33404" y="0"/>
                </a:lnTo>
                <a:lnTo>
                  <a:pt x="100213" y="0"/>
                </a:lnTo>
                <a:lnTo>
                  <a:pt x="100213" y="106680"/>
                </a:lnTo>
                <a:lnTo>
                  <a:pt x="133617" y="106680"/>
                </a:lnTo>
                <a:lnTo>
                  <a:pt x="66809" y="170688"/>
                </a:lnTo>
                <a:close/>
              </a:path>
            </a:pathLst>
          </a:custGeom>
          <a:solidFill>
            <a:srgbClr val="AD132A"/>
          </a:solidFill>
          <a:ln>
            <a:noFill/>
          </a:ln>
        </p:spPr>
        <p:txBody>
          <a:bodyPr rtlCol="0" anchor="ctr"/>
          <a:lstStyle/>
          <a:p>
            <a:pPr algn="ctr"/>
          </a:p>
        </p:txBody>
      </p:sp>
      <p:graphicFrame>
        <p:nvGraphicFramePr>
          <p:cNvPr id="10" name="Chart WER"/>
          <p:cNvGraphicFramePr>
            <a:graphicFrameLocks noGrp="1"/>
          </p:cNvGraphicFramePr>
          <p:nvPr/>
        </p:nvGraphicFramePr>
        <p:xfrm>
          <a:off x="1447800" y="2038350"/>
          <a:ext cx="2328862" cy="1647825"/>
        </p:xfrm>
        <a:graphic>
          <a:graphicData uri="http://schemas.openxmlformats.org/drawingml/2006/chart">
            <c:chart xmlns:c="http://schemas.openxmlformats.org/drawingml/2006/chart" r:id="rId2"/>
          </a:graphicData>
        </a:graphic>
      </p:graphicFrame>
      <p:sp>
        <p:nvSpPr>
          <p:cNvPr id="11" name="Text 2933"/>
          <p:cNvSpPr txBox="1"/>
          <p:nvPr/>
        </p:nvSpPr>
        <p:spPr>
          <a:xfrm>
            <a:off x="3948341" y="1606804"/>
            <a:ext cx="2093328" cy="225552"/>
          </a:xfrm>
          <a:prstGeom prst="rect">
            <a:avLst/>
          </a:prstGeom>
          <a:noFill/>
        </p:spPr>
        <p:txBody>
          <a:bodyPr wrap="square" lIns="0" rIns="0" tIns="0" bIns="0" anchor="t">
            <a:noAutofit/>
          </a:bodyPr>
          <a:lstStyle/>
          <a:p>
            <a:pPr algn="l">
              <a:lnSpc>
                <a:spcPct val="90000"/>
              </a:lnSpc>
            </a:pPr>
            <a:r>
              <a:rPr sz="1200" b="1" lang="en-US">
                <a:solidFill>
                  <a:srgbClr val="434343"/>
                </a:solidFill>
                <a:latin typeface="Arial"/>
              </a:rPr>
              <a:t>Task fulfillment / 5</a:t>
            </a:r>
            <a:endParaRPr lang="en-US" sz="1200"/>
          </a:p>
        </p:txBody>
      </p:sp>
      <p:sp>
        <p:nvSpPr>
          <p:cNvPr id="12" name="ShapeInfo 2937"/>
          <p:cNvSpPr/>
          <p:nvPr/>
        </p:nvSpPr>
        <p:spPr>
          <a:xfrm>
            <a:off x="5380541" y="1612900"/>
            <a:ext cx="133617" cy="170688"/>
          </a:xfrm>
          <a:custGeom>
            <a:avLst/>
            <a:gdLst/>
            <a:ahLst/>
            <a:cxnLst/>
            <a:rect l="l" t="t" r="r" b="b"/>
            <a:pathLst>
              <a:path w="133617" h="170688">
                <a:moveTo>
                  <a:pt x="0" y="64008"/>
                </a:moveTo>
                <a:lnTo>
                  <a:pt x="66809" y="0"/>
                </a:lnTo>
                <a:lnTo>
                  <a:pt x="133617" y="64008"/>
                </a:lnTo>
                <a:lnTo>
                  <a:pt x="100213" y="64008"/>
                </a:lnTo>
                <a:lnTo>
                  <a:pt x="100213" y="170688"/>
                </a:lnTo>
                <a:lnTo>
                  <a:pt x="33404" y="170688"/>
                </a:lnTo>
                <a:lnTo>
                  <a:pt x="33404" y="64008"/>
                </a:lnTo>
                <a:close/>
              </a:path>
            </a:pathLst>
          </a:custGeom>
          <a:solidFill>
            <a:srgbClr val="AD132A"/>
          </a:solidFill>
          <a:ln>
            <a:noFill/>
          </a:ln>
        </p:spPr>
        <p:txBody>
          <a:bodyPr rtlCol="0" anchor="ctr"/>
          <a:lstStyle/>
          <a:p>
            <a:pPr algn="ctr"/>
          </a:p>
        </p:txBody>
      </p:sp>
      <p:graphicFrame>
        <p:nvGraphicFramePr>
          <p:cNvPr id="13" name="Chart task fulfillment"/>
          <p:cNvGraphicFramePr>
            <a:graphicFrameLocks noGrp="1"/>
          </p:cNvGraphicFramePr>
          <p:nvPr/>
        </p:nvGraphicFramePr>
        <p:xfrm>
          <a:off x="3948112" y="2038350"/>
          <a:ext cx="2328862" cy="1647825"/>
        </p:xfrm>
        <a:graphic>
          <a:graphicData uri="http://schemas.openxmlformats.org/drawingml/2006/chart">
            <c:chart xmlns:c="http://schemas.openxmlformats.org/drawingml/2006/chart" r:id="rId3"/>
          </a:graphicData>
        </a:graphic>
      </p:graphicFrame>
      <p:sp>
        <p:nvSpPr>
          <p:cNvPr id="14" name="Text 2944"/>
          <p:cNvSpPr txBox="1"/>
          <p:nvPr/>
        </p:nvSpPr>
        <p:spPr>
          <a:xfrm>
            <a:off x="6448882" y="1606804"/>
            <a:ext cx="2093328" cy="225552"/>
          </a:xfrm>
          <a:prstGeom prst="rect">
            <a:avLst/>
          </a:prstGeom>
          <a:noFill/>
        </p:spPr>
        <p:txBody>
          <a:bodyPr wrap="square" lIns="0" rIns="0" tIns="0" bIns="0" anchor="t">
            <a:noAutofit/>
          </a:bodyPr>
          <a:lstStyle/>
          <a:p>
            <a:pPr algn="l">
              <a:lnSpc>
                <a:spcPct val="90000"/>
              </a:lnSpc>
            </a:pPr>
            <a:r>
              <a:rPr sz="1200" b="1" lang="en-US">
                <a:solidFill>
                  <a:srgbClr val="434343"/>
                </a:solidFill>
                <a:latin typeface="Arial"/>
              </a:rPr>
              <a:t>Human rating / 5</a:t>
            </a:r>
            <a:endParaRPr lang="en-US" sz="1200"/>
          </a:p>
        </p:txBody>
      </p:sp>
      <p:sp>
        <p:nvSpPr>
          <p:cNvPr id="15" name="ShapeInfo 2948"/>
          <p:cNvSpPr/>
          <p:nvPr/>
        </p:nvSpPr>
        <p:spPr>
          <a:xfrm>
            <a:off x="7757928" y="1612900"/>
            <a:ext cx="133617" cy="170688"/>
          </a:xfrm>
          <a:custGeom>
            <a:avLst/>
            <a:gdLst/>
            <a:ahLst/>
            <a:cxnLst/>
            <a:rect l="l" t="t" r="r" b="b"/>
            <a:pathLst>
              <a:path w="133617" h="170688">
                <a:moveTo>
                  <a:pt x="0" y="64008"/>
                </a:moveTo>
                <a:lnTo>
                  <a:pt x="66809" y="0"/>
                </a:lnTo>
                <a:lnTo>
                  <a:pt x="133617" y="64008"/>
                </a:lnTo>
                <a:lnTo>
                  <a:pt x="100213" y="64008"/>
                </a:lnTo>
                <a:lnTo>
                  <a:pt x="100213" y="170688"/>
                </a:lnTo>
                <a:lnTo>
                  <a:pt x="33404" y="170688"/>
                </a:lnTo>
                <a:lnTo>
                  <a:pt x="33404" y="64008"/>
                </a:lnTo>
                <a:close/>
              </a:path>
            </a:pathLst>
          </a:custGeom>
          <a:solidFill>
            <a:srgbClr val="AD132A"/>
          </a:solidFill>
          <a:ln>
            <a:noFill/>
          </a:ln>
        </p:spPr>
        <p:txBody>
          <a:bodyPr rtlCol="0" anchor="ctr"/>
          <a:lstStyle/>
          <a:p>
            <a:pPr algn="ctr"/>
          </a:p>
        </p:txBody>
      </p:sp>
      <p:graphicFrame>
        <p:nvGraphicFramePr>
          <p:cNvPr id="16" name="Chart human rating"/>
          <p:cNvGraphicFramePr>
            <a:graphicFrameLocks noGrp="1"/>
          </p:cNvGraphicFramePr>
          <p:nvPr/>
        </p:nvGraphicFramePr>
        <p:xfrm>
          <a:off x="6448425" y="2038350"/>
          <a:ext cx="2328862" cy="1647825"/>
        </p:xfrm>
        <a:graphic>
          <a:graphicData uri="http://schemas.openxmlformats.org/drawingml/2006/chart">
            <c:chart xmlns:c="http://schemas.openxmlformats.org/drawingml/2006/chart" r:id="rId4"/>
          </a:graphicData>
        </a:graphic>
      </p:graphicFrame>
      <p:cxnSp>
        <p:nvCxnSpPr>
          <p:cNvPr id="17" name="ShapeInfo 2955"/>
          <p:cNvCxnSpPr/>
          <p:nvPr/>
        </p:nvCxnSpPr>
        <p:spPr>
          <a:xfrm>
            <a:off x="1447800" y="3752596"/>
            <a:ext cx="7329830" cy="0"/>
          </a:xfrm>
          <a:prstGeom prst="line">
            <a:avLst/>
          </a:prstGeom>
          <a:ln w="9525">
            <a:solidFill>
              <a:srgbClr val="D9D9D9"/>
            </a:solidFill>
          </a:ln>
        </p:spPr>
      </p:cxnSp>
      <p:sp>
        <p:nvSpPr>
          <p:cNvPr id="18" name="Text 2959"/>
          <p:cNvSpPr txBox="1"/>
          <p:nvPr/>
        </p:nvSpPr>
        <p:spPr>
          <a:xfrm>
            <a:off x="1447800" y="3895725"/>
            <a:ext cx="7324725" cy="323850"/>
          </a:xfrm>
          <a:prstGeom prst="rect">
            <a:avLst/>
          </a:prstGeom>
          <a:noFill/>
        </p:spPr>
        <p:txBody>
          <a:bodyPr wrap="square" lIns="0" rIns="0" tIns="0" bIns="0" anchor="t">
            <a:noAutofit/>
          </a:bodyPr>
          <a:lstStyle/>
          <a:p>
            <a:pPr algn="l">
              <a:lnSpc>
                <a:spcPct val="90000"/>
              </a:lnSpc>
            </a:pPr>
            <a:r>
              <a:rPr sz="1050" b="0" lang="en-US">
                <a:solidFill>
                  <a:srgbClr val="434343"/>
                </a:solidFill>
                <a:latin typeface="Arial"/>
              </a:rPr>
              <a:t>Intent-to-speech: TF 3.80, human 3.57     Role-play: WER 2.0%, TF 3.72, human 3.93</a:t>
            </a:r>
            <a:endParaRPr lang="en-US" sz="1050"/>
          </a:p>
        </p:txBody>
      </p:sp>
      <p:sp>
        <p:nvSpPr>
          <p:cNvPr id="19" name="Text 2963"/>
          <p:cNvSpPr txBox="1"/>
          <p:nvPr/>
        </p:nvSpPr>
        <p:spPr>
          <a:xfrm>
            <a:off x="1447800" y="4276725"/>
            <a:ext cx="7324725" cy="333375"/>
          </a:xfrm>
          <a:prstGeom prst="rect">
            <a:avLst/>
          </a:prstGeom>
          <a:noFill/>
        </p:spPr>
        <p:txBody>
          <a:bodyPr wrap="square" lIns="0" rIns="0" tIns="0" bIns="0" anchor="t">
            <a:noAutofit/>
          </a:bodyPr>
          <a:lstStyle/>
          <a:p>
            <a:pPr algn="l">
              <a:lnSpc>
                <a:spcPct val="90000"/>
              </a:lnSpc>
            </a:pPr>
            <a:r>
              <a:rPr sz="1250" b="1" lang="en-US">
                <a:solidFill>
                  <a:srgbClr val="AD132A"/>
                </a:solidFill>
                <a:latin typeface="Arial"/>
              </a:rPr>
              <a:t>Lower WER and higher automated fulfillment; slightly lower human ratings</a:t>
            </a:r>
            <a:endParaRPr lang="en-US" sz="1250" b="1"/>
          </a:p>
        </p:txBody>
      </p:sp>
      <p:sp>
        <p:nvSpPr>
          <p:cNvPr id="20" name="Slide Number 15"/>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15</a:t>
            </a:fld>
            <a:endParaRPr sz="900" b="0">
              <a:solidFill>
                <a:srgbClr val="77777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447800" y="590550"/>
            <a:ext cx="7334250" cy="447675"/>
          </a:xfrm>
        </p:spPr>
        <p:txBody>
          <a:bodyPr lIns="0" rIns="0" tIns="0" bIns="0">
            <a:noAutofit/>
          </a:bodyPr>
          <a:lstStyle/>
          <a:p>
            <a:r>
              <a:rPr sz="2400" lang="en-US" b="1"/>
              <a:t>Natural language as the speech interface</a:t>
            </a:r>
          </a:p>
        </p:txBody>
      </p:sp>
      <p:sp>
        <p:nvSpPr>
          <p:cNvPr id="4" name="Subtitle 3"/>
          <p:cNvSpPr>
            <a:spLocks noGrp="1"/>
          </p:cNvSpPr>
          <p:nvPr>
            <p:ph type="subTitle" idx="2"/>
          </p:nvPr>
        </p:nvSpPr>
        <p:spPr>
          <a:xfrm>
            <a:off x="5619750" y="209550"/>
            <a:ext cx="3143250" cy="219075"/>
          </a:xfrm>
        </p:spPr>
        <p:txBody>
          <a:bodyPr lIns="0" rIns="0" tIns="0" bIns="0">
            <a:noAutofit/>
          </a:bodyPr>
          <a:lstStyle/>
          <a:p>
            <a:pPr>
              <a:buNone/>
            </a:pPr>
            <a:r>
              <a:rPr sz="1000" b="0">
                <a:solidFill>
                  <a:srgbClr val="777777"/>
                </a:solidFill>
              </a:rPr>
              <a:t>5. Conclusion</a:t>
            </a:r>
          </a:p>
        </p:txBody>
      </p:sp>
      <p:sp>
        <p:nvSpPr>
          <p:cNvPr id="5" name="Text 2979"/>
          <p:cNvSpPr txBox="1"/>
          <p:nvPr/>
        </p:nvSpPr>
        <p:spPr>
          <a:xfrm>
            <a:off x="1447800" y="1320800"/>
            <a:ext cx="7329830" cy="388125"/>
          </a:xfrm>
          <a:prstGeom prst="rect">
            <a:avLst/>
          </a:prstGeom>
          <a:noFill/>
        </p:spPr>
        <p:txBody>
          <a:bodyPr wrap="square" lIns="0" rIns="0" tIns="0" bIns="0" anchor="t">
            <a:noAutofit/>
          </a:bodyPr>
          <a:lstStyle/>
          <a:p>
            <a:pPr algn="l">
              <a:lnSpc>
                <a:spcPct val="90000"/>
              </a:lnSpc>
            </a:pPr>
            <a:r>
              <a:rPr sz="1800" b="0" lang="en-US">
                <a:solidFill>
                  <a:srgbClr val="434343"/>
                </a:solidFill>
                <a:latin typeface="Arial"/>
              </a:rPr>
              <a:t>Request, planning, rich caption, audio</a:t>
            </a:r>
            <a:endParaRPr lang="en-US" sz="1800"/>
          </a:p>
        </p:txBody>
      </p:sp>
      <p:sp>
        <p:nvSpPr>
          <p:cNvPr id="6" name="Text 2983"/>
          <p:cNvSpPr txBox="1"/>
          <p:nvPr/>
        </p:nvSpPr>
        <p:spPr>
          <a:xfrm>
            <a:off x="1447800" y="1944345"/>
            <a:ext cx="7329830" cy="318135"/>
          </a:xfrm>
          <a:prstGeom prst="rect">
            <a:avLst/>
          </a:prstGeom>
          <a:noFill/>
        </p:spPr>
        <p:txBody>
          <a:bodyPr wrap="square" lIns="0" rIns="0" tIns="0" bIns="0" anchor="t">
            <a:noAutofit/>
          </a:bodyPr>
          <a:lstStyle/>
          <a:p>
            <a:pPr algn="l">
              <a:lnSpc>
                <a:spcPct val="90000"/>
              </a:lnSpc>
            </a:pPr>
            <a:r>
              <a:rPr sz="1600" b="1" lang="en-US">
                <a:solidFill>
                  <a:srgbClr val="AD132A"/>
                </a:solidFill>
                <a:latin typeface="Arial"/>
              </a:rPr>
              <a:t>One model across six application categories</a:t>
            </a:r>
            <a:endParaRPr lang="en-US" sz="1600"/>
          </a:p>
        </p:txBody>
      </p:sp>
      <p:sp>
        <p:nvSpPr>
          <p:cNvPr id="7" name="Text 2987"/>
          <p:cNvSpPr txBox="1"/>
          <p:nvPr/>
        </p:nvSpPr>
        <p:spPr>
          <a:xfrm>
            <a:off x="1447800" y="2453361"/>
            <a:ext cx="7126224" cy="496291"/>
          </a:xfrm>
          <a:prstGeom prst="rect">
            <a:avLst/>
          </a:prstGeom>
          <a:noFill/>
        </p:spPr>
        <p:txBody>
          <a:bodyPr wrap="square" lIns="0" rIns="0" tIns="0" bIns="0" anchor="t">
            <a:noAutofit/>
          </a:bodyPr>
          <a:lstStyle/>
          <a:p>
            <a:pPr algn="l">
              <a:lnSpc>
                <a:spcPct val="90000"/>
              </a:lnSpc>
            </a:pPr>
            <a:r>
              <a:rPr sz="1400" b="0" lang="en-US">
                <a:solidFill>
                  <a:srgbClr val="434343"/>
                </a:solidFill>
                <a:latin typeface="Arial"/>
              </a:rPr>
              <a:t>Competitive TTS, broader tasks, room to improve human-rated quality</a:t>
            </a:r>
            <a:endParaRPr lang="en-US" sz="1400"/>
          </a:p>
        </p:txBody>
      </p:sp>
      <p:sp>
        <p:nvSpPr>
          <p:cNvPr id="8" name="Text 2991"/>
          <p:cNvSpPr txBox="1"/>
          <p:nvPr/>
        </p:nvSpPr>
        <p:spPr>
          <a:xfrm>
            <a:off x="1447800" y="3102356"/>
            <a:ext cx="3817620" cy="254508"/>
          </a:xfrm>
          <a:prstGeom prst="rect">
            <a:avLst/>
          </a:prstGeom>
          <a:noFill/>
        </p:spPr>
        <p:txBody>
          <a:bodyPr wrap="square" lIns="0" rIns="0" tIns="0" bIns="0" anchor="t">
            <a:noAutofit/>
          </a:bodyPr>
          <a:lstStyle/>
          <a:p>
            <a:pPr algn="l">
              <a:lnSpc>
                <a:spcPct val="90000"/>
              </a:lnSpc>
            </a:pPr>
            <a:r>
              <a:rPr sz="1200" b="0" lang="en-US">
                <a:solidFill>
                  <a:srgbClr val="999999"/>
                </a:solidFill>
                <a:latin typeface="Arial"/>
              </a:rPr>
              <a:t>Demos and resources</a:t>
            </a:r>
            <a:endParaRPr lang="en-US" sz="1200"/>
          </a:p>
        </p:txBody>
      </p:sp>
      <p:sp>
        <p:nvSpPr>
          <p:cNvPr id="9" name="Text 2995">
            <a:hlinkClick r:id="rId2">
              <a:extLst>
                <a:ext uri="{A12FA001-AC4F-418D-AE19-62706E023703}">
                  <ns0:hlinkClr xmlns:ns0="http://schemas.microsoft.com/office/drawing/2018/hyperlinkcolor" val="tx"/>
                </a:ext>
              </a:extLst>
            </a:hlinkClick>
          </p:cNvPr>
          <p:cNvSpPr txBox="1"/>
          <p:nvPr/>
        </p:nvSpPr>
        <p:spPr>
          <a:xfrm>
            <a:off x="1447800" y="3426854"/>
            <a:ext cx="7062597" cy="318135"/>
          </a:xfrm>
          <a:prstGeom prst="rect">
            <a:avLst/>
          </a:prstGeom>
          <a:noFill/>
        </p:spPr>
        <p:txBody>
          <a:bodyPr wrap="square" lIns="0" rIns="0" tIns="0" bIns="0" anchor="t">
            <a:noAutofit/>
          </a:bodyPr>
          <a:lstStyle/>
          <a:p>
            <a:pPr algn="l">
              <a:lnSpc>
                <a:spcPct val="90000"/>
              </a:lnSpc>
            </a:pPr>
            <a:r>
              <a:rPr sz="1800" b="1" lang="en-US" u="none">
                <a:solidFill>
                  <a:srgbClr val="B30A2B"/>
                </a:solidFill>
                <a:latin typeface="Arial"/>
              </a:rPr>
              <a:t>bagpipertts.github.io/bagpiper_tts_demo</a:t>
            </a:r>
            <a:endParaRPr lang="en-US" sz="1800" b="1" u="none">
              <a:solidFill>
                <a:srgbClr val="B30A2B"/>
              </a:solidFill>
            </a:endParaRPr>
          </a:p>
        </p:txBody>
      </p:sp>
      <p:sp>
        <p:nvSpPr>
          <p:cNvPr id="10" name="Slide Number 16"/>
          <p:cNvSpPr txBox="1"/>
          <p:nvPr>
            <p:ph idx="12" type="sldNum"/>
          </p:nvPr>
        </p:nvSpPr>
        <p:spPr>
          <a:xfrm>
            <a:off x="8743950" y="4772025"/>
            <a:ext cx="247650" cy="209550"/>
          </a:xfrm>
          <a:prstGeom prst="rect">
            <a:avLst/>
          </a:prstGeom>
        </p:spPr>
        <p:txBody>
          <a:bodyPr anchorCtr="0" anchor="ctr" bIns="0" lIns="0" spcFirstLastPara="1" rIns="0" wrap="square" tIns="0">
            <a:noAutofit/>
          </a:bodyPr>
          <a:lstStyle>
            <a:lvl1pPr lvl="0">
              <a:buNone/>
              <a:defRPr sz="900" b="0">
                <a:solidFill>
                  <a:srgbClr val="777777"/>
                </a:solidFill>
              </a:defRPr>
            </a:lvl1pPr>
            <a:lvl2pPr lvl="1">
              <a:buNone/>
              <a:defRPr sz="900" b="0">
                <a:solidFill>
                  <a:srgbClr val="777777"/>
                </a:solidFill>
              </a:defRPr>
            </a:lvl2pPr>
            <a:lvl3pPr lvl="2">
              <a:buNone/>
              <a:defRPr sz="900" b="0">
                <a:solidFill>
                  <a:srgbClr val="777777"/>
                </a:solidFill>
              </a:defRPr>
            </a:lvl3pPr>
            <a:lvl4pPr lvl="3">
              <a:buNone/>
              <a:defRPr sz="900" b="0">
                <a:solidFill>
                  <a:srgbClr val="777777"/>
                </a:solidFill>
              </a:defRPr>
            </a:lvl4pPr>
            <a:lvl5pPr lvl="4">
              <a:buNone/>
              <a:defRPr sz="900" b="0">
                <a:solidFill>
                  <a:srgbClr val="777777"/>
                </a:solidFill>
              </a:defRPr>
            </a:lvl5pPr>
            <a:lvl6pPr lvl="5">
              <a:buNone/>
              <a:defRPr sz="900" b="0">
                <a:solidFill>
                  <a:srgbClr val="777777"/>
                </a:solidFill>
              </a:defRPr>
            </a:lvl6pPr>
            <a:lvl7pPr lvl="6">
              <a:buNone/>
              <a:defRPr sz="900" b="0">
                <a:solidFill>
                  <a:srgbClr val="777777"/>
                </a:solidFill>
              </a:defRPr>
            </a:lvl7pPr>
            <a:lvl8pPr lvl="7">
              <a:buNone/>
              <a:defRPr sz="900" b="0">
                <a:solidFill>
                  <a:srgbClr val="777777"/>
                </a:solidFill>
              </a:defRPr>
            </a:lvl8pPr>
            <a:lvl9pPr lvl="8">
              <a:buNone/>
              <a:defRPr sz="900" b="0">
                <a:solidFill>
                  <a:srgbClr val="777777"/>
                </a:solidFill>
              </a:defRPr>
            </a:lvl9pPr>
          </a:lstStyle>
          <a:p>
            <a:pPr indent="0" lvl="0" marL="0" rtl="0" algn="r">
              <a:spcBef>
                <a:spcPts val="0"/>
              </a:spcBef>
              <a:spcAft>
                <a:spcPts val="0"/>
              </a:spcAft>
              <a:buNone/>
            </a:pPr>
            <a:fld id="{00000000-1234-1234-1234-123412341234}" type="slidenum">
              <a:rPr lang="en" sz="900" b="0">
                <a:solidFill>
                  <a:srgbClr val="777777"/>
                </a:solidFill>
              </a:rPr>
              <a:t>16</a:t>
            </a:fld>
            <a:endParaRPr sz="900" b="0">
              <a:solidFill>
                <a:srgbClr val="777777"/>
              </a:solidFill>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F9922306-C8EC-4027-B55D-B5169CC8F9A4}"/>
              </a:ext>
            </a:extLst>
          </p:cNvPr>
          <p:cNvSpPr>
            <a:spLocks noGrp="1"/>
          </p:cNvSpPr>
          <p:nvPr>
            <p:ph type="ctrTitle" idx="0"/>
          </p:nvPr>
        </p:nvSpPr>
        <p:spPr>
          <a:xfrm>
            <a:off x="2762250" y="1095375"/>
            <a:ext cx="6000750" cy="523875"/>
          </a:xfrm>
        </p:spPr>
        <p:txBody>
          <a:bodyPr lIns="0" tIns="0" rIns="0" bIns="0">
            <a:noAutofit/>
          </a:bodyPr>
          <a:lstStyle/>
          <a:p>
            <a:pPr marL="0" indent="0">
              <a:buNone/>
            </a:pPr>
            <a:r>
              <a:rPr sz="3000" b="1" u="none">
                <a:solidFill>
                  <a:srgbClr val="333333"/>
                </a:solidFill>
                <a:latin typeface="Arial"/>
                <a:ea typeface="Arial"/>
                <a:cs typeface="Arial"/>
              </a:rPr>
              <a:t>Thank you for listening!</a:t>
            </a:r>
          </a:p>
        </p:txBody>
      </p:sp>
      <p:pic>
        <p:nvPicPr>
          <p:cNvPr id="4" name="QR code demo page" descr="qr_demo.png">
            <a:hlinkClick r:id="rId2"/>
          </p:cNvPr>
          <p:cNvPicPr>
            <a:picLocks noChangeAspect="1"/>
          </p:cNvPicPr>
          <p:nvPr/>
        </p:nvPicPr>
        <p:blipFill>
          <a:blip r:embed="rId3"/>
          <a:stretch>
            <a:fillRect/>
          </a:stretch>
        </p:blipFill>
        <p:spPr>
          <a:xfrm>
            <a:off x="7658100" y="1790700"/>
            <a:ext cx="1085850" cy="1085850"/>
          </a:xfrm>
          <a:prstGeom prst="rect">
            <a:avLst/>
          </a:prstGeom>
        </p:spPr>
      </p:pic>
      <p:sp>
        <p:nvSpPr>
          <p:cNvPr id="5" name="Slide Number 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17</a:t>
            </a:fld>
            <a:endParaRPr/>
          </a:p>
        </p:txBody>
      </p:sp>
      <p:pic>
        <p:nvPicPr>
          <p:cNvPr id="6" name="LY Corporation logo"/>
          <p:cNvPicPr/>
          <p:nvPr/>
        </p:nvPicPr>
        <p:blipFill>
          <a:blip r:embed="rId4"/>
          <a:stretch>
            <a:fillRect/>
          </a:stretch>
        </p:blipFill>
        <p:spPr>
          <a:xfrm>
            <a:off x="4695825" y="4124325"/>
            <a:ext cx="2000250" cy="281725"/>
          </a:xfrm>
          <a:prstGeom prst="rect">
            <a:avLst/>
          </a:prstGeom>
        </p:spPr>
      </p:pic>
      <p:pic>
        <p:nvPicPr>
          <p:cNvPr id="7" name="NVIDIA logo"/>
          <p:cNvPicPr/>
          <p:nvPr/>
        </p:nvPicPr>
        <p:blipFill>
          <a:blip r:embed="rId5"/>
          <a:stretch>
            <a:fillRect/>
          </a:stretch>
        </p:blipFill>
        <p:spPr>
          <a:xfrm>
            <a:off x="7762875" y="3829050"/>
            <a:ext cx="857250" cy="857250"/>
          </a:xfrm>
          <a:prstGeom prst="rect">
            <a:avLst/>
          </a:prstGeom>
        </p:spPr>
      </p:pic>
      <p:sp>
        <p:nvSpPr>
          <p:cNvPr id="8" name="v22-slides-label">
            <a:extLst>
              <a:ext uri="{FF2B5EF4-FFF2-40B4-BE49-F238E27FC236}">
                <a16:creationId xmlns:a16="http://schemas.microsoft.com/office/drawing/2014/main" id="{D98E0FF2-A4C3-4519-99DF-1CCBEAF645B9}"/>
              </a:ext>
            </a:extLst>
          </p:cNvPr>
          <p:cNvSpPr>
            <a:spLocks noGrp="1"/>
          </p:cNvSpPr>
          <p:nvPr/>
        </p:nvSpPr>
        <p:spPr>
          <a:xfrm>
            <a:off x="2762250" y="1876425"/>
            <a:ext cx="4667250" cy="161925"/>
          </a:xfrm>
          <a:prstGeom prst="rect">
            <a:avLst/>
          </a:prstGeom>
          <a:noFill/>
          <a:ln w="0">
            <a:noFill/>
          </a:ln>
        </p:spPr>
        <p:txBody>
          <a:bodyPr lIns="0" tIns="0" rIns="0" bIns="0">
            <a:noAutofit/>
          </a:bodyPr>
          <a:lstStyle/>
          <a:p>
            <a:pPr marL="0" indent="0">
              <a:defRPr sz="1050" b="1" u="none">
                <a:solidFill>
                  <a:srgbClr val="B30A2B"/>
                </a:solidFill>
                <a:latin typeface="Arial"/>
                <a:ea typeface="Arial"/>
                <a:cs typeface="Arial"/>
              </a:defRPr>
              <a:buNone/>
            </a:pPr>
            <a:r>
              <a:rPr sz="1050" b="1" u="none">
                <a:solidFill>
                  <a:srgbClr val="B30A2B"/>
                </a:solidFill>
                <a:latin typeface="Arial"/>
                <a:ea typeface="Arial"/>
                <a:cs typeface="Arial"/>
              </a:rPr>
              <a:t>SLIDES</a:t>
            </a:r>
          </a:p>
        </p:txBody>
      </p:sp>
      <p:sp>
        <p:nvSpPr>
          <p:cNvPr id="9" name="v22-slides-link">
            <a:extLst>
              <a:ext uri="{FF2B5EF4-FFF2-40B4-BE49-F238E27FC236}">
                <a16:creationId xmlns:a16="http://schemas.microsoft.com/office/drawing/2014/main" id="{D8499A37-56A6-45B5-BF06-25A627695A22}"/>
              </a:ext>
            </a:extLst>
            <a:hlinkClick r:id="rId7"/>
          </p:cNvPr>
          <p:cNvSpPr>
            <a:spLocks noGrp="1"/>
          </p:cNvSpPr>
          <p:nvPr/>
        </p:nvSpPr>
        <p:spPr>
          <a:xfrm>
            <a:off x="2762250" y="2085975"/>
            <a:ext cx="4610100" cy="266700"/>
          </a:xfrm>
          <a:prstGeom prst="rect">
            <a:avLst/>
          </a:prstGeom>
          <a:noFill/>
          <a:ln w="0">
            <a:noFill/>
          </a:ln>
        </p:spPr>
        <p:txBody>
          <a:bodyPr lIns="0" tIns="0" rIns="0" bIns="0">
            <a:noAutofit/>
          </a:bodyPr>
          <a:lstStyle/>
          <a:p>
            <a:pPr marL="0" indent="0">
              <a:defRPr sz="1600" b="1" u="none">
                <a:solidFill>
                  <a:srgbClr val="333333"/>
                </a:solidFill>
                <a:latin typeface="Arial"/>
                <a:ea typeface="Arial"/>
                <a:cs typeface="Arial"/>
              </a:defRPr>
              <a:buNone/>
            </a:pPr>
            <a:r>
              <a:rPr sz="1600" b="1" u="none">
                <a:solidFill>
                  <a:srgbClr val="333333"/>
                </a:solidFill>
                <a:latin typeface="Arial"/>
                <a:ea typeface="Arial"/>
                <a:cs typeface="Arial"/>
              </a:rPr>
              <a:t>Download this presentation (.pptx)</a:t>
            </a:r>
          </a:p>
        </p:txBody>
      </p:sp>
      <p:sp>
        <p:nvSpPr>
          <p:cNvPr id="10" name="v22-demo-label">
            <a:extLst>
              <a:ext uri="{FF2B5EF4-FFF2-40B4-BE49-F238E27FC236}">
                <a16:creationId xmlns:a16="http://schemas.microsoft.com/office/drawing/2014/main" id="{54476A13-997B-4450-8587-A07040C1AF84}"/>
              </a:ext>
            </a:extLst>
          </p:cNvPr>
          <p:cNvSpPr>
            <a:spLocks noGrp="1"/>
          </p:cNvSpPr>
          <p:nvPr/>
        </p:nvSpPr>
        <p:spPr>
          <a:xfrm>
            <a:off x="2762250" y="2524125"/>
            <a:ext cx="4667250" cy="161925"/>
          </a:xfrm>
          <a:prstGeom prst="rect">
            <a:avLst/>
          </a:prstGeom>
          <a:noFill/>
          <a:ln w="0">
            <a:noFill/>
          </a:ln>
        </p:spPr>
        <p:txBody>
          <a:bodyPr lIns="0" tIns="0" rIns="0" bIns="0">
            <a:noAutofit/>
          </a:bodyPr>
          <a:lstStyle/>
          <a:p>
            <a:pPr marL="0" indent="0">
              <a:defRPr sz="1050" b="1" u="none">
                <a:solidFill>
                  <a:srgbClr val="B30A2B"/>
                </a:solidFill>
                <a:latin typeface="Arial"/>
                <a:ea typeface="Arial"/>
                <a:cs typeface="Arial"/>
              </a:defRPr>
              <a:buNone/>
            </a:pPr>
            <a:r>
              <a:rPr sz="1050" b="1" u="none">
                <a:solidFill>
                  <a:srgbClr val="B30A2B"/>
                </a:solidFill>
                <a:latin typeface="Arial"/>
                <a:ea typeface="Arial"/>
                <a:cs typeface="Arial"/>
              </a:rPr>
              <a:t>AUDIO DEMOS</a:t>
            </a:r>
          </a:p>
        </p:txBody>
      </p:sp>
      <p:sp>
        <p:nvSpPr>
          <p:cNvPr id="11" name="v22-demo-link">
            <a:extLst>
              <a:ext uri="{FF2B5EF4-FFF2-40B4-BE49-F238E27FC236}">
                <a16:creationId xmlns:a16="http://schemas.microsoft.com/office/drawing/2014/main" id="{71270C89-C6D8-4D05-8169-117656B60CBA}"/>
              </a:ext>
            </a:extLst>
            <a:hlinkClick r:id="rId8"/>
          </p:cNvPr>
          <p:cNvSpPr>
            <a:spLocks noGrp="1"/>
          </p:cNvSpPr>
          <p:nvPr/>
        </p:nvSpPr>
        <p:spPr>
          <a:xfrm>
            <a:off x="2762250" y="2733675"/>
            <a:ext cx="4667250" cy="247650"/>
          </a:xfrm>
          <a:prstGeom prst="rect">
            <a:avLst/>
          </a:prstGeom>
          <a:noFill/>
          <a:ln w="0">
            <a:noFill/>
          </a:ln>
        </p:spPr>
        <p:txBody>
          <a:bodyPr lIns="0" tIns="0" rIns="0" bIns="0">
            <a:noAutofit/>
          </a:bodyPr>
          <a:lstStyle/>
          <a:p>
            <a:pPr marL="0" indent="0">
              <a:defRPr sz="1350" b="0" u="none">
                <a:solidFill>
                  <a:srgbClr val="333333"/>
                </a:solidFill>
                <a:latin typeface="Arial"/>
                <a:ea typeface="Arial"/>
                <a:cs typeface="Arial"/>
              </a:defRPr>
              <a:buNone/>
            </a:pPr>
            <a:r>
              <a:rPr sz="1350" b="0" u="none">
                <a:solidFill>
                  <a:srgbClr val="333333"/>
                </a:solidFill>
                <a:latin typeface="Arial"/>
                <a:ea typeface="Arial"/>
                <a:cs typeface="Arial"/>
              </a:rPr>
              <a:t>bagpipertts.github.io/bagpiper_tts_demo/</a:t>
            </a:r>
          </a:p>
        </p:txBody>
      </p:sp>
      <p:sp>
        <p:nvSpPr>
          <p:cNvPr id="12" name="v22-model-label">
            <a:extLst>
              <a:ext uri="{FF2B5EF4-FFF2-40B4-BE49-F238E27FC236}">
                <a16:creationId xmlns:a16="http://schemas.microsoft.com/office/drawing/2014/main" id="{DE0A67D9-5605-4DF6-A03D-3CE0202B06C3}"/>
              </a:ext>
            </a:extLst>
          </p:cNvPr>
          <p:cNvSpPr>
            <a:spLocks noGrp="1"/>
          </p:cNvSpPr>
          <p:nvPr/>
        </p:nvSpPr>
        <p:spPr>
          <a:xfrm>
            <a:off x="2762250" y="3171825"/>
            <a:ext cx="5810250" cy="161925"/>
          </a:xfrm>
          <a:prstGeom prst="rect">
            <a:avLst/>
          </a:prstGeom>
          <a:noFill/>
          <a:ln w="0">
            <a:noFill/>
          </a:ln>
        </p:spPr>
        <p:txBody>
          <a:bodyPr lIns="0" tIns="0" rIns="0" bIns="0">
            <a:noAutofit/>
          </a:bodyPr>
          <a:lstStyle/>
          <a:p>
            <a:pPr marL="0" indent="0">
              <a:defRPr sz="1050" b="1" u="none">
                <a:solidFill>
                  <a:srgbClr val="B30A2B"/>
                </a:solidFill>
                <a:latin typeface="Arial"/>
                <a:ea typeface="Arial"/>
                <a:cs typeface="Arial"/>
              </a:defRPr>
              <a:buNone/>
            </a:pPr>
            <a:r>
              <a:rPr sz="1050" b="1" u="none">
                <a:solidFill>
                  <a:srgbClr val="B30A2B"/>
                </a:solidFill>
                <a:latin typeface="Arial"/>
                <a:ea typeface="Arial"/>
                <a:cs typeface="Arial"/>
              </a:rPr>
              <a:t>MODEL &amp; CHECKPOINT</a:t>
            </a:r>
          </a:p>
        </p:txBody>
      </p:sp>
      <p:sp>
        <p:nvSpPr>
          <p:cNvPr id="13" name="v22-model-link">
            <a:extLst>
              <a:ext uri="{FF2B5EF4-FFF2-40B4-BE49-F238E27FC236}">
                <a16:creationId xmlns:a16="http://schemas.microsoft.com/office/drawing/2014/main" id="{178185AB-F014-4CFC-ACCA-76D1BC504C2A}"/>
              </a:ext>
            </a:extLst>
            <a:hlinkClick r:id="rId9"/>
          </p:cNvPr>
          <p:cNvSpPr>
            <a:spLocks noGrp="1"/>
          </p:cNvSpPr>
          <p:nvPr/>
        </p:nvSpPr>
        <p:spPr>
          <a:xfrm>
            <a:off x="2762250" y="3381375"/>
            <a:ext cx="5810250" cy="247650"/>
          </a:xfrm>
          <a:prstGeom prst="rect">
            <a:avLst/>
          </a:prstGeom>
          <a:noFill/>
          <a:ln w="0">
            <a:noFill/>
          </a:ln>
        </p:spPr>
        <p:txBody>
          <a:bodyPr lIns="0" tIns="0" rIns="0" bIns="0">
            <a:noAutofit/>
          </a:bodyPr>
          <a:lstStyle/>
          <a:p>
            <a:pPr marL="0" indent="0">
              <a:defRPr sz="1350" b="0" u="none">
                <a:solidFill>
                  <a:srgbClr val="333333"/>
                </a:solidFill>
                <a:latin typeface="Arial"/>
                <a:ea typeface="Arial"/>
                <a:cs typeface="Arial"/>
              </a:defRPr>
              <a:buNone/>
            </a:pPr>
            <a:r>
              <a:rPr sz="1350" b="0" u="none">
                <a:solidFill>
                  <a:srgbClr val="333333"/>
                </a:solidFill>
                <a:latin typeface="Arial"/>
                <a:ea typeface="Arial"/>
                <a:cs typeface="Arial"/>
              </a:rPr>
              <a:t>huggingface.co/espnet/bagpiper-tts-sft</a:t>
            </a:r>
          </a:p>
        </p:txBody>
      </p:sp>
      <p:sp>
        <p:nvSpPr>
          <p:cNvPr id="14" name="v22-qr-label">
            <a:extLst>
              <a:ext uri="{FF2B5EF4-FFF2-40B4-BE49-F238E27FC236}">
                <a16:creationId xmlns:a16="http://schemas.microsoft.com/office/drawing/2014/main" id="{4F3709D2-993E-46F9-A0FC-949D04BA2536}"/>
              </a:ext>
            </a:extLst>
          </p:cNvPr>
          <p:cNvSpPr>
            <a:spLocks noGrp="1"/>
          </p:cNvSpPr>
          <p:nvPr/>
        </p:nvSpPr>
        <p:spPr>
          <a:xfrm>
            <a:off x="7658100" y="2943225"/>
            <a:ext cx="1104900" cy="180975"/>
          </a:xfrm>
          <a:prstGeom prst="rect">
            <a:avLst/>
          </a:prstGeom>
          <a:noFill/>
          <a:ln w="0">
            <a:noFill/>
          </a:ln>
        </p:spPr>
        <p:txBody>
          <a:bodyPr lIns="0" tIns="0" rIns="0" bIns="0">
            <a:noAutofit/>
          </a:bodyPr>
          <a:lstStyle/>
          <a:p>
            <a:pPr marL="0" indent="0">
              <a:defRPr sz="900" b="0" u="none">
                <a:solidFill>
                  <a:srgbClr val="666666"/>
                </a:solidFill>
                <a:latin typeface="Arial"/>
                <a:ea typeface="Arial"/>
                <a:cs typeface="Arial"/>
              </a:defRPr>
              <a:buNone/>
            </a:pPr>
            <a:r>
              <a:rPr sz="900" b="0" u="none">
                <a:solidFill>
                  <a:srgbClr val="666666"/>
                </a:solidFill>
                <a:latin typeface="Arial"/>
                <a:ea typeface="Arial"/>
                <a:cs typeface="Arial"/>
              </a:rPr>
              <a:t>Audio demos</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1C405A"/>
      </a:hlink>
      <a:folHlink>
        <a:srgbClr val="1C405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1C405A"/>
      </a:hlink>
      <a:folHlink>
        <a:srgbClr val="1C405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Bagpiper-TTS: Natural Language Guided Universal Speech Synthesis</dc:title>
  <cp:lastModifiedBy>python-pptx</cp:lastModifiedBy>
  <cp:revision>1</cp:revision>
  <dcterms:modified xsi:type="dcterms:W3CDTF">2026-09-30T01:57:13Z</dcterms:modified>
  <dc:creator>Haoran Wang</dc:creator>
</cp:coreProperties>
</file>